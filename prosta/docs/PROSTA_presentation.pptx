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0AFF67-4282-4820-9FC3-BB70DD5E7FEA}" type="datetimeFigureOut">
              <a:rPr kumimoji="1" lang="ja-JP" altLang="en-US" smtClean="0"/>
              <a:t>2026/10/22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6D2F01-DB22-4DDF-9A7C-D222EBF4A6A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52757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/>
              <a:t>【0:00-】</a:t>
            </a:r>
            <a:r>
              <a:rPr kumimoji="1" lang="ja-JP" altLang="en-US"/>
              <a:t>自己紹介とタイトル。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6D2F01-DB22-4DDF-9A7C-D222EBF4A6AF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40360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/>
              <a:t>【0:00-1:00】</a:t>
            </a:r>
            <a:r>
              <a:rPr kumimoji="1" lang="ja-JP" altLang="en-US"/>
              <a:t>共感を得る導入。学習が続かない理由を一言で述べる。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6D2F01-DB22-4DDF-9A7C-D222EBF4A6AF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65013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/>
              <a:t>【1:00-2:00】</a:t>
            </a:r>
            <a:r>
              <a:rPr kumimoji="1" lang="ja-JP" altLang="en-US"/>
              <a:t>機能を</a:t>
            </a:r>
            <a:r>
              <a:rPr kumimoji="1" lang="en-US" altLang="ja-JP"/>
              <a:t>2</a:t>
            </a:r>
            <a:r>
              <a:rPr kumimoji="1" lang="ja-JP" altLang="en-US"/>
              <a:t>軸で整理して紹介。利用の流れを矢印で説明。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6D2F01-DB22-4DDF-9A7C-D222EBF4A6AF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11571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/>
              <a:t>【2:00-3:15】</a:t>
            </a:r>
            <a:r>
              <a:rPr kumimoji="1" lang="ja-JP" altLang="en-US"/>
              <a:t>マイページの画面を見せながら説明。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6D2F01-DB22-4DDF-9A7C-D222EBF4A6AF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7642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/>
              <a:t>【3:15-4:30】</a:t>
            </a:r>
            <a:r>
              <a:rPr kumimoji="1" lang="ja-JP" altLang="en-US"/>
              <a:t>デモ</a:t>
            </a:r>
            <a:r>
              <a:rPr kumimoji="1" lang="en-US" altLang="ja-JP"/>
              <a:t>1</a:t>
            </a:r>
            <a:r>
              <a:rPr kumimoji="1" lang="ja-JP" altLang="en-US"/>
              <a:t>。約</a:t>
            </a:r>
            <a:r>
              <a:rPr kumimoji="1" lang="en-US" altLang="ja-JP"/>
              <a:t>1</a:t>
            </a:r>
            <a:r>
              <a:rPr kumimoji="1" lang="ja-JP" altLang="en-US"/>
              <a:t>分でマイページ・フレンド・ランキングを操作。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6D2F01-DB22-4DDF-9A7C-D222EBF4A6AF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24187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/>
              <a:t>【4:30-5:45】</a:t>
            </a:r>
            <a:r>
              <a:rPr kumimoji="1" lang="ja-JP" altLang="en-US"/>
              <a:t>データで弱点が分かる点を強調。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6D2F01-DB22-4DDF-9A7C-D222EBF4A6AF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25012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/>
              <a:t>【5:45-7:00】</a:t>
            </a:r>
            <a:r>
              <a:rPr kumimoji="1" lang="ja-JP" altLang="en-US"/>
              <a:t>デモ</a:t>
            </a:r>
            <a:r>
              <a:rPr kumimoji="1" lang="en-US" altLang="ja-JP"/>
              <a:t>2</a:t>
            </a:r>
            <a:r>
              <a:rPr kumimoji="1" lang="ja-JP" altLang="en-US"/>
              <a:t>。約</a:t>
            </a:r>
            <a:r>
              <a:rPr kumimoji="1" lang="en-US" altLang="ja-JP"/>
              <a:t>1</a:t>
            </a:r>
            <a:r>
              <a:rPr kumimoji="1" lang="ja-JP" altLang="en-US"/>
              <a:t>分で問題を解き、苦手抽出まで見せる。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6D2F01-DB22-4DDF-9A7C-D222EBF4A6AF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60253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/>
              <a:t>【7:00-8:00】</a:t>
            </a:r>
            <a:r>
              <a:rPr kumimoji="1" lang="ja-JP" altLang="en-US"/>
              <a:t>構成図を挿入しても良い。担当は実際の分担に合わせて修正。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6D2F01-DB22-4DDF-9A7C-D222EBF4A6AF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66796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/>
              <a:t>【8:00-8:30】</a:t>
            </a:r>
            <a:r>
              <a:rPr kumimoji="1" lang="ja-JP" altLang="en-US"/>
              <a:t>課題を正直に述べ、改善の方向性を示す。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6D2F01-DB22-4DDF-9A7C-D222EBF4A6AF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94454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/>
              <a:t>【8:30-9:00】</a:t>
            </a:r>
            <a:r>
              <a:rPr kumimoji="1" lang="ja-JP" altLang="en-US"/>
              <a:t>結びの一言で締める。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6D2F01-DB22-4DDF-9A7C-D222EBF4A6AF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03796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48AC94-E0B4-CCF2-46DD-3663A46FCF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5EC744F-68AA-62A9-547B-E272326F1C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726FCD1-49D0-C526-F985-9355DCB21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FE3EA-B4C3-4FDD-92E2-46540DD60728}" type="datetimeFigureOut">
              <a:rPr kumimoji="1" lang="ja-JP" altLang="en-US" smtClean="0"/>
              <a:t>2026/10/22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5BE0A78-0EAC-9B71-2199-FF8784CA73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172B3ED-FFE5-04CD-6630-7AB657D96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5B8BEF-BC1A-4446-BDFD-30FD9B2563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01013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3A455BF-CF7A-7928-66A1-9185E4C11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A8AB918-F841-F5E5-CA81-27212DF58B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FE11873-C3D0-3393-A325-C04308D4C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FE3EA-B4C3-4FDD-92E2-46540DD60728}" type="datetimeFigureOut">
              <a:rPr kumimoji="1" lang="ja-JP" altLang="en-US" smtClean="0"/>
              <a:t>2026/10/22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420C560-A507-EEA0-76B7-C44A0B5733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9039E88-49D2-3AAA-F815-77C14F2A6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5B8BEF-BC1A-4446-BDFD-30FD9B2563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66188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F2959A0-61B1-82C7-E43B-32F9718B52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B831AC3-BEAC-8F77-2563-71DA86394D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1E5F816-DD1A-5903-54E1-AC6F9A3501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FE3EA-B4C3-4FDD-92E2-46540DD60728}" type="datetimeFigureOut">
              <a:rPr kumimoji="1" lang="ja-JP" altLang="en-US" smtClean="0"/>
              <a:t>2026/10/22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613155A-9F89-1B79-3342-12A614DED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4E70FE6-5BC3-63AB-3B80-31E3D3098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5B8BEF-BC1A-4446-BDFD-30FD9B2563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88766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7CAB298-F74D-0781-8135-B70FF5B6D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0823084-E05E-452B-0232-DB5E2068F7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85CE9E1-132C-EBC3-C0CE-E3A024F024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0F02908-8659-B861-03D1-1871ED4B8C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FE3EA-B4C3-4FDD-92E2-46540DD60728}" type="datetimeFigureOut">
              <a:rPr kumimoji="1" lang="ja-JP" altLang="en-US" smtClean="0"/>
              <a:t>2026/10/22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01A9274-601C-B423-E805-ED8AA5F0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62EAC6A-7C4C-6F8A-3D96-5AE394F2E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5B8BEF-BC1A-4446-BDFD-30FD9B2563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704221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342AF2-0B10-F112-6B99-C9D87B078A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1C4C0F7-4556-3983-68DB-B2E778E93B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3F33788-6BAF-53B5-DBAE-0B0104F09B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C7DC74B-3A44-E050-DBC9-7D97A729313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767AE58B-393B-5FDB-744B-3209926A47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09AD798-A7DF-D836-C27D-B2D045B09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FE3EA-B4C3-4FDD-92E2-46540DD60728}" type="datetimeFigureOut">
              <a:rPr kumimoji="1" lang="ja-JP" altLang="en-US" smtClean="0"/>
              <a:t>2026/10/22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D41701E-1614-43B8-EF4C-BF89C4560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AD9404EE-A49B-503C-8C7C-61656FF87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5B8BEF-BC1A-4446-BDFD-30FD9B2563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0555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1CED941-0E1C-67CA-AE7F-B9C52B71F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0D853C3-8DE6-E4FF-CF31-1B96393DBB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FE3EA-B4C3-4FDD-92E2-46540DD60728}" type="datetimeFigureOut">
              <a:rPr kumimoji="1" lang="ja-JP" altLang="en-US" smtClean="0"/>
              <a:t>2026/10/22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86104EE4-2A02-DC15-A224-8F9C0AD84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D96F63CA-5631-6B36-1A2B-21E32E44B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5B8BEF-BC1A-4446-BDFD-30FD9B2563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90395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3F94E9E-54BC-9C75-9480-A84CB347F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FE3EA-B4C3-4FDD-92E2-46540DD60728}" type="datetimeFigureOut">
              <a:rPr kumimoji="1" lang="ja-JP" altLang="en-US" smtClean="0"/>
              <a:t>2026/10/22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6FD972B-769D-8D96-AEEE-89929647B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58B1F9A-5861-37B9-9EE5-5DCB9E479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5B8BEF-BC1A-4446-BDFD-30FD9B2563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450765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510E63-2556-1101-F55A-999603FA4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FE59130-72FB-241D-F38D-B85F909048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249AE74-D57B-23B2-4827-2A8A1FC86C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B4A571E-088D-DFB3-0FE5-B37EC824A5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FE3EA-B4C3-4FDD-92E2-46540DD60728}" type="datetimeFigureOut">
              <a:rPr kumimoji="1" lang="ja-JP" altLang="en-US" smtClean="0"/>
              <a:t>2026/10/22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672A79B-CA49-4134-7C7C-80A01644A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078C178-9FF9-90B1-109D-5B53E074F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5B8BEF-BC1A-4446-BDFD-30FD9B2563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81834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41D0449-4A77-66D3-D42B-3CCE701CE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DE89C5D-581B-8965-B317-193C5CA92E05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9408722-D43A-E25B-121F-91FF529EC4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DE3CB8B-8F12-E638-2190-341BE30CB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FE3EA-B4C3-4FDD-92E2-46540DD60728}" type="datetimeFigureOut">
              <a:rPr kumimoji="1" lang="ja-JP" altLang="en-US" smtClean="0"/>
              <a:t>2026/10/22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6D42B70-09F5-3F81-D019-05B631EC40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FAD9043-8962-4F7D-27DC-5A3EFBC2C6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5B8BEF-BC1A-4446-BDFD-30FD9B2563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89009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E1CC17-902F-D077-FE71-BA1412E49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62C8E6C-DF5F-EAE4-2365-CA4EBD0DE2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4640559-E715-12AC-9575-A2CFA0A79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FE3EA-B4C3-4FDD-92E2-46540DD60728}" type="datetimeFigureOut">
              <a:rPr kumimoji="1" lang="ja-JP" altLang="en-US" smtClean="0"/>
              <a:t>2026/10/22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DF41F32-B085-3E0B-792F-7C771D373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13A521D-FAC0-1B29-0473-8323B2842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5B8BEF-BC1A-4446-BDFD-30FD9B2563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690010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F60C662-C656-0E1B-F149-28BF4731D0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C20FF26-7325-E98D-98BC-1A6895FD43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BB0B9A1-3AE7-0B03-5091-5E4723EB4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FE3EA-B4C3-4FDD-92E2-46540DD60728}" type="datetimeFigureOut">
              <a:rPr kumimoji="1" lang="ja-JP" altLang="en-US" smtClean="0"/>
              <a:t>2026/10/22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F3AE958-E670-5491-6BE0-FF4C95A889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E45F849-8177-0D41-5202-37E33166C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5B8BEF-BC1A-4446-BDFD-30FD9B2563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54104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4D0DB1F-EDC4-D1B0-B279-31B5E867F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BA0830C-626C-200D-90A9-3F7CB6DC08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C2057B9-1F6E-E319-A655-A36FAE9CAA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FE3EA-B4C3-4FDD-92E2-46540DD60728}" type="datetimeFigureOut">
              <a:rPr kumimoji="1" lang="ja-JP" altLang="en-US" smtClean="0"/>
              <a:t>2026/10/22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A3F6058-08E7-7FDF-8395-E5EEF5206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8F0613E-57F8-D180-6223-3A15F290B9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5B8BEF-BC1A-4446-BDFD-30FD9B2563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002845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楕円 2">
            <a:extLst>
              <a:ext uri="{FF2B5EF4-FFF2-40B4-BE49-F238E27FC236}">
                <a16:creationId xmlns:a16="http://schemas.microsoft.com/office/drawing/2014/main" id="{4C32E4C7-233B-6673-0B57-E70C23118121}"/>
              </a:ext>
            </a:extLst>
          </p:cNvPr>
          <p:cNvSpPr/>
          <p:nvPr/>
        </p:nvSpPr>
        <p:spPr>
          <a:xfrm>
            <a:off x="9525000" y="2413000"/>
            <a:ext cx="279400" cy="381000"/>
          </a:xfrm>
          <a:prstGeom prst="ellipse">
            <a:avLst/>
          </a:prstGeom>
          <a:solidFill>
            <a:srgbClr val="0F2A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AF35BF65-2C9B-0F18-991F-D8AF60144848}"/>
              </a:ext>
            </a:extLst>
          </p:cNvPr>
          <p:cNvSpPr/>
          <p:nvPr/>
        </p:nvSpPr>
        <p:spPr>
          <a:xfrm>
            <a:off x="10388600" y="2413000"/>
            <a:ext cx="279400" cy="381000"/>
          </a:xfrm>
          <a:prstGeom prst="ellipse">
            <a:avLst/>
          </a:prstGeom>
          <a:solidFill>
            <a:srgbClr val="0F2A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00465F8-F89B-673B-74E3-F62D18D4808A}"/>
              </a:ext>
            </a:extLst>
          </p:cNvPr>
          <p:cNvSpPr/>
          <p:nvPr/>
        </p:nvSpPr>
        <p:spPr>
          <a:xfrm>
            <a:off x="9842500" y="3175000"/>
            <a:ext cx="508000" cy="76200"/>
          </a:xfrm>
          <a:prstGeom prst="rect">
            <a:avLst/>
          </a:prstGeom>
          <a:solidFill>
            <a:srgbClr val="0F2A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9681317-8E46-44D6-76B5-955844E407CF}"/>
              </a:ext>
            </a:extLst>
          </p:cNvPr>
          <p:cNvSpPr/>
          <p:nvPr/>
        </p:nvSpPr>
        <p:spPr>
          <a:xfrm>
            <a:off x="762000" y="2476500"/>
            <a:ext cx="101600" cy="1905000"/>
          </a:xfrm>
          <a:prstGeom prst="rect">
            <a:avLst/>
          </a:prstGeom>
          <a:solidFill>
            <a:srgbClr val="F5D7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1030867-6DD7-D69C-6D52-FD130C14A0D0}"/>
              </a:ext>
            </a:extLst>
          </p:cNvPr>
          <p:cNvSpPr txBox="1"/>
          <p:nvPr/>
        </p:nvSpPr>
        <p:spPr>
          <a:xfrm>
            <a:off x="1143000" y="2349500"/>
            <a:ext cx="7112000" cy="101566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kumimoji="1" lang="en-US" altLang="ja-JP" sz="6000" b="1">
                <a:solidFill>
                  <a:srgbClr val="FFFFFF"/>
                </a:solidFill>
                <a:latin typeface="Meiryo UI" panose="020B0604030504040204" pitchFamily="50" charset="-128"/>
              </a:rPr>
              <a:t>PROSTA</a:t>
            </a:r>
            <a:endParaRPr kumimoji="1" lang="ja-JP" altLang="en-US" sz="6000" b="1">
              <a:solidFill>
                <a:srgbClr val="FFFFFF"/>
              </a:solidFill>
              <a:latin typeface="Meiryo UI" panose="020B0604030504040204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27C1681F-1E86-ED4D-73CB-A29146BEC8E1}"/>
              </a:ext>
            </a:extLst>
          </p:cNvPr>
          <p:cNvSpPr txBox="1"/>
          <p:nvPr/>
        </p:nvSpPr>
        <p:spPr>
          <a:xfrm>
            <a:off x="1143000" y="3619500"/>
            <a:ext cx="76200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kumimoji="1" lang="ja-JP" altLang="en-US" sz="2400">
                <a:solidFill>
                  <a:srgbClr val="F5D76E"/>
                </a:solidFill>
                <a:latin typeface="Meiryo UI" panose="020B0604030504040204" pitchFamily="50" charset="-128"/>
              </a:rPr>
              <a:t>学習を続けたくなる資格学習アプリ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6D37E53-5AF1-B6C5-1F7B-C2610110D85F}"/>
              </a:ext>
            </a:extLst>
          </p:cNvPr>
          <p:cNvSpPr txBox="1"/>
          <p:nvPr/>
        </p:nvSpPr>
        <p:spPr>
          <a:xfrm>
            <a:off x="1143000" y="5588000"/>
            <a:ext cx="7112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kumimoji="1" lang="ja-JP" altLang="en-US" sz="1600">
                <a:solidFill>
                  <a:srgbClr val="FFFFFF"/>
                </a:solidFill>
                <a:latin typeface="Meiryo UI" panose="020B0604030504040204" pitchFamily="50" charset="-128"/>
              </a:rPr>
              <a:t>チーム名 </a:t>
            </a:r>
            <a:r>
              <a:rPr kumimoji="1" lang="en-US" altLang="ja-JP" sz="1600">
                <a:solidFill>
                  <a:srgbClr val="FFFFFF"/>
                </a:solidFill>
                <a:latin typeface="Meiryo UI" panose="020B0604030504040204" pitchFamily="50" charset="-128"/>
              </a:rPr>
              <a:t>/ </a:t>
            </a:r>
            <a:r>
              <a:rPr kumimoji="1" lang="ja-JP" altLang="en-US" sz="1600">
                <a:solidFill>
                  <a:srgbClr val="FFFFFF"/>
                </a:solidFill>
                <a:latin typeface="Meiryo UI" panose="020B0604030504040204" pitchFamily="50" charset="-128"/>
              </a:rPr>
              <a:t>発表者</a:t>
            </a:r>
          </a:p>
        </p:txBody>
      </p:sp>
    </p:spTree>
    <p:extLst>
      <p:ext uri="{BB962C8B-B14F-4D97-AF65-F5344CB8AC3E}">
        <p14:creationId xmlns:p14="http://schemas.microsoft.com/office/powerpoint/2010/main" val="4448758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35623FC-7789-C7BF-8A71-5343ACB4DDBF}"/>
              </a:ext>
            </a:extLst>
          </p:cNvPr>
          <p:cNvSpPr/>
          <p:nvPr/>
        </p:nvSpPr>
        <p:spPr>
          <a:xfrm>
            <a:off x="0" y="0"/>
            <a:ext cx="12192000" cy="965200"/>
          </a:xfrm>
          <a:prstGeom prst="rect">
            <a:avLst/>
          </a:prstGeom>
          <a:solidFill>
            <a:srgbClr val="0F2A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B27B105-043A-CB24-2C9D-7D8243E35239}"/>
              </a:ext>
            </a:extLst>
          </p:cNvPr>
          <p:cNvSpPr/>
          <p:nvPr/>
        </p:nvSpPr>
        <p:spPr>
          <a:xfrm>
            <a:off x="0" y="965200"/>
            <a:ext cx="12192000" cy="63500"/>
          </a:xfrm>
          <a:prstGeom prst="rect">
            <a:avLst/>
          </a:prstGeom>
          <a:solidFill>
            <a:srgbClr val="F5D7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1DD5AB9-8CF4-E526-0292-1B9646EB3341}"/>
              </a:ext>
            </a:extLst>
          </p:cNvPr>
          <p:cNvSpPr txBox="1"/>
          <p:nvPr/>
        </p:nvSpPr>
        <p:spPr>
          <a:xfrm>
            <a:off x="508000" y="177800"/>
            <a:ext cx="8128000" cy="55399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kumimoji="1" lang="ja-JP" altLang="en-US" sz="3000" b="1">
                <a:solidFill>
                  <a:srgbClr val="FFFFFF"/>
                </a:solidFill>
                <a:latin typeface="Meiryo UI" panose="020B0604030504040204" pitchFamily="50" charset="-128"/>
              </a:rPr>
              <a:t>課題と目的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53720484-8200-FE88-DD4E-79BAF82E256E}"/>
              </a:ext>
            </a:extLst>
          </p:cNvPr>
          <p:cNvSpPr/>
          <p:nvPr/>
        </p:nvSpPr>
        <p:spPr>
          <a:xfrm>
            <a:off x="9398000" y="279400"/>
            <a:ext cx="2286000" cy="406400"/>
          </a:xfrm>
          <a:prstGeom prst="roundRect">
            <a:avLst>
              <a:gd name="adj" fmla="val 50000"/>
            </a:avLst>
          </a:prstGeom>
          <a:solidFill>
            <a:srgbClr val="1B4A9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>
                <a:solidFill>
                  <a:srgbClr val="FFFFFF"/>
                </a:solidFill>
                <a:latin typeface="Meiryo UI" panose="020B0604030504040204" pitchFamily="50" charset="-128"/>
              </a:rPr>
              <a:t>導入 </a:t>
            </a:r>
            <a:r>
              <a:rPr kumimoji="1" lang="en-US" altLang="ja-JP" sz="1400">
                <a:solidFill>
                  <a:srgbClr val="FFFFFF"/>
                </a:solidFill>
                <a:latin typeface="Meiryo UI" panose="020B0604030504040204" pitchFamily="50" charset="-128"/>
              </a:rPr>
              <a:t>1</a:t>
            </a:r>
            <a:r>
              <a:rPr kumimoji="1" lang="ja-JP" altLang="en-US" sz="1400">
                <a:solidFill>
                  <a:srgbClr val="FFFFFF"/>
                </a:solidFill>
                <a:latin typeface="Meiryo UI" panose="020B0604030504040204" pitchFamily="50" charset="-128"/>
              </a:rPr>
              <a:t>分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8BA06BC-C303-88AE-CE6B-12E446B82838}"/>
              </a:ext>
            </a:extLst>
          </p:cNvPr>
          <p:cNvSpPr/>
          <p:nvPr/>
        </p:nvSpPr>
        <p:spPr>
          <a:xfrm>
            <a:off x="508000" y="1524000"/>
            <a:ext cx="54356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F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E16A4844-1E12-FAD6-263A-13C7EA3AC3C2}"/>
              </a:ext>
            </a:extLst>
          </p:cNvPr>
          <p:cNvSpPr/>
          <p:nvPr/>
        </p:nvSpPr>
        <p:spPr>
          <a:xfrm>
            <a:off x="508000" y="1524000"/>
            <a:ext cx="5435600" cy="558800"/>
          </a:xfrm>
          <a:prstGeom prst="roundRect">
            <a:avLst>
              <a:gd name="adj" fmla="val 30000"/>
            </a:avLst>
          </a:prstGeom>
          <a:solidFill>
            <a:srgbClr val="0F2A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</a:rPr>
              <a:t>課題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FC4CF101-FE99-EB87-BE20-FC7482F8459D}"/>
              </a:ext>
            </a:extLst>
          </p:cNvPr>
          <p:cNvSpPr txBox="1"/>
          <p:nvPr/>
        </p:nvSpPr>
        <p:spPr>
          <a:xfrm>
            <a:off x="685800" y="2235200"/>
            <a:ext cx="5080000" cy="112851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800"/>
              </a:spcAft>
            </a:pPr>
            <a:r>
              <a:rPr kumimoji="1" lang="ja-JP" altLang="en-US">
                <a:solidFill>
                  <a:srgbClr val="4A5568"/>
                </a:solidFill>
                <a:latin typeface="Meiryo UI" panose="020B0604030504040204" pitchFamily="50" charset="-128"/>
              </a:rPr>
              <a:t>● 勉強が続かない</a:t>
            </a:r>
          </a:p>
          <a:p>
            <a:pPr>
              <a:spcAft>
                <a:spcPts val="800"/>
              </a:spcAft>
            </a:pPr>
            <a:r>
              <a:rPr kumimoji="1" lang="ja-JP" altLang="en-US">
                <a:solidFill>
                  <a:srgbClr val="4A5568"/>
                </a:solidFill>
                <a:latin typeface="Meiryo UI" panose="020B0604030504040204" pitchFamily="50" charset="-128"/>
              </a:rPr>
              <a:t>● 自分の弱点が分からない</a:t>
            </a:r>
          </a:p>
          <a:p>
            <a:pPr>
              <a:spcAft>
                <a:spcPts val="800"/>
              </a:spcAft>
            </a:pPr>
            <a:r>
              <a:rPr kumimoji="1" lang="ja-JP" altLang="en-US">
                <a:solidFill>
                  <a:srgbClr val="4A5568"/>
                </a:solidFill>
                <a:latin typeface="Meiryo UI" panose="020B0604030504040204" pitchFamily="50" charset="-128"/>
              </a:rPr>
              <a:t>● 学習の進み具合が見えない</a:t>
            </a: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CE9C5D82-D443-4B3A-D887-AF81071D7837}"/>
              </a:ext>
            </a:extLst>
          </p:cNvPr>
          <p:cNvSpPr/>
          <p:nvPr/>
        </p:nvSpPr>
        <p:spPr>
          <a:xfrm>
            <a:off x="6248400" y="1524000"/>
            <a:ext cx="54356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F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FB5B8389-9A58-4F8B-D81B-6B814360D81D}"/>
              </a:ext>
            </a:extLst>
          </p:cNvPr>
          <p:cNvSpPr/>
          <p:nvPr/>
        </p:nvSpPr>
        <p:spPr>
          <a:xfrm>
            <a:off x="6248400" y="1524000"/>
            <a:ext cx="5435600" cy="558800"/>
          </a:xfrm>
          <a:prstGeom prst="roundRect">
            <a:avLst>
              <a:gd name="adj" fmla="val 30000"/>
            </a:avLst>
          </a:prstGeom>
          <a:solidFill>
            <a:srgbClr val="0F2A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</a:rPr>
              <a:t>解決策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2E145384-0FFD-AE92-8975-1C3C0954179A}"/>
              </a:ext>
            </a:extLst>
          </p:cNvPr>
          <p:cNvSpPr txBox="1"/>
          <p:nvPr/>
        </p:nvSpPr>
        <p:spPr>
          <a:xfrm>
            <a:off x="6426200" y="2235200"/>
            <a:ext cx="5080000" cy="112851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800"/>
              </a:spcAft>
            </a:pPr>
            <a:r>
              <a:rPr kumimoji="1" lang="ja-JP" altLang="en-US">
                <a:solidFill>
                  <a:srgbClr val="4A5568"/>
                </a:solidFill>
                <a:latin typeface="Meiryo UI" panose="020B0604030504040204" pitchFamily="50" charset="-128"/>
              </a:rPr>
              <a:t>● ゲーム性で「続けたくなる」</a:t>
            </a:r>
          </a:p>
          <a:p>
            <a:pPr>
              <a:spcAft>
                <a:spcPts val="800"/>
              </a:spcAft>
            </a:pPr>
            <a:r>
              <a:rPr kumimoji="1" lang="ja-JP" altLang="en-US">
                <a:solidFill>
                  <a:srgbClr val="4A5568"/>
                </a:solidFill>
                <a:latin typeface="Meiryo UI" panose="020B0604030504040204" pitchFamily="50" charset="-128"/>
              </a:rPr>
              <a:t>● データで「弱点を克服」</a:t>
            </a:r>
          </a:p>
          <a:p>
            <a:pPr>
              <a:spcAft>
                <a:spcPts val="800"/>
              </a:spcAft>
            </a:pPr>
            <a:r>
              <a:rPr kumimoji="1" lang="ja-JP" altLang="en-US">
                <a:solidFill>
                  <a:srgbClr val="4A5568"/>
                </a:solidFill>
                <a:latin typeface="Meiryo UI" panose="020B0604030504040204" pitchFamily="50" charset="-128"/>
              </a:rPr>
              <a:t>● 仲間と競って「モチベ維持」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5A0EE27-4633-18DB-5308-65D1DA910D88}"/>
              </a:ext>
            </a:extLst>
          </p:cNvPr>
          <p:cNvSpPr txBox="1"/>
          <p:nvPr/>
        </p:nvSpPr>
        <p:spPr>
          <a:xfrm>
            <a:off x="10414000" y="6413500"/>
            <a:ext cx="1524000" cy="27699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r"/>
            <a:r>
              <a:rPr kumimoji="1" lang="en-US" altLang="ja-JP" sz="1200" b="1">
                <a:solidFill>
                  <a:srgbClr val="1B4A9C"/>
                </a:solidFill>
                <a:latin typeface="Meiryo UI" panose="020B0604030504040204" pitchFamily="50" charset="-128"/>
              </a:rPr>
              <a:t>PROSTA</a:t>
            </a:r>
            <a:endParaRPr kumimoji="1" lang="ja-JP" altLang="en-US" sz="1200" b="1">
              <a:solidFill>
                <a:srgbClr val="1B4A9C"/>
              </a:solidFill>
              <a:latin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11600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4AE0F388-AE1A-CEEA-B2DF-24B9A416F3DA}"/>
              </a:ext>
            </a:extLst>
          </p:cNvPr>
          <p:cNvSpPr/>
          <p:nvPr/>
        </p:nvSpPr>
        <p:spPr>
          <a:xfrm>
            <a:off x="0" y="0"/>
            <a:ext cx="12192000" cy="965200"/>
          </a:xfrm>
          <a:prstGeom prst="rect">
            <a:avLst/>
          </a:prstGeom>
          <a:solidFill>
            <a:srgbClr val="0F2A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6B28E22-CA85-F39D-AB7A-6AD865A53073}"/>
              </a:ext>
            </a:extLst>
          </p:cNvPr>
          <p:cNvSpPr/>
          <p:nvPr/>
        </p:nvSpPr>
        <p:spPr>
          <a:xfrm>
            <a:off x="0" y="965200"/>
            <a:ext cx="12192000" cy="63500"/>
          </a:xfrm>
          <a:prstGeom prst="rect">
            <a:avLst/>
          </a:prstGeom>
          <a:solidFill>
            <a:srgbClr val="F5D7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B6026A1-8CC6-5AA5-B04C-F37312B099E0}"/>
              </a:ext>
            </a:extLst>
          </p:cNvPr>
          <p:cNvSpPr txBox="1"/>
          <p:nvPr/>
        </p:nvSpPr>
        <p:spPr>
          <a:xfrm>
            <a:off x="508000" y="177800"/>
            <a:ext cx="8128000" cy="55399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kumimoji="1" lang="ja-JP" altLang="en-US" sz="3000" b="1">
                <a:solidFill>
                  <a:srgbClr val="FFFFFF"/>
                </a:solidFill>
                <a:latin typeface="Meiryo UI" panose="020B0604030504040204" pitchFamily="50" charset="-128"/>
              </a:rPr>
              <a:t>全体像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D17FF66-CB8D-0413-4E23-6C6BA8D64B9F}"/>
              </a:ext>
            </a:extLst>
          </p:cNvPr>
          <p:cNvSpPr/>
          <p:nvPr/>
        </p:nvSpPr>
        <p:spPr>
          <a:xfrm>
            <a:off x="9398000" y="279400"/>
            <a:ext cx="2286000" cy="406400"/>
          </a:xfrm>
          <a:prstGeom prst="roundRect">
            <a:avLst>
              <a:gd name="adj" fmla="val 50000"/>
            </a:avLst>
          </a:prstGeom>
          <a:solidFill>
            <a:srgbClr val="1B4A9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>
                <a:solidFill>
                  <a:srgbClr val="FFFFFF"/>
                </a:solidFill>
                <a:latin typeface="Meiryo UI" panose="020B0604030504040204" pitchFamily="50" charset="-128"/>
              </a:rPr>
              <a:t>概要 </a:t>
            </a:r>
            <a:r>
              <a:rPr kumimoji="1" lang="en-US" altLang="ja-JP" sz="1400">
                <a:solidFill>
                  <a:srgbClr val="FFFFFF"/>
                </a:solidFill>
                <a:latin typeface="Meiryo UI" panose="020B0604030504040204" pitchFamily="50" charset="-128"/>
              </a:rPr>
              <a:t>1</a:t>
            </a:r>
            <a:r>
              <a:rPr kumimoji="1" lang="ja-JP" altLang="en-US" sz="1400">
                <a:solidFill>
                  <a:srgbClr val="FFFFFF"/>
                </a:solidFill>
                <a:latin typeface="Meiryo UI" panose="020B0604030504040204" pitchFamily="50" charset="-128"/>
              </a:rPr>
              <a:t>分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F4CA82BF-0215-1819-18B7-39499A66DEE6}"/>
              </a:ext>
            </a:extLst>
          </p:cNvPr>
          <p:cNvSpPr/>
          <p:nvPr/>
        </p:nvSpPr>
        <p:spPr>
          <a:xfrm>
            <a:off x="508000" y="1333500"/>
            <a:ext cx="2286000" cy="635000"/>
          </a:xfrm>
          <a:prstGeom prst="roundRect">
            <a:avLst>
              <a:gd name="adj" fmla="val 50000"/>
            </a:avLst>
          </a:prstGeom>
          <a:solidFill>
            <a:srgbClr val="1B4A9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</a:rPr>
              <a:t>ログイン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1F40E71-58E9-C30D-D66D-DCA8BBE9C3ED}"/>
              </a:ext>
            </a:extLst>
          </p:cNvPr>
          <p:cNvSpPr txBox="1"/>
          <p:nvPr/>
        </p:nvSpPr>
        <p:spPr>
          <a:xfrm>
            <a:off x="2819400" y="1460500"/>
            <a:ext cx="626533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kumimoji="1" lang="ja-JP" altLang="en-US" sz="1600">
                <a:solidFill>
                  <a:srgbClr val="0F2A5C"/>
                </a:solidFill>
                <a:latin typeface="Meiryo UI" panose="020B0604030504040204" pitchFamily="50" charset="-128"/>
              </a:rPr>
              <a:t>▶</a:t>
            </a: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3B280014-8CA1-FA62-9D5C-0E61DF9B01A6}"/>
              </a:ext>
            </a:extLst>
          </p:cNvPr>
          <p:cNvSpPr/>
          <p:nvPr/>
        </p:nvSpPr>
        <p:spPr>
          <a:xfrm>
            <a:off x="3471333" y="1333500"/>
            <a:ext cx="2286000" cy="635000"/>
          </a:xfrm>
          <a:prstGeom prst="roundRect">
            <a:avLst>
              <a:gd name="adj" fmla="val 50000"/>
            </a:avLst>
          </a:prstGeom>
          <a:solidFill>
            <a:srgbClr val="1B4A9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</a:rPr>
              <a:t>問題を解く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A17CE2E-4D37-2082-DA9C-855717D6BE77}"/>
              </a:ext>
            </a:extLst>
          </p:cNvPr>
          <p:cNvSpPr txBox="1"/>
          <p:nvPr/>
        </p:nvSpPr>
        <p:spPr>
          <a:xfrm>
            <a:off x="5782733" y="1460500"/>
            <a:ext cx="626533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kumimoji="1" lang="ja-JP" altLang="en-US" sz="1600">
                <a:solidFill>
                  <a:srgbClr val="0F2A5C"/>
                </a:solidFill>
                <a:latin typeface="Meiryo UI" panose="020B0604030504040204" pitchFamily="50" charset="-128"/>
              </a:rPr>
              <a:t>▶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C42A65DB-2F8C-EA80-254B-465192CC684C}"/>
              </a:ext>
            </a:extLst>
          </p:cNvPr>
          <p:cNvSpPr/>
          <p:nvPr/>
        </p:nvSpPr>
        <p:spPr>
          <a:xfrm>
            <a:off x="6434667" y="1333500"/>
            <a:ext cx="2285999" cy="635000"/>
          </a:xfrm>
          <a:prstGeom prst="roundRect">
            <a:avLst>
              <a:gd name="adj" fmla="val 50000"/>
            </a:avLst>
          </a:prstGeom>
          <a:solidFill>
            <a:srgbClr val="1B4A9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</a:rPr>
              <a:t>成長・競争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E281A89-5100-514B-445B-DBF526AED019}"/>
              </a:ext>
            </a:extLst>
          </p:cNvPr>
          <p:cNvSpPr txBox="1"/>
          <p:nvPr/>
        </p:nvSpPr>
        <p:spPr>
          <a:xfrm>
            <a:off x="8746067" y="1460500"/>
            <a:ext cx="626533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kumimoji="1" lang="ja-JP" altLang="en-US" sz="1600">
                <a:solidFill>
                  <a:srgbClr val="0F2A5C"/>
                </a:solidFill>
                <a:latin typeface="Meiryo UI" panose="020B0604030504040204" pitchFamily="50" charset="-128"/>
              </a:rPr>
              <a:t>▶</a:t>
            </a: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E7D09942-2C6E-28AF-2463-2C1E0F3FC7DB}"/>
              </a:ext>
            </a:extLst>
          </p:cNvPr>
          <p:cNvSpPr/>
          <p:nvPr/>
        </p:nvSpPr>
        <p:spPr>
          <a:xfrm>
            <a:off x="9398000" y="1333500"/>
            <a:ext cx="2286000" cy="635000"/>
          </a:xfrm>
          <a:prstGeom prst="roundRect">
            <a:avLst>
              <a:gd name="adj" fmla="val 50000"/>
            </a:avLst>
          </a:prstGeom>
          <a:solidFill>
            <a:srgbClr val="1B4A9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</a:rPr>
              <a:t>弱点分析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0D16720C-9E54-7254-5ABF-74739FBE2ED9}"/>
              </a:ext>
            </a:extLst>
          </p:cNvPr>
          <p:cNvSpPr/>
          <p:nvPr/>
        </p:nvSpPr>
        <p:spPr>
          <a:xfrm>
            <a:off x="508000" y="2349500"/>
            <a:ext cx="5435600" cy="38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F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5860582F-E015-EE4E-3664-39C03E6E169D}"/>
              </a:ext>
            </a:extLst>
          </p:cNvPr>
          <p:cNvSpPr/>
          <p:nvPr/>
        </p:nvSpPr>
        <p:spPr>
          <a:xfrm>
            <a:off x="508000" y="2349500"/>
            <a:ext cx="5435600" cy="558800"/>
          </a:xfrm>
          <a:prstGeom prst="roundRect">
            <a:avLst>
              <a:gd name="adj" fmla="val 30000"/>
            </a:avLst>
          </a:prstGeom>
          <a:solidFill>
            <a:srgbClr val="0F2A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</a:rPr>
              <a:t>ゲーム的要素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7162F62-585D-D9D0-C01D-DB818AC1960A}"/>
              </a:ext>
            </a:extLst>
          </p:cNvPr>
          <p:cNvSpPr txBox="1"/>
          <p:nvPr/>
        </p:nvSpPr>
        <p:spPr>
          <a:xfrm>
            <a:off x="685800" y="3060700"/>
            <a:ext cx="5080000" cy="150810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800"/>
              </a:spcAft>
            </a:pPr>
            <a:r>
              <a:rPr kumimoji="1" lang="ja-JP" altLang="en-US">
                <a:solidFill>
                  <a:srgbClr val="4A5568"/>
                </a:solidFill>
                <a:latin typeface="Meiryo UI" panose="020B0604030504040204" pitchFamily="50" charset="-128"/>
              </a:rPr>
              <a:t>● レベルアップ</a:t>
            </a:r>
          </a:p>
          <a:p>
            <a:pPr>
              <a:spcAft>
                <a:spcPts val="800"/>
              </a:spcAft>
            </a:pPr>
            <a:r>
              <a:rPr kumimoji="1" lang="ja-JP" altLang="en-US">
                <a:solidFill>
                  <a:srgbClr val="4A5568"/>
                </a:solidFill>
                <a:latin typeface="Meiryo UI" panose="020B0604030504040204" pitchFamily="50" charset="-128"/>
              </a:rPr>
              <a:t>● キャラクター</a:t>
            </a:r>
          </a:p>
          <a:p>
            <a:pPr>
              <a:spcAft>
                <a:spcPts val="800"/>
              </a:spcAft>
            </a:pPr>
            <a:r>
              <a:rPr kumimoji="1" lang="ja-JP" altLang="en-US">
                <a:solidFill>
                  <a:srgbClr val="4A5568"/>
                </a:solidFill>
                <a:latin typeface="Meiryo UI" panose="020B0604030504040204" pitchFamily="50" charset="-128"/>
              </a:rPr>
              <a:t>● 実績・クエスト</a:t>
            </a:r>
          </a:p>
          <a:p>
            <a:pPr>
              <a:spcAft>
                <a:spcPts val="800"/>
              </a:spcAft>
            </a:pPr>
            <a:r>
              <a:rPr kumimoji="1" lang="ja-JP" altLang="en-US">
                <a:solidFill>
                  <a:srgbClr val="4A5568"/>
                </a:solidFill>
                <a:latin typeface="Meiryo UI" panose="020B0604030504040204" pitchFamily="50" charset="-128"/>
              </a:rPr>
              <a:t>● フレンド・ランキング</a:t>
            </a: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A5976E8A-6F08-3D30-AD69-0653BF139DC7}"/>
              </a:ext>
            </a:extLst>
          </p:cNvPr>
          <p:cNvSpPr/>
          <p:nvPr/>
        </p:nvSpPr>
        <p:spPr>
          <a:xfrm>
            <a:off x="6248400" y="2349500"/>
            <a:ext cx="5435600" cy="38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F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2417EE61-7892-08D8-C08D-332E3707BE81}"/>
              </a:ext>
            </a:extLst>
          </p:cNvPr>
          <p:cNvSpPr/>
          <p:nvPr/>
        </p:nvSpPr>
        <p:spPr>
          <a:xfrm>
            <a:off x="6248400" y="2349500"/>
            <a:ext cx="5435600" cy="558800"/>
          </a:xfrm>
          <a:prstGeom prst="roundRect">
            <a:avLst>
              <a:gd name="adj" fmla="val 30000"/>
            </a:avLst>
          </a:prstGeom>
          <a:solidFill>
            <a:srgbClr val="0F2A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</a:rPr>
              <a:t>学習的要素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94259008-3D21-CBFF-4B66-A49CC71E1891}"/>
              </a:ext>
            </a:extLst>
          </p:cNvPr>
          <p:cNvSpPr txBox="1"/>
          <p:nvPr/>
        </p:nvSpPr>
        <p:spPr>
          <a:xfrm>
            <a:off x="6426200" y="3060700"/>
            <a:ext cx="5080000" cy="150810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800"/>
              </a:spcAft>
            </a:pPr>
            <a:r>
              <a:rPr kumimoji="1" lang="ja-JP" altLang="en-US">
                <a:solidFill>
                  <a:srgbClr val="4A5568"/>
                </a:solidFill>
                <a:latin typeface="Meiryo UI" panose="020B0604030504040204" pitchFamily="50" charset="-128"/>
              </a:rPr>
              <a:t>● 間違い回数の集計</a:t>
            </a:r>
          </a:p>
          <a:p>
            <a:pPr>
              <a:spcAft>
                <a:spcPts val="800"/>
              </a:spcAft>
            </a:pPr>
            <a:r>
              <a:rPr kumimoji="1" lang="ja-JP" altLang="en-US">
                <a:solidFill>
                  <a:srgbClr val="4A5568"/>
                </a:solidFill>
                <a:latin typeface="Meiryo UI" panose="020B0604030504040204" pitchFamily="50" charset="-128"/>
              </a:rPr>
              <a:t>● 苦手問題の抽出</a:t>
            </a:r>
          </a:p>
          <a:p>
            <a:pPr>
              <a:spcAft>
                <a:spcPts val="800"/>
              </a:spcAft>
            </a:pPr>
            <a:r>
              <a:rPr kumimoji="1" lang="ja-JP" altLang="en-US">
                <a:solidFill>
                  <a:srgbClr val="4A5568"/>
                </a:solidFill>
                <a:latin typeface="Meiryo UI" panose="020B0604030504040204" pitchFamily="50" charset="-128"/>
              </a:rPr>
              <a:t>● 学習率の可視化</a:t>
            </a:r>
          </a:p>
          <a:p>
            <a:pPr>
              <a:spcAft>
                <a:spcPts val="800"/>
              </a:spcAft>
            </a:pPr>
            <a:r>
              <a:rPr kumimoji="1" lang="ja-JP" altLang="en-US">
                <a:solidFill>
                  <a:srgbClr val="4A5568"/>
                </a:solidFill>
                <a:latin typeface="Meiryo UI" panose="020B0604030504040204" pitchFamily="50" charset="-128"/>
              </a:rPr>
              <a:t>● 問題集・マーク機能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B073D6A0-10FB-9D35-FFA3-A8D41962BD06}"/>
              </a:ext>
            </a:extLst>
          </p:cNvPr>
          <p:cNvSpPr txBox="1"/>
          <p:nvPr/>
        </p:nvSpPr>
        <p:spPr>
          <a:xfrm>
            <a:off x="10414000" y="6413500"/>
            <a:ext cx="1524000" cy="27699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r"/>
            <a:r>
              <a:rPr kumimoji="1" lang="en-US" altLang="ja-JP" sz="1200" b="1">
                <a:solidFill>
                  <a:srgbClr val="1B4A9C"/>
                </a:solidFill>
                <a:latin typeface="Meiryo UI" panose="020B0604030504040204" pitchFamily="50" charset="-128"/>
              </a:rPr>
              <a:t>PROSTA</a:t>
            </a:r>
            <a:endParaRPr kumimoji="1" lang="ja-JP" altLang="en-US" sz="1200" b="1">
              <a:solidFill>
                <a:srgbClr val="1B4A9C"/>
              </a:solidFill>
              <a:latin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582249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64986FB-9701-8FF4-5543-7182E6D43275}"/>
              </a:ext>
            </a:extLst>
          </p:cNvPr>
          <p:cNvSpPr/>
          <p:nvPr/>
        </p:nvSpPr>
        <p:spPr>
          <a:xfrm>
            <a:off x="0" y="0"/>
            <a:ext cx="12192000" cy="965200"/>
          </a:xfrm>
          <a:prstGeom prst="rect">
            <a:avLst/>
          </a:prstGeom>
          <a:solidFill>
            <a:srgbClr val="0F2A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CE9AC8F-1749-229C-6A9D-41DFA76E4A7F}"/>
              </a:ext>
            </a:extLst>
          </p:cNvPr>
          <p:cNvSpPr/>
          <p:nvPr/>
        </p:nvSpPr>
        <p:spPr>
          <a:xfrm>
            <a:off x="0" y="965200"/>
            <a:ext cx="12192000" cy="63500"/>
          </a:xfrm>
          <a:prstGeom prst="rect">
            <a:avLst/>
          </a:prstGeom>
          <a:solidFill>
            <a:srgbClr val="F5D7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ACF6C79-F536-173B-D221-7B6617316780}"/>
              </a:ext>
            </a:extLst>
          </p:cNvPr>
          <p:cNvSpPr txBox="1"/>
          <p:nvPr/>
        </p:nvSpPr>
        <p:spPr>
          <a:xfrm>
            <a:off x="508000" y="177800"/>
            <a:ext cx="8128000" cy="55399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kumimoji="1" lang="ja-JP" altLang="en-US" sz="3000" b="1">
                <a:solidFill>
                  <a:srgbClr val="FFFFFF"/>
                </a:solidFill>
                <a:latin typeface="Meiryo UI" panose="020B0604030504040204" pitchFamily="50" charset="-128"/>
              </a:rPr>
              <a:t>ゲーム要素① 成長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8BA9AC11-5DE9-3FC1-AA80-9600E782835B}"/>
              </a:ext>
            </a:extLst>
          </p:cNvPr>
          <p:cNvSpPr/>
          <p:nvPr/>
        </p:nvSpPr>
        <p:spPr>
          <a:xfrm>
            <a:off x="9398000" y="279400"/>
            <a:ext cx="2286000" cy="406400"/>
          </a:xfrm>
          <a:prstGeom prst="roundRect">
            <a:avLst>
              <a:gd name="adj" fmla="val 50000"/>
            </a:avLst>
          </a:prstGeom>
          <a:solidFill>
            <a:srgbClr val="1B4A9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>
                <a:solidFill>
                  <a:srgbClr val="FFFFFF"/>
                </a:solidFill>
                <a:latin typeface="Meiryo UI" panose="020B0604030504040204" pitchFamily="50" charset="-128"/>
              </a:rPr>
              <a:t>ゲーム要素 </a:t>
            </a:r>
            <a:r>
              <a:rPr kumimoji="1" lang="en-US" altLang="ja-JP" sz="1400">
                <a:solidFill>
                  <a:srgbClr val="FFFFFF"/>
                </a:solidFill>
                <a:latin typeface="Meiryo UI" panose="020B0604030504040204" pitchFamily="50" charset="-128"/>
              </a:rPr>
              <a:t>2.5</a:t>
            </a:r>
            <a:r>
              <a:rPr kumimoji="1" lang="ja-JP" altLang="en-US" sz="1400">
                <a:solidFill>
                  <a:srgbClr val="FFFFFF"/>
                </a:solidFill>
                <a:latin typeface="Meiryo UI" panose="020B0604030504040204" pitchFamily="50" charset="-128"/>
              </a:rPr>
              <a:t>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4F47908-AF88-C4B4-950F-5C5E27B4C0B2}"/>
              </a:ext>
            </a:extLst>
          </p:cNvPr>
          <p:cNvSpPr txBox="1"/>
          <p:nvPr/>
        </p:nvSpPr>
        <p:spPr>
          <a:xfrm>
            <a:off x="508000" y="1397000"/>
            <a:ext cx="5588000" cy="30931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1400"/>
              </a:spcAft>
            </a:pPr>
            <a:r>
              <a:rPr kumimoji="1" lang="ja-JP" altLang="en-US" sz="2000">
                <a:solidFill>
                  <a:srgbClr val="4A5568"/>
                </a:solidFill>
                <a:latin typeface="Meiryo UI" panose="020B0604030504040204" pitchFamily="50" charset="-128"/>
              </a:rPr>
              <a:t>● レベルアップ：解答数＋正答数でレベルが上がる</a:t>
            </a:r>
          </a:p>
          <a:p>
            <a:pPr>
              <a:spcAft>
                <a:spcPts val="1400"/>
              </a:spcAft>
            </a:pPr>
            <a:r>
              <a:rPr kumimoji="1" lang="ja-JP" altLang="en-US" sz="2000">
                <a:solidFill>
                  <a:srgbClr val="4A5568"/>
                </a:solidFill>
                <a:latin typeface="Meiryo UI" panose="020B0604030504040204" pitchFamily="50" charset="-128"/>
              </a:rPr>
              <a:t>● キャラクター（スタ）：レベルに応じて成長</a:t>
            </a:r>
          </a:p>
          <a:p>
            <a:pPr>
              <a:spcAft>
                <a:spcPts val="1400"/>
              </a:spcAft>
            </a:pPr>
            <a:r>
              <a:rPr kumimoji="1" lang="ja-JP" altLang="en-US" sz="2000">
                <a:solidFill>
                  <a:srgbClr val="4A5568"/>
                </a:solidFill>
                <a:latin typeface="Meiryo UI" panose="020B0604030504040204" pitchFamily="50" charset="-128"/>
              </a:rPr>
              <a:t>● クエスト・実績解除：達成するとバッジを獲得</a:t>
            </a:r>
          </a:p>
          <a:p>
            <a:pPr>
              <a:spcAft>
                <a:spcPts val="1400"/>
              </a:spcAft>
            </a:pPr>
            <a:r>
              <a:rPr kumimoji="1" lang="ja-JP" altLang="en-US" sz="2000">
                <a:solidFill>
                  <a:srgbClr val="4A5568"/>
                </a:solidFill>
                <a:latin typeface="Meiryo UI" panose="020B0604030504040204" pitchFamily="50" charset="-128"/>
              </a:rPr>
              <a:t>● ログイン日数・連続ログインもレベルに反映</a:t>
            </a: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17F828F3-2A08-5358-47A9-1D1249A81D00}"/>
              </a:ext>
            </a:extLst>
          </p:cNvPr>
          <p:cNvSpPr/>
          <p:nvPr/>
        </p:nvSpPr>
        <p:spPr>
          <a:xfrm>
            <a:off x="6477000" y="1397000"/>
            <a:ext cx="5207000" cy="3810000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 w="19050">
            <a:solidFill>
              <a:srgbClr val="1B4A9C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>
                <a:solidFill>
                  <a:srgbClr val="1B4A9C"/>
                </a:solidFill>
                <a:latin typeface="Meiryo UI" panose="020B0604030504040204" pitchFamily="50" charset="-128"/>
              </a:rPr>
              <a:t>【</a:t>
            </a:r>
            <a:r>
              <a:rPr kumimoji="1" lang="ja-JP" altLang="en-US" sz="1600">
                <a:solidFill>
                  <a:srgbClr val="1B4A9C"/>
                </a:solidFill>
                <a:latin typeface="Meiryo UI" panose="020B0604030504040204" pitchFamily="50" charset="-128"/>
              </a:rPr>
              <a:t>画面キャプチャ</a:t>
            </a:r>
            <a:r>
              <a:rPr kumimoji="1" lang="en-US" altLang="ja-JP" sz="1600">
                <a:solidFill>
                  <a:srgbClr val="1B4A9C"/>
                </a:solidFill>
                <a:latin typeface="Meiryo UI" panose="020B0604030504040204" pitchFamily="50" charset="-128"/>
              </a:rPr>
              <a:t>】</a:t>
            </a:r>
            <a:r>
              <a:rPr kumimoji="1" lang="ja-JP" altLang="en-US" sz="1600">
                <a:solidFill>
                  <a:srgbClr val="1B4A9C"/>
                </a:solidFill>
                <a:latin typeface="Meiryo UI" panose="020B0604030504040204" pitchFamily="50" charset="-128"/>
              </a:rPr>
              <a:t>マイページ（レベル・キャラクター）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D906030-2DC4-96E3-D554-8AFA6A2C6F68}"/>
              </a:ext>
            </a:extLst>
          </p:cNvPr>
          <p:cNvSpPr txBox="1"/>
          <p:nvPr/>
        </p:nvSpPr>
        <p:spPr>
          <a:xfrm>
            <a:off x="10414000" y="6413500"/>
            <a:ext cx="1524000" cy="27699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r"/>
            <a:r>
              <a:rPr kumimoji="1" lang="en-US" altLang="ja-JP" sz="1200" b="1">
                <a:solidFill>
                  <a:srgbClr val="1B4A9C"/>
                </a:solidFill>
                <a:latin typeface="Meiryo UI" panose="020B0604030504040204" pitchFamily="50" charset="-128"/>
              </a:rPr>
              <a:t>PROSTA</a:t>
            </a:r>
            <a:endParaRPr kumimoji="1" lang="ja-JP" altLang="en-US" sz="1200" b="1">
              <a:solidFill>
                <a:srgbClr val="1B4A9C"/>
              </a:solidFill>
              <a:latin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44355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3979381-8F97-D89D-4C4F-09CA6CF6EFD0}"/>
              </a:ext>
            </a:extLst>
          </p:cNvPr>
          <p:cNvSpPr/>
          <p:nvPr/>
        </p:nvSpPr>
        <p:spPr>
          <a:xfrm>
            <a:off x="0" y="0"/>
            <a:ext cx="12192000" cy="965200"/>
          </a:xfrm>
          <a:prstGeom prst="rect">
            <a:avLst/>
          </a:prstGeom>
          <a:solidFill>
            <a:srgbClr val="0F2A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3F50C51-5EC2-9641-9F7D-6820FC0E9065}"/>
              </a:ext>
            </a:extLst>
          </p:cNvPr>
          <p:cNvSpPr/>
          <p:nvPr/>
        </p:nvSpPr>
        <p:spPr>
          <a:xfrm>
            <a:off x="0" y="965200"/>
            <a:ext cx="12192000" cy="63500"/>
          </a:xfrm>
          <a:prstGeom prst="rect">
            <a:avLst/>
          </a:prstGeom>
          <a:solidFill>
            <a:srgbClr val="F5D7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1F87924-C2A3-474C-2B45-6FF67FC34BB1}"/>
              </a:ext>
            </a:extLst>
          </p:cNvPr>
          <p:cNvSpPr txBox="1"/>
          <p:nvPr/>
        </p:nvSpPr>
        <p:spPr>
          <a:xfrm>
            <a:off x="508000" y="177800"/>
            <a:ext cx="8128000" cy="55399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kumimoji="1" lang="ja-JP" altLang="en-US" sz="3000" b="1">
                <a:solidFill>
                  <a:srgbClr val="FFFFFF"/>
                </a:solidFill>
                <a:latin typeface="Meiryo UI" panose="020B0604030504040204" pitchFamily="50" charset="-128"/>
              </a:rPr>
              <a:t>ゲーム要素② 競争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64667DB5-D17B-3B65-1663-020E9079ACC5}"/>
              </a:ext>
            </a:extLst>
          </p:cNvPr>
          <p:cNvSpPr/>
          <p:nvPr/>
        </p:nvSpPr>
        <p:spPr>
          <a:xfrm>
            <a:off x="9398000" y="279400"/>
            <a:ext cx="2286000" cy="406400"/>
          </a:xfrm>
          <a:prstGeom prst="roundRect">
            <a:avLst>
              <a:gd name="adj" fmla="val 50000"/>
            </a:avLst>
          </a:prstGeom>
          <a:solidFill>
            <a:srgbClr val="1B4A9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>
                <a:solidFill>
                  <a:srgbClr val="FFFFFF"/>
                </a:solidFill>
                <a:latin typeface="Meiryo UI" panose="020B0604030504040204" pitchFamily="50" charset="-128"/>
              </a:rPr>
              <a:t>ゲーム要素 </a:t>
            </a:r>
            <a:r>
              <a:rPr kumimoji="1" lang="en-US" altLang="ja-JP" sz="1400">
                <a:solidFill>
                  <a:srgbClr val="FFFFFF"/>
                </a:solidFill>
                <a:latin typeface="Meiryo UI" panose="020B0604030504040204" pitchFamily="50" charset="-128"/>
              </a:rPr>
              <a:t>2.5</a:t>
            </a:r>
            <a:r>
              <a:rPr kumimoji="1" lang="ja-JP" altLang="en-US" sz="1400">
                <a:solidFill>
                  <a:srgbClr val="FFFFFF"/>
                </a:solidFill>
                <a:latin typeface="Meiryo UI" panose="020B0604030504040204" pitchFamily="50" charset="-128"/>
              </a:rPr>
              <a:t>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E1C5435-2256-8D1F-0078-64AFB2E0FAE9}"/>
              </a:ext>
            </a:extLst>
          </p:cNvPr>
          <p:cNvSpPr txBox="1"/>
          <p:nvPr/>
        </p:nvSpPr>
        <p:spPr>
          <a:xfrm>
            <a:off x="508000" y="1397000"/>
            <a:ext cx="5588000" cy="168251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1400"/>
              </a:spcAft>
            </a:pPr>
            <a:r>
              <a:rPr kumimoji="1" lang="ja-JP" altLang="en-US" sz="2000">
                <a:solidFill>
                  <a:srgbClr val="4A5568"/>
                </a:solidFill>
                <a:latin typeface="Meiryo UI" panose="020B0604030504040204" pitchFamily="50" charset="-128"/>
              </a:rPr>
              <a:t>● フレンド機能：連続ログイン日数・ログイン中か・勉強量を確認</a:t>
            </a:r>
          </a:p>
          <a:p>
            <a:pPr>
              <a:spcAft>
                <a:spcPts val="1400"/>
              </a:spcAft>
            </a:pPr>
            <a:r>
              <a:rPr kumimoji="1" lang="ja-JP" altLang="en-US" sz="2000">
                <a:solidFill>
                  <a:srgbClr val="4A5568"/>
                </a:solidFill>
                <a:latin typeface="Meiryo UI" panose="020B0604030504040204" pitchFamily="50" charset="-128"/>
              </a:rPr>
              <a:t>● 同じ問題集を解いて競争</a:t>
            </a:r>
          </a:p>
          <a:p>
            <a:pPr>
              <a:spcAft>
                <a:spcPts val="1400"/>
              </a:spcAft>
            </a:pPr>
            <a:r>
              <a:rPr kumimoji="1" lang="ja-JP" altLang="en-US" sz="2000">
                <a:solidFill>
                  <a:srgbClr val="4A5568"/>
                </a:solidFill>
                <a:latin typeface="Meiryo UI" panose="020B0604030504040204" pitchFamily="50" charset="-128"/>
              </a:rPr>
              <a:t>● ランキングでモチベーションを維持</a:t>
            </a: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C2829174-86E8-090D-787D-8BE43F6B308D}"/>
              </a:ext>
            </a:extLst>
          </p:cNvPr>
          <p:cNvSpPr/>
          <p:nvPr/>
        </p:nvSpPr>
        <p:spPr>
          <a:xfrm>
            <a:off x="6477000" y="1397000"/>
            <a:ext cx="5207000" cy="3810000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 w="19050">
            <a:solidFill>
              <a:srgbClr val="1B4A9C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>
                <a:solidFill>
                  <a:srgbClr val="1B4A9C"/>
                </a:solidFill>
                <a:latin typeface="Meiryo UI" panose="020B0604030504040204" pitchFamily="50" charset="-128"/>
              </a:rPr>
              <a:t>【</a:t>
            </a:r>
            <a:r>
              <a:rPr kumimoji="1" lang="ja-JP" altLang="en-US" sz="1600">
                <a:solidFill>
                  <a:srgbClr val="1B4A9C"/>
                </a:solidFill>
                <a:latin typeface="Meiryo UI" panose="020B0604030504040204" pitchFamily="50" charset="-128"/>
              </a:rPr>
              <a:t>画面キャプチャ</a:t>
            </a:r>
            <a:r>
              <a:rPr kumimoji="1" lang="en-US" altLang="ja-JP" sz="1600">
                <a:solidFill>
                  <a:srgbClr val="1B4A9C"/>
                </a:solidFill>
                <a:latin typeface="Meiryo UI" panose="020B0604030504040204" pitchFamily="50" charset="-128"/>
              </a:rPr>
              <a:t>】</a:t>
            </a:r>
            <a:r>
              <a:rPr kumimoji="1" lang="ja-JP" altLang="en-US" sz="1600">
                <a:solidFill>
                  <a:srgbClr val="1B4A9C"/>
                </a:solidFill>
                <a:latin typeface="Meiryo UI" panose="020B0604030504040204" pitchFamily="50" charset="-128"/>
              </a:rPr>
              <a:t>フレンド／ランキング画面</a:t>
            </a: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376D1188-2903-3DA3-36E3-8CB83797EF0B}"/>
              </a:ext>
            </a:extLst>
          </p:cNvPr>
          <p:cNvSpPr/>
          <p:nvPr/>
        </p:nvSpPr>
        <p:spPr>
          <a:xfrm>
            <a:off x="508000" y="5715000"/>
            <a:ext cx="11176000" cy="558800"/>
          </a:xfrm>
          <a:prstGeom prst="roundRect">
            <a:avLst>
              <a:gd name="adj" fmla="val 30000"/>
            </a:avLst>
          </a:prstGeom>
          <a:solidFill>
            <a:srgbClr val="F5D7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>
                <a:solidFill>
                  <a:srgbClr val="0F2A5C"/>
                </a:solidFill>
                <a:latin typeface="Meiryo UI" panose="020B0604030504040204" pitchFamily="50" charset="-128"/>
              </a:rPr>
              <a:t>▶ デモ① マイページ → フレンド → ランキング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96542A5-D599-2A80-F837-831F151703F7}"/>
              </a:ext>
            </a:extLst>
          </p:cNvPr>
          <p:cNvSpPr txBox="1"/>
          <p:nvPr/>
        </p:nvSpPr>
        <p:spPr>
          <a:xfrm>
            <a:off x="10414000" y="6413500"/>
            <a:ext cx="1524000" cy="27699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r"/>
            <a:r>
              <a:rPr kumimoji="1" lang="en-US" altLang="ja-JP" sz="1200" b="1">
                <a:solidFill>
                  <a:srgbClr val="1B4A9C"/>
                </a:solidFill>
                <a:latin typeface="Meiryo UI" panose="020B0604030504040204" pitchFamily="50" charset="-128"/>
              </a:rPr>
              <a:t>PROSTA</a:t>
            </a:r>
            <a:endParaRPr kumimoji="1" lang="ja-JP" altLang="en-US" sz="1200" b="1">
              <a:solidFill>
                <a:srgbClr val="1B4A9C"/>
              </a:solidFill>
              <a:latin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102845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E034EEC-696F-9A09-70D8-82827B1F6B2E}"/>
              </a:ext>
            </a:extLst>
          </p:cNvPr>
          <p:cNvSpPr/>
          <p:nvPr/>
        </p:nvSpPr>
        <p:spPr>
          <a:xfrm>
            <a:off x="0" y="0"/>
            <a:ext cx="12192000" cy="965200"/>
          </a:xfrm>
          <a:prstGeom prst="rect">
            <a:avLst/>
          </a:prstGeom>
          <a:solidFill>
            <a:srgbClr val="0F2A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C23B8C8-0A1A-5A30-0A7B-33D06675F5D5}"/>
              </a:ext>
            </a:extLst>
          </p:cNvPr>
          <p:cNvSpPr/>
          <p:nvPr/>
        </p:nvSpPr>
        <p:spPr>
          <a:xfrm>
            <a:off x="0" y="965200"/>
            <a:ext cx="12192000" cy="63500"/>
          </a:xfrm>
          <a:prstGeom prst="rect">
            <a:avLst/>
          </a:prstGeom>
          <a:solidFill>
            <a:srgbClr val="F5D7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3E11E85-79DB-F1FD-FE9B-A6E3749562F9}"/>
              </a:ext>
            </a:extLst>
          </p:cNvPr>
          <p:cNvSpPr txBox="1"/>
          <p:nvPr/>
        </p:nvSpPr>
        <p:spPr>
          <a:xfrm>
            <a:off x="508000" y="177800"/>
            <a:ext cx="8128000" cy="55399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kumimoji="1" lang="ja-JP" altLang="en-US" sz="3000" b="1">
                <a:solidFill>
                  <a:srgbClr val="FFFFFF"/>
                </a:solidFill>
                <a:latin typeface="Meiryo UI" panose="020B0604030504040204" pitchFamily="50" charset="-128"/>
              </a:rPr>
              <a:t>学習要素① 分析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F33B0799-4132-C5C3-2F95-4228A02F819D}"/>
              </a:ext>
            </a:extLst>
          </p:cNvPr>
          <p:cNvSpPr/>
          <p:nvPr/>
        </p:nvSpPr>
        <p:spPr>
          <a:xfrm>
            <a:off x="9398000" y="279400"/>
            <a:ext cx="2286000" cy="406400"/>
          </a:xfrm>
          <a:prstGeom prst="roundRect">
            <a:avLst>
              <a:gd name="adj" fmla="val 50000"/>
            </a:avLst>
          </a:prstGeom>
          <a:solidFill>
            <a:srgbClr val="1B4A9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>
                <a:solidFill>
                  <a:srgbClr val="FFFFFF"/>
                </a:solidFill>
                <a:latin typeface="Meiryo UI" panose="020B0604030504040204" pitchFamily="50" charset="-128"/>
              </a:rPr>
              <a:t>学習要素 </a:t>
            </a:r>
            <a:r>
              <a:rPr kumimoji="1" lang="en-US" altLang="ja-JP" sz="1400">
                <a:solidFill>
                  <a:srgbClr val="FFFFFF"/>
                </a:solidFill>
                <a:latin typeface="Meiryo UI" panose="020B0604030504040204" pitchFamily="50" charset="-128"/>
              </a:rPr>
              <a:t>2.5</a:t>
            </a:r>
            <a:r>
              <a:rPr kumimoji="1" lang="ja-JP" altLang="en-US" sz="1400">
                <a:solidFill>
                  <a:srgbClr val="FFFFFF"/>
                </a:solidFill>
                <a:latin typeface="Meiryo UI" panose="020B0604030504040204" pitchFamily="50" charset="-128"/>
              </a:rPr>
              <a:t>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63E718C-B3DA-C9E1-22CD-7EE36CAC22CB}"/>
              </a:ext>
            </a:extLst>
          </p:cNvPr>
          <p:cNvSpPr txBox="1"/>
          <p:nvPr/>
        </p:nvSpPr>
        <p:spPr>
          <a:xfrm>
            <a:off x="508000" y="1397000"/>
            <a:ext cx="5588000" cy="247760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1400"/>
              </a:spcAft>
            </a:pPr>
            <a:r>
              <a:rPr kumimoji="1" lang="ja-JP" altLang="en-US" sz="2000">
                <a:solidFill>
                  <a:srgbClr val="4A5568"/>
                </a:solidFill>
                <a:latin typeface="Meiryo UI" panose="020B0604030504040204" pitchFamily="50" charset="-128"/>
              </a:rPr>
              <a:t>● 同じ問題を間違えた回数をカウントして集計</a:t>
            </a:r>
          </a:p>
          <a:p>
            <a:pPr>
              <a:spcAft>
                <a:spcPts val="1400"/>
              </a:spcAft>
            </a:pPr>
            <a:r>
              <a:rPr kumimoji="1" lang="ja-JP" altLang="en-US" sz="2000">
                <a:solidFill>
                  <a:srgbClr val="4A5568"/>
                </a:solidFill>
                <a:latin typeface="Meiryo UI" panose="020B0604030504040204" pitchFamily="50" charset="-128"/>
              </a:rPr>
              <a:t>● 解答回数＋正答数で苦手な問題を抽出</a:t>
            </a:r>
          </a:p>
          <a:p>
            <a:pPr>
              <a:spcAft>
                <a:spcPts val="1400"/>
              </a:spcAft>
            </a:pPr>
            <a:r>
              <a:rPr kumimoji="1" lang="ja-JP" altLang="en-US" sz="2000">
                <a:solidFill>
                  <a:srgbClr val="4A5568"/>
                </a:solidFill>
                <a:latin typeface="Meiryo UI" panose="020B0604030504040204" pitchFamily="50" charset="-128"/>
              </a:rPr>
              <a:t>● 弱点領域をグラフで可視化</a:t>
            </a:r>
          </a:p>
          <a:p>
            <a:pPr>
              <a:spcAft>
                <a:spcPts val="1400"/>
              </a:spcAft>
            </a:pPr>
            <a:r>
              <a:rPr kumimoji="1" lang="ja-JP" altLang="en-US" sz="2000">
                <a:solidFill>
                  <a:srgbClr val="4A5568"/>
                </a:solidFill>
                <a:latin typeface="Meiryo UI" panose="020B0604030504040204" pitchFamily="50" charset="-128"/>
              </a:rPr>
              <a:t>● 現在の学習率を「ぱっと見」で分かる表示に</a:t>
            </a: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710B989F-DCE1-80CB-BAEE-0157C18A54E5}"/>
              </a:ext>
            </a:extLst>
          </p:cNvPr>
          <p:cNvSpPr/>
          <p:nvPr/>
        </p:nvSpPr>
        <p:spPr>
          <a:xfrm>
            <a:off x="6477000" y="1397000"/>
            <a:ext cx="5207000" cy="3810000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 w="19050">
            <a:solidFill>
              <a:srgbClr val="1B4A9C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>
                <a:solidFill>
                  <a:srgbClr val="1B4A9C"/>
                </a:solidFill>
                <a:latin typeface="Meiryo UI" panose="020B0604030504040204" pitchFamily="50" charset="-128"/>
              </a:rPr>
              <a:t>【</a:t>
            </a:r>
            <a:r>
              <a:rPr kumimoji="1" lang="ja-JP" altLang="en-US" sz="1600">
                <a:solidFill>
                  <a:srgbClr val="1B4A9C"/>
                </a:solidFill>
                <a:latin typeface="Meiryo UI" panose="020B0604030504040204" pitchFamily="50" charset="-128"/>
              </a:rPr>
              <a:t>画面キャプチャ</a:t>
            </a:r>
            <a:r>
              <a:rPr kumimoji="1" lang="en-US" altLang="ja-JP" sz="1600">
                <a:solidFill>
                  <a:srgbClr val="1B4A9C"/>
                </a:solidFill>
                <a:latin typeface="Meiryo UI" panose="020B0604030504040204" pitchFamily="50" charset="-128"/>
              </a:rPr>
              <a:t>】</a:t>
            </a:r>
            <a:r>
              <a:rPr kumimoji="1" lang="ja-JP" altLang="en-US" sz="1600">
                <a:solidFill>
                  <a:srgbClr val="1B4A9C"/>
                </a:solidFill>
                <a:latin typeface="Meiryo UI" panose="020B0604030504040204" pitchFamily="50" charset="-128"/>
              </a:rPr>
              <a:t>苦手範囲特定問題／学習率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A54AD07-2B3F-833A-D5A8-4E67624253FA}"/>
              </a:ext>
            </a:extLst>
          </p:cNvPr>
          <p:cNvSpPr txBox="1"/>
          <p:nvPr/>
        </p:nvSpPr>
        <p:spPr>
          <a:xfrm>
            <a:off x="10414000" y="6413500"/>
            <a:ext cx="1524000" cy="27699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r"/>
            <a:r>
              <a:rPr kumimoji="1" lang="en-US" altLang="ja-JP" sz="1200" b="1">
                <a:solidFill>
                  <a:srgbClr val="1B4A9C"/>
                </a:solidFill>
                <a:latin typeface="Meiryo UI" panose="020B0604030504040204" pitchFamily="50" charset="-128"/>
              </a:rPr>
              <a:t>PROSTA</a:t>
            </a:r>
            <a:endParaRPr kumimoji="1" lang="ja-JP" altLang="en-US" sz="1200" b="1">
              <a:solidFill>
                <a:srgbClr val="1B4A9C"/>
              </a:solidFill>
              <a:latin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005410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B275204-5521-799D-B0A3-9C7AE2A02B66}"/>
              </a:ext>
            </a:extLst>
          </p:cNvPr>
          <p:cNvSpPr/>
          <p:nvPr/>
        </p:nvSpPr>
        <p:spPr>
          <a:xfrm>
            <a:off x="0" y="0"/>
            <a:ext cx="12192000" cy="965200"/>
          </a:xfrm>
          <a:prstGeom prst="rect">
            <a:avLst/>
          </a:prstGeom>
          <a:solidFill>
            <a:srgbClr val="0F2A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0B87A66-1FEE-26DA-882D-422790EDB6EA}"/>
              </a:ext>
            </a:extLst>
          </p:cNvPr>
          <p:cNvSpPr/>
          <p:nvPr/>
        </p:nvSpPr>
        <p:spPr>
          <a:xfrm>
            <a:off x="0" y="965200"/>
            <a:ext cx="12192000" cy="63500"/>
          </a:xfrm>
          <a:prstGeom prst="rect">
            <a:avLst/>
          </a:prstGeom>
          <a:solidFill>
            <a:srgbClr val="F5D7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2547699-AC54-9B93-CFDD-E9FED6F2F25B}"/>
              </a:ext>
            </a:extLst>
          </p:cNvPr>
          <p:cNvSpPr txBox="1"/>
          <p:nvPr/>
        </p:nvSpPr>
        <p:spPr>
          <a:xfrm>
            <a:off x="508000" y="177800"/>
            <a:ext cx="8128000" cy="55399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kumimoji="1" lang="ja-JP" altLang="en-US" sz="3000" b="1">
                <a:solidFill>
                  <a:srgbClr val="FFFFFF"/>
                </a:solidFill>
                <a:latin typeface="Meiryo UI" panose="020B0604030504040204" pitchFamily="50" charset="-128"/>
              </a:rPr>
              <a:t>学習要素② 学習支援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549AC907-2E2F-DB8C-C396-3C576271DA01}"/>
              </a:ext>
            </a:extLst>
          </p:cNvPr>
          <p:cNvSpPr/>
          <p:nvPr/>
        </p:nvSpPr>
        <p:spPr>
          <a:xfrm>
            <a:off x="9398000" y="279400"/>
            <a:ext cx="2286000" cy="406400"/>
          </a:xfrm>
          <a:prstGeom prst="roundRect">
            <a:avLst>
              <a:gd name="adj" fmla="val 50000"/>
            </a:avLst>
          </a:prstGeom>
          <a:solidFill>
            <a:srgbClr val="1B4A9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>
                <a:solidFill>
                  <a:srgbClr val="FFFFFF"/>
                </a:solidFill>
                <a:latin typeface="Meiryo UI" panose="020B0604030504040204" pitchFamily="50" charset="-128"/>
              </a:rPr>
              <a:t>学習要素 </a:t>
            </a:r>
            <a:r>
              <a:rPr kumimoji="1" lang="en-US" altLang="ja-JP" sz="1400">
                <a:solidFill>
                  <a:srgbClr val="FFFFFF"/>
                </a:solidFill>
                <a:latin typeface="Meiryo UI" panose="020B0604030504040204" pitchFamily="50" charset="-128"/>
              </a:rPr>
              <a:t>2.5</a:t>
            </a:r>
            <a:r>
              <a:rPr kumimoji="1" lang="ja-JP" altLang="en-US" sz="1400">
                <a:solidFill>
                  <a:srgbClr val="FFFFFF"/>
                </a:solidFill>
                <a:latin typeface="Meiryo UI" panose="020B0604030504040204" pitchFamily="50" charset="-128"/>
              </a:rPr>
              <a:t>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0729786-1EB9-CA66-7BDF-1109ED1DBD52}"/>
              </a:ext>
            </a:extLst>
          </p:cNvPr>
          <p:cNvSpPr txBox="1"/>
          <p:nvPr/>
        </p:nvSpPr>
        <p:spPr>
          <a:xfrm>
            <a:off x="508000" y="1397000"/>
            <a:ext cx="5588000" cy="234936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1400"/>
              </a:spcAft>
            </a:pPr>
            <a:r>
              <a:rPr kumimoji="1" lang="ja-JP" altLang="en-US" sz="2000">
                <a:solidFill>
                  <a:srgbClr val="4A5568"/>
                </a:solidFill>
                <a:latin typeface="Meiryo UI" panose="020B0604030504040204" pitchFamily="50" charset="-128"/>
              </a:rPr>
              <a:t>● 気になる問題文をマーク</a:t>
            </a:r>
          </a:p>
          <a:p>
            <a:pPr>
              <a:spcAft>
                <a:spcPts val="1400"/>
              </a:spcAft>
            </a:pPr>
            <a:r>
              <a:rPr kumimoji="1" lang="ja-JP" altLang="en-US" sz="2000">
                <a:solidFill>
                  <a:srgbClr val="4A5568"/>
                </a:solidFill>
                <a:latin typeface="Meiryo UI" panose="020B0604030504040204" pitchFamily="50" charset="-128"/>
              </a:rPr>
              <a:t>● 資格勉強の問題集を追加</a:t>
            </a:r>
          </a:p>
          <a:p>
            <a:pPr>
              <a:spcAft>
                <a:spcPts val="1400"/>
              </a:spcAft>
            </a:pPr>
            <a:r>
              <a:rPr kumimoji="1" lang="ja-JP" altLang="en-US" sz="2000">
                <a:solidFill>
                  <a:srgbClr val="4A5568"/>
                </a:solidFill>
                <a:latin typeface="Meiryo UI" panose="020B0604030504040204" pitchFamily="50" charset="-128"/>
              </a:rPr>
              <a:t>● 背景の選択で自分好みの画面に</a:t>
            </a:r>
          </a:p>
          <a:p>
            <a:pPr>
              <a:spcAft>
                <a:spcPts val="1400"/>
              </a:spcAft>
            </a:pPr>
            <a:r>
              <a:rPr kumimoji="1" lang="ja-JP" altLang="en-US" sz="2000">
                <a:solidFill>
                  <a:srgbClr val="4A5568"/>
                </a:solidFill>
                <a:latin typeface="Meiryo UI" panose="020B0604030504040204" pitchFamily="50" charset="-128"/>
              </a:rPr>
              <a:t>● ログアウト時にその日の学習内容を表示</a:t>
            </a:r>
          </a:p>
          <a:p>
            <a:pPr>
              <a:spcAft>
                <a:spcPts val="1400"/>
              </a:spcAft>
            </a:pPr>
            <a:r>
              <a:rPr kumimoji="1" lang="ja-JP" altLang="en-US" sz="2000">
                <a:solidFill>
                  <a:srgbClr val="4A5568"/>
                </a:solidFill>
                <a:latin typeface="Meiryo UI" panose="020B0604030504040204" pitchFamily="50" charset="-128"/>
              </a:rPr>
              <a:t>● チャットボットが学習をサポート</a:t>
            </a: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019F81A9-C0E5-0306-BACF-96144FBC82FD}"/>
              </a:ext>
            </a:extLst>
          </p:cNvPr>
          <p:cNvSpPr/>
          <p:nvPr/>
        </p:nvSpPr>
        <p:spPr>
          <a:xfrm>
            <a:off x="6477000" y="1397000"/>
            <a:ext cx="5207000" cy="3810000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 w="19050">
            <a:solidFill>
              <a:srgbClr val="1B4A9C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>
                <a:solidFill>
                  <a:srgbClr val="1B4A9C"/>
                </a:solidFill>
                <a:latin typeface="Meiryo UI" panose="020B0604030504040204" pitchFamily="50" charset="-128"/>
              </a:rPr>
              <a:t>【</a:t>
            </a:r>
            <a:r>
              <a:rPr kumimoji="1" lang="ja-JP" altLang="en-US" sz="1600">
                <a:solidFill>
                  <a:srgbClr val="1B4A9C"/>
                </a:solidFill>
                <a:latin typeface="Meiryo UI" panose="020B0604030504040204" pitchFamily="50" charset="-128"/>
              </a:rPr>
              <a:t>画面キャプチャ</a:t>
            </a:r>
            <a:r>
              <a:rPr kumimoji="1" lang="en-US" altLang="ja-JP" sz="1600">
                <a:solidFill>
                  <a:srgbClr val="1B4A9C"/>
                </a:solidFill>
                <a:latin typeface="Meiryo UI" panose="020B0604030504040204" pitchFamily="50" charset="-128"/>
              </a:rPr>
              <a:t>】</a:t>
            </a:r>
            <a:r>
              <a:rPr kumimoji="1" lang="ja-JP" altLang="en-US" sz="1600">
                <a:solidFill>
                  <a:srgbClr val="1B4A9C"/>
                </a:solidFill>
                <a:latin typeface="Meiryo UI" panose="020B0604030504040204" pitchFamily="50" charset="-128"/>
              </a:rPr>
              <a:t>問題画面／チャットボット</a:t>
            </a: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BCF91EEA-B017-89D9-7B46-9C97B136DA7E}"/>
              </a:ext>
            </a:extLst>
          </p:cNvPr>
          <p:cNvSpPr/>
          <p:nvPr/>
        </p:nvSpPr>
        <p:spPr>
          <a:xfrm>
            <a:off x="508000" y="5715000"/>
            <a:ext cx="11176000" cy="558800"/>
          </a:xfrm>
          <a:prstGeom prst="roundRect">
            <a:avLst>
              <a:gd name="adj" fmla="val 30000"/>
            </a:avLst>
          </a:prstGeom>
          <a:solidFill>
            <a:srgbClr val="F5D7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>
                <a:solidFill>
                  <a:srgbClr val="0F2A5C"/>
                </a:solidFill>
                <a:latin typeface="Meiryo UI" panose="020B0604030504040204" pitchFamily="50" charset="-128"/>
              </a:rPr>
              <a:t>▶ デモ② 問題を解く → 結果 → 苦手抽出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E8E1FE4-6B0F-C55A-3843-A091B588AAED}"/>
              </a:ext>
            </a:extLst>
          </p:cNvPr>
          <p:cNvSpPr txBox="1"/>
          <p:nvPr/>
        </p:nvSpPr>
        <p:spPr>
          <a:xfrm>
            <a:off x="10414000" y="6413500"/>
            <a:ext cx="1524000" cy="27699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r"/>
            <a:r>
              <a:rPr kumimoji="1" lang="en-US" altLang="ja-JP" sz="1200" b="1">
                <a:solidFill>
                  <a:srgbClr val="1B4A9C"/>
                </a:solidFill>
                <a:latin typeface="Meiryo UI" panose="020B0604030504040204" pitchFamily="50" charset="-128"/>
              </a:rPr>
              <a:t>PROSTA</a:t>
            </a:r>
            <a:endParaRPr kumimoji="1" lang="ja-JP" altLang="en-US" sz="1200" b="1">
              <a:solidFill>
                <a:srgbClr val="1B4A9C"/>
              </a:solidFill>
              <a:latin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234173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E6A3CFD-54DA-8557-D1E4-A31EC3F48E94}"/>
              </a:ext>
            </a:extLst>
          </p:cNvPr>
          <p:cNvSpPr/>
          <p:nvPr/>
        </p:nvSpPr>
        <p:spPr>
          <a:xfrm>
            <a:off x="0" y="0"/>
            <a:ext cx="12192000" cy="965200"/>
          </a:xfrm>
          <a:prstGeom prst="rect">
            <a:avLst/>
          </a:prstGeom>
          <a:solidFill>
            <a:srgbClr val="0F2A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D296B87-141D-B67F-9DB4-697D20E9018C}"/>
              </a:ext>
            </a:extLst>
          </p:cNvPr>
          <p:cNvSpPr/>
          <p:nvPr/>
        </p:nvSpPr>
        <p:spPr>
          <a:xfrm>
            <a:off x="0" y="965200"/>
            <a:ext cx="12192000" cy="63500"/>
          </a:xfrm>
          <a:prstGeom prst="rect">
            <a:avLst/>
          </a:prstGeom>
          <a:solidFill>
            <a:srgbClr val="F5D7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C154815-F0CD-C650-D350-4910BAB7DC62}"/>
              </a:ext>
            </a:extLst>
          </p:cNvPr>
          <p:cNvSpPr txBox="1"/>
          <p:nvPr/>
        </p:nvSpPr>
        <p:spPr>
          <a:xfrm>
            <a:off x="508000" y="177800"/>
            <a:ext cx="8128000" cy="55399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kumimoji="1" lang="ja-JP" altLang="en-US" sz="3000" b="1">
                <a:solidFill>
                  <a:srgbClr val="FFFFFF"/>
                </a:solidFill>
                <a:latin typeface="Meiryo UI" panose="020B0604030504040204" pitchFamily="50" charset="-128"/>
              </a:rPr>
              <a:t>技術構成・体制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F34B476F-2019-FCEA-68FC-A48809CECFA6}"/>
              </a:ext>
            </a:extLst>
          </p:cNvPr>
          <p:cNvSpPr/>
          <p:nvPr/>
        </p:nvSpPr>
        <p:spPr>
          <a:xfrm>
            <a:off x="9398000" y="279400"/>
            <a:ext cx="2286000" cy="406400"/>
          </a:xfrm>
          <a:prstGeom prst="roundRect">
            <a:avLst>
              <a:gd name="adj" fmla="val 50000"/>
            </a:avLst>
          </a:prstGeom>
          <a:solidFill>
            <a:srgbClr val="1B4A9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>
                <a:solidFill>
                  <a:srgbClr val="FFFFFF"/>
                </a:solidFill>
                <a:latin typeface="Meiryo UI" panose="020B0604030504040204" pitchFamily="50" charset="-128"/>
              </a:rPr>
              <a:t>技術 </a:t>
            </a:r>
            <a:r>
              <a:rPr kumimoji="1" lang="en-US" altLang="ja-JP" sz="1400">
                <a:solidFill>
                  <a:srgbClr val="FFFFFF"/>
                </a:solidFill>
                <a:latin typeface="Meiryo UI" panose="020B0604030504040204" pitchFamily="50" charset="-128"/>
              </a:rPr>
              <a:t>1</a:t>
            </a:r>
            <a:r>
              <a:rPr kumimoji="1" lang="ja-JP" altLang="en-US" sz="1400">
                <a:solidFill>
                  <a:srgbClr val="FFFFFF"/>
                </a:solidFill>
                <a:latin typeface="Meiryo UI" panose="020B0604030504040204" pitchFamily="50" charset="-128"/>
              </a:rPr>
              <a:t>分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D3483017-D3BA-B438-076E-CB54A80EE4F5}"/>
              </a:ext>
            </a:extLst>
          </p:cNvPr>
          <p:cNvSpPr/>
          <p:nvPr/>
        </p:nvSpPr>
        <p:spPr>
          <a:xfrm>
            <a:off x="508000" y="1524000"/>
            <a:ext cx="54356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F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EFADC244-2ACC-5722-412A-A27A1637A6DB}"/>
              </a:ext>
            </a:extLst>
          </p:cNvPr>
          <p:cNvSpPr/>
          <p:nvPr/>
        </p:nvSpPr>
        <p:spPr>
          <a:xfrm>
            <a:off x="508000" y="1524000"/>
            <a:ext cx="5435600" cy="558800"/>
          </a:xfrm>
          <a:prstGeom prst="roundRect">
            <a:avLst>
              <a:gd name="adj" fmla="val 30000"/>
            </a:avLst>
          </a:prstGeom>
          <a:solidFill>
            <a:srgbClr val="0F2A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</a:rPr>
              <a:t>技術構成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D7C2CCA-A878-6C81-3E2D-65EE2F64B7FF}"/>
              </a:ext>
            </a:extLst>
          </p:cNvPr>
          <p:cNvSpPr txBox="1"/>
          <p:nvPr/>
        </p:nvSpPr>
        <p:spPr>
          <a:xfrm>
            <a:off x="685800" y="2235200"/>
            <a:ext cx="5080000" cy="150810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800"/>
              </a:spcAft>
            </a:pPr>
            <a:r>
              <a:rPr kumimoji="1" lang="en-US" altLang="ja-JP">
                <a:solidFill>
                  <a:srgbClr val="4A5568"/>
                </a:solidFill>
                <a:latin typeface="Meiryo UI" panose="020B0604030504040204" pitchFamily="50" charset="-128"/>
              </a:rPr>
              <a:t>● Spring Boot</a:t>
            </a:r>
          </a:p>
          <a:p>
            <a:pPr>
              <a:spcAft>
                <a:spcPts val="800"/>
              </a:spcAft>
            </a:pPr>
            <a:r>
              <a:rPr kumimoji="1" lang="en-US" altLang="ja-JP">
                <a:solidFill>
                  <a:srgbClr val="4A5568"/>
                </a:solidFill>
                <a:latin typeface="Meiryo UI" panose="020B0604030504040204" pitchFamily="50" charset="-128"/>
              </a:rPr>
              <a:t>● Thymeleaf</a:t>
            </a:r>
          </a:p>
          <a:p>
            <a:pPr>
              <a:spcAft>
                <a:spcPts val="800"/>
              </a:spcAft>
            </a:pPr>
            <a:r>
              <a:rPr kumimoji="1" lang="en-US" altLang="ja-JP">
                <a:solidFill>
                  <a:srgbClr val="4A5568"/>
                </a:solidFill>
                <a:latin typeface="Meiryo UI" panose="020B0604030504040204" pitchFamily="50" charset="-128"/>
              </a:rPr>
              <a:t>● Oracle Database</a:t>
            </a:r>
          </a:p>
          <a:p>
            <a:pPr>
              <a:spcAft>
                <a:spcPts val="800"/>
              </a:spcAft>
            </a:pPr>
            <a:r>
              <a:rPr kumimoji="1" lang="en-US" altLang="ja-JP">
                <a:solidFill>
                  <a:srgbClr val="4A5568"/>
                </a:solidFill>
                <a:latin typeface="Meiryo UI" panose="020B0604030504040204" pitchFamily="50" charset="-128"/>
              </a:rPr>
              <a:t>● HTML / CSS / JavaScript</a:t>
            </a:r>
            <a:endParaRPr kumimoji="1" lang="ja-JP" altLang="en-US">
              <a:solidFill>
                <a:srgbClr val="4A5568"/>
              </a:solidFill>
              <a:latin typeface="Meiryo UI" panose="020B0604030504040204" pitchFamily="50" charset="-128"/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D0838153-A07C-3B45-DC2B-679D64FE3024}"/>
              </a:ext>
            </a:extLst>
          </p:cNvPr>
          <p:cNvSpPr/>
          <p:nvPr/>
        </p:nvSpPr>
        <p:spPr>
          <a:xfrm>
            <a:off x="6248400" y="1524000"/>
            <a:ext cx="54356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F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8090E1E3-9C73-19BC-7492-45173F9FE675}"/>
              </a:ext>
            </a:extLst>
          </p:cNvPr>
          <p:cNvSpPr/>
          <p:nvPr/>
        </p:nvSpPr>
        <p:spPr>
          <a:xfrm>
            <a:off x="6248400" y="1524000"/>
            <a:ext cx="5435600" cy="558800"/>
          </a:xfrm>
          <a:prstGeom prst="roundRect">
            <a:avLst>
              <a:gd name="adj" fmla="val 30000"/>
            </a:avLst>
          </a:prstGeom>
          <a:solidFill>
            <a:srgbClr val="0F2A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</a:rPr>
              <a:t>担当分担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0B5E9F2-2FCE-B722-98C4-F6B2EB70BE37}"/>
              </a:ext>
            </a:extLst>
          </p:cNvPr>
          <p:cNvSpPr txBox="1"/>
          <p:nvPr/>
        </p:nvSpPr>
        <p:spPr>
          <a:xfrm>
            <a:off x="6426200" y="2235200"/>
            <a:ext cx="5080000" cy="150810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800"/>
              </a:spcAft>
            </a:pPr>
            <a:r>
              <a:rPr kumimoji="1" lang="ja-JP" altLang="en-US">
                <a:solidFill>
                  <a:srgbClr val="4A5568"/>
                </a:solidFill>
                <a:latin typeface="Meiryo UI" panose="020B0604030504040204" pitchFamily="50" charset="-128"/>
              </a:rPr>
              <a:t>● 大塚：フレンド・学習率・問題集 ほか</a:t>
            </a:r>
          </a:p>
          <a:p>
            <a:pPr>
              <a:spcAft>
                <a:spcPts val="800"/>
              </a:spcAft>
            </a:pPr>
            <a:r>
              <a:rPr kumimoji="1" lang="ja-JP" altLang="en-US">
                <a:solidFill>
                  <a:srgbClr val="4A5568"/>
                </a:solidFill>
                <a:latin typeface="Meiryo UI" panose="020B0604030504040204" pitchFamily="50" charset="-128"/>
              </a:rPr>
              <a:t>● 小林：ランキング・マーク機能 ほか</a:t>
            </a:r>
          </a:p>
          <a:p>
            <a:pPr>
              <a:spcAft>
                <a:spcPts val="800"/>
              </a:spcAft>
            </a:pPr>
            <a:r>
              <a:rPr kumimoji="1" lang="ja-JP" altLang="en-US">
                <a:solidFill>
                  <a:srgbClr val="4A5568"/>
                </a:solidFill>
                <a:latin typeface="Meiryo UI" panose="020B0604030504040204" pitchFamily="50" charset="-128"/>
              </a:rPr>
              <a:t>● 徐プロ：レベル・キャラクター・実績</a:t>
            </a:r>
          </a:p>
          <a:p>
            <a:pPr>
              <a:spcAft>
                <a:spcPts val="800"/>
              </a:spcAft>
            </a:pPr>
            <a:r>
              <a:rPr kumimoji="1" lang="ja-JP" altLang="en-US">
                <a:solidFill>
                  <a:srgbClr val="4A5568"/>
                </a:solidFill>
                <a:latin typeface="Meiryo UI" panose="020B0604030504040204" pitchFamily="50" charset="-128"/>
              </a:rPr>
              <a:t>● 八木プロ：背景選択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F26A2F2-4876-9717-C0A7-09B5AB9576DE}"/>
              </a:ext>
            </a:extLst>
          </p:cNvPr>
          <p:cNvSpPr txBox="1"/>
          <p:nvPr/>
        </p:nvSpPr>
        <p:spPr>
          <a:xfrm>
            <a:off x="10414000" y="6413500"/>
            <a:ext cx="1524000" cy="27699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r"/>
            <a:r>
              <a:rPr kumimoji="1" lang="en-US" altLang="ja-JP" sz="1200" b="1">
                <a:solidFill>
                  <a:srgbClr val="1B4A9C"/>
                </a:solidFill>
                <a:latin typeface="Meiryo UI" panose="020B0604030504040204" pitchFamily="50" charset="-128"/>
              </a:rPr>
              <a:t>PROSTA</a:t>
            </a:r>
            <a:endParaRPr kumimoji="1" lang="ja-JP" altLang="en-US" sz="1200" b="1">
              <a:solidFill>
                <a:srgbClr val="1B4A9C"/>
              </a:solidFill>
              <a:latin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732405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74A7EC4F-B54E-C03E-C0C7-4A074D872D8D}"/>
              </a:ext>
            </a:extLst>
          </p:cNvPr>
          <p:cNvSpPr/>
          <p:nvPr/>
        </p:nvSpPr>
        <p:spPr>
          <a:xfrm>
            <a:off x="0" y="0"/>
            <a:ext cx="12192000" cy="965200"/>
          </a:xfrm>
          <a:prstGeom prst="rect">
            <a:avLst/>
          </a:prstGeom>
          <a:solidFill>
            <a:srgbClr val="0F2A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ADFF174-B27E-43A5-365D-A043E4FEEF36}"/>
              </a:ext>
            </a:extLst>
          </p:cNvPr>
          <p:cNvSpPr/>
          <p:nvPr/>
        </p:nvSpPr>
        <p:spPr>
          <a:xfrm>
            <a:off x="0" y="965200"/>
            <a:ext cx="12192000" cy="63500"/>
          </a:xfrm>
          <a:prstGeom prst="rect">
            <a:avLst/>
          </a:prstGeom>
          <a:solidFill>
            <a:srgbClr val="F5D7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204B629-C2E3-E702-F1C6-735EA64ED354}"/>
              </a:ext>
            </a:extLst>
          </p:cNvPr>
          <p:cNvSpPr txBox="1"/>
          <p:nvPr/>
        </p:nvSpPr>
        <p:spPr>
          <a:xfrm>
            <a:off x="508000" y="177800"/>
            <a:ext cx="8128000" cy="55399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kumimoji="1" lang="ja-JP" altLang="en-US" sz="3000" b="1">
                <a:solidFill>
                  <a:srgbClr val="FFFFFF"/>
                </a:solidFill>
                <a:latin typeface="Meiryo UI" panose="020B0604030504040204" pitchFamily="50" charset="-128"/>
              </a:rPr>
              <a:t>工夫した点・課題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16459DC3-4BC9-88CA-F116-5D70D17E04E8}"/>
              </a:ext>
            </a:extLst>
          </p:cNvPr>
          <p:cNvSpPr/>
          <p:nvPr/>
        </p:nvSpPr>
        <p:spPr>
          <a:xfrm>
            <a:off x="9398000" y="279400"/>
            <a:ext cx="2286000" cy="406400"/>
          </a:xfrm>
          <a:prstGeom prst="roundRect">
            <a:avLst>
              <a:gd name="adj" fmla="val 50000"/>
            </a:avLst>
          </a:prstGeom>
          <a:solidFill>
            <a:srgbClr val="1B4A9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>
                <a:solidFill>
                  <a:srgbClr val="FFFFFF"/>
                </a:solidFill>
                <a:latin typeface="Meiryo UI" panose="020B0604030504040204" pitchFamily="50" charset="-128"/>
              </a:rPr>
              <a:t>まとめ </a:t>
            </a:r>
            <a:r>
              <a:rPr kumimoji="1" lang="en-US" altLang="ja-JP" sz="1400">
                <a:solidFill>
                  <a:srgbClr val="FFFFFF"/>
                </a:solidFill>
                <a:latin typeface="Meiryo UI" panose="020B0604030504040204" pitchFamily="50" charset="-128"/>
              </a:rPr>
              <a:t>1</a:t>
            </a:r>
            <a:r>
              <a:rPr kumimoji="1" lang="ja-JP" altLang="en-US" sz="1400">
                <a:solidFill>
                  <a:srgbClr val="FFFFFF"/>
                </a:solidFill>
                <a:latin typeface="Meiryo UI" panose="020B0604030504040204" pitchFamily="50" charset="-128"/>
              </a:rPr>
              <a:t>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B2BBBE6-9EB6-1CBD-5C24-300EC11CF50F}"/>
              </a:ext>
            </a:extLst>
          </p:cNvPr>
          <p:cNvSpPr txBox="1"/>
          <p:nvPr/>
        </p:nvSpPr>
        <p:spPr>
          <a:xfrm>
            <a:off x="508000" y="1397000"/>
            <a:ext cx="11176000" cy="137473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1400"/>
              </a:spcAft>
            </a:pPr>
            <a:r>
              <a:rPr kumimoji="1" lang="ja-JP" altLang="en-US" sz="2000">
                <a:solidFill>
                  <a:srgbClr val="4A5568"/>
                </a:solidFill>
                <a:latin typeface="Meiryo UI" panose="020B0604030504040204" pitchFamily="50" charset="-128"/>
              </a:rPr>
              <a:t>● 工夫：ゲーム性とデータ分析の両立</a:t>
            </a:r>
          </a:p>
          <a:p>
            <a:pPr>
              <a:spcAft>
                <a:spcPts val="1400"/>
              </a:spcAft>
            </a:pPr>
            <a:r>
              <a:rPr kumimoji="1" lang="ja-JP" altLang="en-US" sz="2000">
                <a:solidFill>
                  <a:srgbClr val="4A5568"/>
                </a:solidFill>
                <a:latin typeface="Meiryo UI" panose="020B0604030504040204" pitchFamily="50" charset="-128"/>
              </a:rPr>
              <a:t>● 課題：</a:t>
            </a:r>
            <a:r>
              <a:rPr kumimoji="1" lang="en-US" altLang="ja-JP" sz="2000">
                <a:solidFill>
                  <a:srgbClr val="4A5568"/>
                </a:solidFill>
                <a:latin typeface="Meiryo UI" panose="020B0604030504040204" pitchFamily="50" charset="-128"/>
              </a:rPr>
              <a:t>DB</a:t>
            </a:r>
            <a:r>
              <a:rPr kumimoji="1" lang="ja-JP" altLang="en-US" sz="2000">
                <a:solidFill>
                  <a:srgbClr val="4A5568"/>
                </a:solidFill>
                <a:latin typeface="Meiryo UI" panose="020B0604030504040204" pitchFamily="50" charset="-128"/>
              </a:rPr>
              <a:t>設計の見直し（ユーザー名の一意制約・パスワードのハッシュ化）</a:t>
            </a:r>
          </a:p>
          <a:p>
            <a:pPr>
              <a:spcAft>
                <a:spcPts val="1400"/>
              </a:spcAft>
            </a:pPr>
            <a:r>
              <a:rPr kumimoji="1" lang="ja-JP" altLang="en-US" sz="2000">
                <a:solidFill>
                  <a:srgbClr val="4A5568"/>
                </a:solidFill>
                <a:latin typeface="Meiryo UI" panose="020B0604030504040204" pitchFamily="50" charset="-128"/>
              </a:rPr>
              <a:t>● 課題：スマホ対応（レスポンシブ）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1567B40-9412-F96E-CFDA-7A2A20F1CD15}"/>
              </a:ext>
            </a:extLst>
          </p:cNvPr>
          <p:cNvSpPr txBox="1"/>
          <p:nvPr/>
        </p:nvSpPr>
        <p:spPr>
          <a:xfrm>
            <a:off x="10414000" y="6413500"/>
            <a:ext cx="1524000" cy="27699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r"/>
            <a:r>
              <a:rPr kumimoji="1" lang="en-US" altLang="ja-JP" sz="1200" b="1">
                <a:solidFill>
                  <a:srgbClr val="1B4A9C"/>
                </a:solidFill>
                <a:latin typeface="Meiryo UI" panose="020B0604030504040204" pitchFamily="50" charset="-128"/>
              </a:rPr>
              <a:t>PROSTA</a:t>
            </a:r>
            <a:endParaRPr kumimoji="1" lang="ja-JP" altLang="en-US" sz="1200" b="1">
              <a:solidFill>
                <a:srgbClr val="1B4A9C"/>
              </a:solidFill>
              <a:latin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095873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楕円 2">
            <a:extLst>
              <a:ext uri="{FF2B5EF4-FFF2-40B4-BE49-F238E27FC236}">
                <a16:creationId xmlns:a16="http://schemas.microsoft.com/office/drawing/2014/main" id="{A040A467-A7D8-D4AD-EBF3-28D0A8C58115}"/>
              </a:ext>
            </a:extLst>
          </p:cNvPr>
          <p:cNvSpPr/>
          <p:nvPr/>
        </p:nvSpPr>
        <p:spPr>
          <a:xfrm>
            <a:off x="9525000" y="2413000"/>
            <a:ext cx="279400" cy="381000"/>
          </a:xfrm>
          <a:prstGeom prst="ellipse">
            <a:avLst/>
          </a:prstGeom>
          <a:solidFill>
            <a:srgbClr val="0F2A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4745F534-CD01-FFC8-8A09-D652CCD76FED}"/>
              </a:ext>
            </a:extLst>
          </p:cNvPr>
          <p:cNvSpPr/>
          <p:nvPr/>
        </p:nvSpPr>
        <p:spPr>
          <a:xfrm>
            <a:off x="10388600" y="2413000"/>
            <a:ext cx="279400" cy="381000"/>
          </a:xfrm>
          <a:prstGeom prst="ellipse">
            <a:avLst/>
          </a:prstGeom>
          <a:solidFill>
            <a:srgbClr val="0F2A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EF292E2-5F89-747E-DCE8-52C27F358BD8}"/>
              </a:ext>
            </a:extLst>
          </p:cNvPr>
          <p:cNvSpPr/>
          <p:nvPr/>
        </p:nvSpPr>
        <p:spPr>
          <a:xfrm>
            <a:off x="9842500" y="3175000"/>
            <a:ext cx="508000" cy="76200"/>
          </a:xfrm>
          <a:prstGeom prst="rect">
            <a:avLst/>
          </a:prstGeom>
          <a:solidFill>
            <a:srgbClr val="0F2A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10FD32F-AB74-23FD-3281-F800E7BE2C5C}"/>
              </a:ext>
            </a:extLst>
          </p:cNvPr>
          <p:cNvSpPr txBox="1"/>
          <p:nvPr/>
        </p:nvSpPr>
        <p:spPr>
          <a:xfrm>
            <a:off x="635000" y="508000"/>
            <a:ext cx="78740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kumimoji="1" lang="ja-JP" altLang="en-US" sz="3200" b="1">
                <a:solidFill>
                  <a:srgbClr val="FFFFFF"/>
                </a:solidFill>
                <a:latin typeface="Meiryo UI" panose="020B0604030504040204" pitchFamily="50" charset="-128"/>
              </a:rPr>
              <a:t>まとめ・今後の展望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AA7BD04-799E-B289-1494-B8A477B42E8C}"/>
              </a:ext>
            </a:extLst>
          </p:cNvPr>
          <p:cNvSpPr txBox="1"/>
          <p:nvPr/>
        </p:nvSpPr>
        <p:spPr>
          <a:xfrm>
            <a:off x="635000" y="1524000"/>
            <a:ext cx="7874000" cy="136447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1000"/>
              </a:spcAft>
            </a:pPr>
            <a:r>
              <a:rPr kumimoji="1" lang="ja-JP" altLang="en-US" sz="2200">
                <a:solidFill>
                  <a:srgbClr val="FFFFFF"/>
                </a:solidFill>
                <a:latin typeface="Meiryo UI" panose="020B0604030504040204" pitchFamily="50" charset="-128"/>
              </a:rPr>
              <a:t>● スマホ対応（ハンバーガーメニュー）</a:t>
            </a:r>
          </a:p>
          <a:p>
            <a:pPr>
              <a:spcAft>
                <a:spcPts val="1000"/>
              </a:spcAft>
            </a:pPr>
            <a:r>
              <a:rPr kumimoji="1" lang="ja-JP" altLang="en-US" sz="2200">
                <a:solidFill>
                  <a:srgbClr val="FFFFFF"/>
                </a:solidFill>
                <a:latin typeface="Meiryo UI" panose="020B0604030504040204" pitchFamily="50" charset="-128"/>
              </a:rPr>
              <a:t>● チャットボットの解説文対応</a:t>
            </a:r>
          </a:p>
          <a:p>
            <a:pPr>
              <a:spcAft>
                <a:spcPts val="1000"/>
              </a:spcAft>
            </a:pPr>
            <a:r>
              <a:rPr kumimoji="1" lang="ja-JP" altLang="en-US" sz="2200">
                <a:solidFill>
                  <a:srgbClr val="FFFFFF"/>
                </a:solidFill>
                <a:latin typeface="Meiryo UI" panose="020B0604030504040204" pitchFamily="50" charset="-128"/>
              </a:rPr>
              <a:t>● 弱点グラフの強化</a:t>
            </a: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35D9A6CE-9CBC-80C7-26BB-A64CE00DEB73}"/>
              </a:ext>
            </a:extLst>
          </p:cNvPr>
          <p:cNvSpPr/>
          <p:nvPr/>
        </p:nvSpPr>
        <p:spPr>
          <a:xfrm>
            <a:off x="635000" y="4064000"/>
            <a:ext cx="7874000" cy="889000"/>
          </a:xfrm>
          <a:prstGeom prst="roundRect">
            <a:avLst/>
          </a:prstGeom>
          <a:solidFill>
            <a:srgbClr val="F5D7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800" b="1">
                <a:solidFill>
                  <a:srgbClr val="0F2A5C"/>
                </a:solidFill>
                <a:latin typeface="Meiryo UI" panose="020B0604030504040204" pitchFamily="50" charset="-128"/>
              </a:rPr>
              <a:t>続けたくなる </a:t>
            </a:r>
            <a:r>
              <a:rPr kumimoji="1" lang="en-US" altLang="ja-JP" sz="2800" b="1">
                <a:solidFill>
                  <a:srgbClr val="0F2A5C"/>
                </a:solidFill>
                <a:latin typeface="Meiryo UI" panose="020B0604030504040204" pitchFamily="50" charset="-128"/>
              </a:rPr>
              <a:t>× </a:t>
            </a:r>
            <a:r>
              <a:rPr kumimoji="1" lang="ja-JP" altLang="en-US" sz="2800" b="1">
                <a:solidFill>
                  <a:srgbClr val="0F2A5C"/>
                </a:solidFill>
                <a:latin typeface="Meiryo UI" panose="020B0604030504040204" pitchFamily="50" charset="-128"/>
              </a:rPr>
              <a:t>弱点が分かる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E36BA57-BCB5-2597-11CA-9B360BC9BABA}"/>
              </a:ext>
            </a:extLst>
          </p:cNvPr>
          <p:cNvSpPr txBox="1"/>
          <p:nvPr/>
        </p:nvSpPr>
        <p:spPr>
          <a:xfrm>
            <a:off x="635000" y="5588000"/>
            <a:ext cx="7874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kumimoji="1" lang="ja-JP" altLang="en-US">
                <a:solidFill>
                  <a:srgbClr val="FFFFFF"/>
                </a:solidFill>
                <a:latin typeface="Meiryo UI" panose="020B0604030504040204" pitchFamily="50" charset="-128"/>
              </a:rPr>
              <a:t>ご清聴ありがとうございました</a:t>
            </a:r>
          </a:p>
        </p:txBody>
      </p:sp>
    </p:spTree>
    <p:extLst>
      <p:ext uri="{BB962C8B-B14F-4D97-AF65-F5344CB8AC3E}">
        <p14:creationId xmlns:p14="http://schemas.microsoft.com/office/powerpoint/2010/main" val="21562608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644</Words>
  <Application>Microsoft Office PowerPoint</Application>
  <PresentationFormat>ワイド画面</PresentationFormat>
  <Paragraphs>113</Paragraphs>
  <Slides>10</Slides>
  <Notes>10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5" baseType="lpstr">
      <vt:lpstr>Meiryo UI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大塚　徹真</dc:creator>
  <cp:lastModifiedBy>大塚　徹真</cp:lastModifiedBy>
  <cp:revision>2</cp:revision>
  <dcterms:created xsi:type="dcterms:W3CDTF">2026-10-21T22:50:06Z</dcterms:created>
  <dcterms:modified xsi:type="dcterms:W3CDTF">2026-10-21T22:54:23Z</dcterms:modified>
</cp:coreProperties>
</file>