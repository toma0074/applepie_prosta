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7918-9365-47AF-A037-5698E941ABBB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6D0BF-0984-4B8C-BD90-347F725857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41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【20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0:20】</a:t>
            </a:r>
          </a:p>
          <a:p>
            <a:endParaRPr kumimoji="1" lang="en-US" altLang="ja-JP"/>
          </a:p>
          <a:p>
            <a:r>
              <a:rPr kumimoji="1" lang="en-US" altLang="ja-JP"/>
              <a:t>PROSTA</a:t>
            </a:r>
            <a:r>
              <a:rPr kumimoji="1" lang="ja-JP" altLang="en-US"/>
              <a:t>は、プログラミングや</a:t>
            </a:r>
            <a:r>
              <a:rPr kumimoji="1" lang="en-US" altLang="ja-JP"/>
              <a:t>IT</a:t>
            </a:r>
            <a:r>
              <a:rPr kumimoji="1" lang="ja-JP" altLang="en-US"/>
              <a:t>資格の学習を続けるための</a:t>
            </a:r>
            <a:r>
              <a:rPr kumimoji="1" lang="en-US" altLang="ja-JP"/>
              <a:t>Web</a:t>
            </a:r>
            <a:r>
              <a:rPr kumimoji="1" lang="ja-JP" altLang="en-US"/>
              <a:t>アプリです。</a:t>
            </a:r>
          </a:p>
          <a:p>
            <a:endParaRPr kumimoji="1" lang="ja-JP" altLang="en-US"/>
          </a:p>
          <a:p>
            <a:r>
              <a:rPr kumimoji="1" lang="ja-JP" altLang="en-US"/>
              <a:t>キャッチコピーは「解いて終わらない。次の学習につながる。」です。</a:t>
            </a:r>
          </a:p>
          <a:p>
            <a:endParaRPr kumimoji="1" lang="ja-JP" altLang="en-US"/>
          </a:p>
          <a:p>
            <a:r>
              <a:rPr kumimoji="1" lang="ja-JP" altLang="en-US"/>
              <a:t>今日は、困りごとと解決策、デモ動画、そして技術面での挑戦と試行錯誤の順にお話しします。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068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【40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1:00】</a:t>
            </a:r>
          </a:p>
          <a:p>
            <a:endParaRPr kumimoji="1" lang="en-US" altLang="ja-JP"/>
          </a:p>
          <a:p>
            <a:r>
              <a:rPr kumimoji="1" lang="ja-JP" altLang="en-US"/>
              <a:t>対象は、プログラミングや</a:t>
            </a:r>
            <a:r>
              <a:rPr kumimoji="1" lang="en-US" altLang="ja-JP"/>
              <a:t>IT</a:t>
            </a:r>
            <a:r>
              <a:rPr kumimoji="1" lang="ja-JP" altLang="en-US"/>
              <a:t>資格を学び始めた人です。例えば、研修中の新人や学生です。</a:t>
            </a:r>
          </a:p>
          <a:p>
            <a:endParaRPr kumimoji="1" lang="ja-JP" altLang="en-US"/>
          </a:p>
          <a:p>
            <a:r>
              <a:rPr kumimoji="1" lang="ja-JP" altLang="en-US"/>
              <a:t>問題集や</a:t>
            </a:r>
            <a:r>
              <a:rPr kumimoji="1" lang="en-US" altLang="ja-JP"/>
              <a:t>Web</a:t>
            </a:r>
            <a:r>
              <a:rPr kumimoji="1" lang="ja-JP" altLang="en-US"/>
              <a:t>サイトなど、問題を解く場所はたくさんあります。困るのは、解いたその後です。</a:t>
            </a:r>
          </a:p>
          <a:p>
            <a:endParaRPr kumimoji="1" lang="ja-JP" altLang="en-US"/>
          </a:p>
          <a:p>
            <a:r>
              <a:rPr kumimoji="1" lang="ja-JP" altLang="en-US"/>
              <a:t>一つ目は、何が苦手か分からないこと。</a:t>
            </a:r>
          </a:p>
          <a:p>
            <a:endParaRPr kumimoji="1" lang="ja-JP" altLang="en-US"/>
          </a:p>
          <a:p>
            <a:r>
              <a:rPr kumimoji="1" lang="ja-JP" altLang="en-US"/>
              <a:t>二つ目は、復習する問題を自分で探して管理するのが手間なこと。</a:t>
            </a:r>
          </a:p>
          <a:p>
            <a:endParaRPr kumimoji="1" lang="ja-JP" altLang="en-US"/>
          </a:p>
          <a:p>
            <a:r>
              <a:rPr kumimoji="1" lang="ja-JP" altLang="en-US"/>
              <a:t>三つ目は、一人だと積み重ねが見えず、続かないことです。</a:t>
            </a:r>
          </a:p>
          <a:p>
            <a:endParaRPr kumimoji="1" lang="ja-JP" altLang="en-US"/>
          </a:p>
          <a:p>
            <a:r>
              <a:rPr kumimoji="1" lang="ja-JP" altLang="en-US"/>
              <a:t>つまり、解いた結果が次の行動につながらないことが、本当の困りごとだと考えました。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986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【45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1:45】</a:t>
            </a:r>
          </a:p>
          <a:p>
            <a:endParaRPr kumimoji="1" lang="en-US" altLang="ja-JP"/>
          </a:p>
          <a:p>
            <a:r>
              <a:rPr kumimoji="1" lang="ja-JP" altLang="en-US"/>
              <a:t>そこで</a:t>
            </a:r>
            <a:r>
              <a:rPr kumimoji="1" lang="en-US" altLang="ja-JP"/>
              <a:t>PROSTA</a:t>
            </a:r>
            <a:r>
              <a:rPr kumimoji="1" lang="ja-JP" altLang="en-US"/>
              <a:t>は、解く、知る、やり直す、続ける、の流れを一つのアプリにまとめました。</a:t>
            </a:r>
          </a:p>
          <a:p>
            <a:endParaRPr kumimoji="1" lang="ja-JP" altLang="en-US"/>
          </a:p>
          <a:p>
            <a:r>
              <a:rPr kumimoji="1" lang="ja-JP" altLang="en-US"/>
              <a:t>カテゴリや難易度を選んで解き、解答するとすぐに正誤と解説、分野別の正答率が分かります。</a:t>
            </a:r>
          </a:p>
          <a:p>
            <a:endParaRPr kumimoji="1" lang="ja-JP" altLang="en-US"/>
          </a:p>
          <a:p>
            <a:r>
              <a:rPr kumimoji="1" lang="ja-JP" altLang="en-US"/>
              <a:t>復習モードでは間違えた問題を自動で出題し、「弱点から出題」では正答率の低い問題を集めて出題するので、自分で探す必要がありません。</a:t>
            </a:r>
          </a:p>
          <a:p>
            <a:endParaRPr kumimoji="1" lang="ja-JP" altLang="en-US"/>
          </a:p>
          <a:p>
            <a:r>
              <a:rPr kumimoji="1" lang="ja-JP" altLang="en-US"/>
              <a:t>さらに、</a:t>
            </a:r>
            <a:r>
              <a:rPr kumimoji="1" lang="en-US" altLang="ja-JP"/>
              <a:t>EXP</a:t>
            </a:r>
            <a:r>
              <a:rPr kumimoji="1" lang="ja-JP" altLang="en-US"/>
              <a:t>やレベル、学習カレンダー、仲間の活動で、積み重ねが見えるようにしました。</a:t>
            </a:r>
          </a:p>
          <a:p>
            <a:endParaRPr kumimoji="1" lang="ja-JP" altLang="en-US"/>
          </a:p>
          <a:p>
            <a:r>
              <a:rPr kumimoji="1" lang="ja-JP" altLang="en-US"/>
              <a:t>ブラウザーだけで</a:t>
            </a:r>
            <a:r>
              <a:rPr kumimoji="1" lang="en-US" altLang="ja-JP"/>
              <a:t>PC</a:t>
            </a:r>
            <a:r>
              <a:rPr kumimoji="1" lang="ja-JP" altLang="en-US"/>
              <a:t>でもスマホでも使え、管理者が問題を追加できるので、実際の学習の場で使える形にしています。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134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【40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2:25】</a:t>
            </a:r>
          </a:p>
          <a:p>
            <a:endParaRPr kumimoji="1" lang="en-US" altLang="ja-JP"/>
          </a:p>
          <a:p>
            <a:r>
              <a:rPr kumimoji="1" lang="ja-JP" altLang="en-US"/>
              <a:t>学習を続けたくなる仕掛けとして、育てる、達成する、競う、の三つを入れました。</a:t>
            </a:r>
          </a:p>
          <a:p>
            <a:endParaRPr kumimoji="1" lang="ja-JP" altLang="en-US"/>
          </a:p>
          <a:p>
            <a:r>
              <a:rPr kumimoji="1" lang="ja-JP" altLang="en-US"/>
              <a:t>正解すると</a:t>
            </a:r>
            <a:r>
              <a:rPr kumimoji="1" lang="en-US" altLang="ja-JP"/>
              <a:t>EXP</a:t>
            </a:r>
            <a:r>
              <a:rPr kumimoji="1" lang="ja-JP" altLang="en-US"/>
              <a:t>がたまり、相棒キャラクターのスタが卵から成長していきます。結果に合わせて表情や一言も変わります。</a:t>
            </a:r>
          </a:p>
          <a:p>
            <a:endParaRPr kumimoji="1" lang="ja-JP" altLang="en-US"/>
          </a:p>
          <a:p>
            <a:r>
              <a:rPr kumimoji="1" lang="ja-JP" altLang="en-US"/>
              <a:t>毎日のクエストと、積み重ねで解除される実績で、小さな達成感をつくります。</a:t>
            </a:r>
          </a:p>
          <a:p>
            <a:endParaRPr kumimoji="1" lang="ja-JP" altLang="en-US"/>
          </a:p>
          <a:p>
            <a:r>
              <a:rPr kumimoji="1" lang="ja-JP" altLang="en-US"/>
              <a:t>さらに、フレンドの学習の様子や、期間や分野をそろえた友達ランキングで、仲間と刺激し合えます。</a:t>
            </a:r>
          </a:p>
          <a:p>
            <a:endParaRPr kumimoji="1" lang="ja-JP" altLang="en-US"/>
          </a:p>
          <a:p>
            <a:r>
              <a:rPr kumimoji="1" lang="ja-JP" altLang="en-US"/>
              <a:t>今後は、全ユーザーのランキングやフレンド対戦へ広げたいと考えています。これらはまだ構想段階です。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33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【20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2:45】</a:t>
            </a:r>
          </a:p>
          <a:p>
            <a:endParaRPr kumimoji="1" lang="en-US" altLang="ja-JP"/>
          </a:p>
          <a:p>
            <a:r>
              <a:rPr kumimoji="1" lang="ja-JP" altLang="en-US"/>
              <a:t>では、実際に動いている画面を、約</a:t>
            </a:r>
            <a:r>
              <a:rPr kumimoji="1" lang="en-US" altLang="ja-JP"/>
              <a:t>3</a:t>
            </a:r>
            <a:r>
              <a:rPr kumimoji="1" lang="ja-JP" altLang="en-US"/>
              <a:t>分</a:t>
            </a:r>
            <a:r>
              <a:rPr kumimoji="1" lang="en-US" altLang="ja-JP"/>
              <a:t>40</a:t>
            </a:r>
            <a:r>
              <a:rPr kumimoji="1" lang="ja-JP" altLang="en-US"/>
              <a:t>秒の動画でご覧ください。</a:t>
            </a:r>
          </a:p>
          <a:p>
            <a:endParaRPr kumimoji="1" lang="ja-JP" altLang="en-US"/>
          </a:p>
          <a:p>
            <a:r>
              <a:rPr kumimoji="1" lang="ja-JP" altLang="en-US"/>
              <a:t>注目していただきたいのは三つです。解答結果が復習につながること、積み重ねが成長として見えること、そして予定と仲間が次の学習を後押しすることです。</a:t>
            </a:r>
          </a:p>
          <a:p>
            <a:endParaRPr kumimoji="1" lang="ja-JP" altLang="en-US"/>
          </a:p>
          <a:p>
            <a:r>
              <a:rPr kumimoji="1" lang="ja-JP" altLang="en-US"/>
              <a:t>（クリックで次のスライドへ → 動画が全画面で自動再生）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580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動画 約</a:t>
            </a:r>
            <a:r>
              <a:rPr kumimoji="1" lang="en-US" altLang="ja-JP"/>
              <a:t>3</a:t>
            </a:r>
            <a:r>
              <a:rPr kumimoji="1" lang="ja-JP" altLang="en-US"/>
              <a:t>分</a:t>
            </a:r>
            <a:r>
              <a:rPr kumimoji="1" lang="en-US" altLang="ja-JP"/>
              <a:t>43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6:28】</a:t>
            </a:r>
          </a:p>
          <a:p>
            <a:endParaRPr kumimoji="1" lang="en-US" altLang="ja-JP"/>
          </a:p>
          <a:p>
            <a:r>
              <a:rPr kumimoji="1" lang="ja-JP" altLang="en-US"/>
              <a:t>（動画再生中は話さない。クリックすると動画が止まって次へ進むので触らない）</a:t>
            </a:r>
          </a:p>
          <a:p>
            <a:endParaRPr kumimoji="1" lang="ja-JP" altLang="en-US"/>
          </a:p>
          <a:p>
            <a:r>
              <a:rPr kumimoji="1" lang="ja-JP" altLang="en-US"/>
              <a:t>（動画が終わると自動で次のスライドへ進む）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930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【50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7:18】</a:t>
            </a:r>
          </a:p>
          <a:p>
            <a:endParaRPr kumimoji="1" lang="en-US" altLang="ja-JP"/>
          </a:p>
          <a:p>
            <a:r>
              <a:rPr kumimoji="1" lang="ja-JP" altLang="en-US"/>
              <a:t>技術面で挑戦したのは、アプリの中とインフラの両方です。</a:t>
            </a:r>
          </a:p>
          <a:p>
            <a:endParaRPr kumimoji="1" lang="ja-JP" altLang="en-US"/>
          </a:p>
          <a:p>
            <a:r>
              <a:rPr kumimoji="1" lang="ja-JP" altLang="en-US"/>
              <a:t>インフラは、</a:t>
            </a:r>
            <a:r>
              <a:rPr kumimoji="1" lang="en-US" altLang="ja-JP"/>
              <a:t>OCI</a:t>
            </a:r>
            <a:r>
              <a:rPr kumimoji="1" lang="ja-JP" altLang="en-US"/>
              <a:t>のロードバランサーで</a:t>
            </a:r>
            <a:r>
              <a:rPr kumimoji="1" lang="en-US" altLang="ja-JP"/>
              <a:t>HTTPS</a:t>
            </a:r>
            <a:r>
              <a:rPr kumimoji="1" lang="ja-JP" altLang="en-US"/>
              <a:t>を受け、</a:t>
            </a:r>
            <a:r>
              <a:rPr kumimoji="1" lang="en-US" altLang="ja-JP"/>
              <a:t>VM</a:t>
            </a:r>
            <a:r>
              <a:rPr kumimoji="1" lang="ja-JP" altLang="en-US"/>
              <a:t>上の</a:t>
            </a:r>
            <a:r>
              <a:rPr kumimoji="1" lang="en-US" altLang="ja-JP"/>
              <a:t>Tomcat</a:t>
            </a:r>
            <a:r>
              <a:rPr kumimoji="1" lang="ja-JP" altLang="en-US"/>
              <a:t>と</a:t>
            </a:r>
            <a:r>
              <a:rPr kumimoji="1" lang="en-US" altLang="ja-JP"/>
              <a:t>Oracle</a:t>
            </a:r>
            <a:r>
              <a:rPr kumimoji="1" lang="ja-JP" altLang="en-US"/>
              <a:t>データベースにつなぐ構成を、初めて自分たちで組みました。</a:t>
            </a:r>
          </a:p>
          <a:p>
            <a:endParaRPr kumimoji="1" lang="ja-JP" altLang="en-US"/>
          </a:p>
          <a:p>
            <a:r>
              <a:rPr kumimoji="1" lang="ja-JP" altLang="en-US"/>
              <a:t>アプリでは三つの工夫をしました。</a:t>
            </a:r>
          </a:p>
          <a:p>
            <a:endParaRPr kumimoji="1" lang="ja-JP" altLang="en-US"/>
          </a:p>
          <a:p>
            <a:r>
              <a:rPr kumimoji="1" lang="ja-JP" altLang="en-US"/>
              <a:t>一つ目は、採点から</a:t>
            </a:r>
            <a:r>
              <a:rPr kumimoji="1" lang="en-US" altLang="ja-JP"/>
              <a:t>EXP</a:t>
            </a:r>
            <a:r>
              <a:rPr kumimoji="1" lang="ja-JP" altLang="en-US"/>
              <a:t>、実績までを一つのトランザクションでまとめて保存し、途中で失敗しても中途半端なデータが残らないようにしたことです。</a:t>
            </a:r>
          </a:p>
          <a:p>
            <a:endParaRPr kumimoji="1" lang="ja-JP" altLang="en-US"/>
          </a:p>
          <a:p>
            <a:r>
              <a:rPr kumimoji="1" lang="ja-JP" altLang="en-US"/>
              <a:t>二つ目は、ブラウザーのタブごとに学習状態を分け、複数のタブで演習しても混ざらないようにしたことです。</a:t>
            </a:r>
          </a:p>
          <a:p>
            <a:endParaRPr kumimoji="1" lang="ja-JP" altLang="en-US"/>
          </a:p>
          <a:p>
            <a:r>
              <a:rPr kumimoji="1" lang="ja-JP" altLang="en-US"/>
              <a:t>三つ目は、同じアカウントで同時にログインされたとき、最後のログインだけを有効にして、データの食い違いを防ぐ仕組みです。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517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【60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8:18】</a:t>
            </a:r>
          </a:p>
          <a:p>
            <a:endParaRPr kumimoji="1" lang="en-US" altLang="ja-JP"/>
          </a:p>
          <a:p>
            <a:r>
              <a:rPr kumimoji="1" lang="ja-JP" altLang="en-US"/>
              <a:t>試行錯誤した例を三つ紹介します。</a:t>
            </a:r>
          </a:p>
          <a:p>
            <a:endParaRPr kumimoji="1" lang="ja-JP" altLang="en-US"/>
          </a:p>
          <a:p>
            <a:r>
              <a:rPr kumimoji="1" lang="ja-JP" altLang="en-US"/>
              <a:t>一つ目は、本来は</a:t>
            </a:r>
            <a:r>
              <a:rPr kumimoji="1" lang="en-US" altLang="ja-JP"/>
              <a:t>404</a:t>
            </a:r>
            <a:r>
              <a:rPr kumimoji="1" lang="ja-JP" altLang="en-US"/>
              <a:t>などで返すべきエラーが、</a:t>
            </a:r>
            <a:r>
              <a:rPr kumimoji="1" lang="en-US" altLang="ja-JP"/>
              <a:t>500</a:t>
            </a:r>
            <a:r>
              <a:rPr kumimoji="1" lang="ja-JP" altLang="en-US"/>
              <a:t>エラーになってしまう問題です。テストを増やしたところ、</a:t>
            </a:r>
            <a:r>
              <a:rPr kumimoji="1" lang="en-US" altLang="ja-JP"/>
              <a:t>40</a:t>
            </a:r>
            <a:r>
              <a:rPr kumimoji="1" lang="ja-JP" altLang="en-US"/>
              <a:t>件見つかりました。原因はエラー時のトランザクションの取り消しが不十分だったことで、外側でも明示的に取り消すように直し、テストで確認しました。</a:t>
            </a:r>
          </a:p>
          <a:p>
            <a:endParaRPr kumimoji="1" lang="ja-JP" altLang="en-US"/>
          </a:p>
          <a:p>
            <a:r>
              <a:rPr kumimoji="1" lang="ja-JP" altLang="en-US"/>
              <a:t>二つ目は、再読み込みによる二重採点です。採点の</a:t>
            </a:r>
            <a:r>
              <a:rPr kumimoji="1" lang="en-US" altLang="ja-JP"/>
              <a:t>POST</a:t>
            </a:r>
            <a:r>
              <a:rPr kumimoji="1" lang="ja-JP" altLang="en-US"/>
              <a:t>がブラウザーから再送されるのが原因で、採点後は</a:t>
            </a:r>
            <a:r>
              <a:rPr kumimoji="1" lang="en-US" altLang="ja-JP"/>
              <a:t>GET</a:t>
            </a:r>
            <a:r>
              <a:rPr kumimoji="1" lang="ja-JP" altLang="en-US"/>
              <a:t>の画面へ移動させ、同じタブの処理は順番に実行するようにしました。</a:t>
            </a:r>
          </a:p>
          <a:p>
            <a:endParaRPr kumimoji="1" lang="ja-JP" altLang="en-US"/>
          </a:p>
          <a:p>
            <a:r>
              <a:rPr kumimoji="1" lang="ja-JP" altLang="en-US"/>
              <a:t>三つ目は、本番公開での</a:t>
            </a:r>
            <a:r>
              <a:rPr kumimoji="1" lang="en-US" altLang="ja-JP"/>
              <a:t>HTTPS</a:t>
            </a:r>
            <a:r>
              <a:rPr kumimoji="1" lang="ja-JP" altLang="en-US"/>
              <a:t>です。</a:t>
            </a:r>
            <a:r>
              <a:rPr kumimoji="1" lang="en-US" altLang="ja-JP"/>
              <a:t>502</a:t>
            </a:r>
            <a:r>
              <a:rPr kumimoji="1" lang="ja-JP" altLang="en-US"/>
              <a:t>エラーやリダイレクトの繰り返しが起きました。ロードバランサーと</a:t>
            </a:r>
            <a:r>
              <a:rPr kumimoji="1" lang="en-US" altLang="ja-JP"/>
              <a:t>VM</a:t>
            </a:r>
            <a:r>
              <a:rPr kumimoji="1" lang="ja-JP" altLang="en-US"/>
              <a:t>の両方で暗号化や転送をしていたのが原因で、暗号化をロードバランサーに集約し、</a:t>
            </a:r>
            <a:r>
              <a:rPr kumimoji="1" lang="en-US" altLang="ja-JP"/>
              <a:t>VM</a:t>
            </a:r>
            <a:r>
              <a:rPr kumimoji="1" lang="ja-JP" altLang="en-US"/>
              <a:t>は</a:t>
            </a:r>
            <a:r>
              <a:rPr kumimoji="1" lang="en-US" altLang="ja-JP"/>
              <a:t>HTTP</a:t>
            </a:r>
            <a:r>
              <a:rPr kumimoji="1" lang="ja-JP" altLang="en-US"/>
              <a:t>に統一して整理しました。</a:t>
            </a:r>
          </a:p>
          <a:p>
            <a:endParaRPr kumimoji="1" lang="ja-JP" altLang="en-US"/>
          </a:p>
          <a:p>
            <a:r>
              <a:rPr kumimoji="1" lang="en-US" altLang="ja-JP"/>
              <a:t>※</a:t>
            </a:r>
            <a:r>
              <a:rPr kumimoji="1" lang="ja-JP" altLang="en-US"/>
              <a:t>発表前に本番</a:t>
            </a:r>
            <a:r>
              <a:rPr kumimoji="1" lang="en-US" altLang="ja-JP"/>
              <a:t>HTTPS</a:t>
            </a:r>
            <a:r>
              <a:rPr kumimoji="1" lang="ja-JP" altLang="en-US"/>
              <a:t>の動作を確認し、未解決なら「現在対応中」と言い換えること。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528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8:48】</a:t>
            </a:r>
          </a:p>
          <a:p>
            <a:endParaRPr kumimoji="1" lang="en-US" altLang="ja-JP"/>
          </a:p>
          <a:p>
            <a:r>
              <a:rPr kumimoji="1" lang="ja-JP" altLang="en-US"/>
              <a:t>この開発で学んだことは三つです。</a:t>
            </a:r>
          </a:p>
          <a:p>
            <a:endParaRPr kumimoji="1" lang="ja-JP" altLang="en-US"/>
          </a:p>
          <a:p>
            <a:r>
              <a:rPr kumimoji="1" lang="ja-JP" altLang="en-US"/>
              <a:t>正常な流れだけでなく、失敗したときまで設計すること。</a:t>
            </a:r>
          </a:p>
          <a:p>
            <a:endParaRPr kumimoji="1" lang="ja-JP" altLang="en-US"/>
          </a:p>
          <a:p>
            <a:r>
              <a:rPr kumimoji="1" lang="ja-JP" altLang="en-US"/>
              <a:t>テストが不具合を先に見つけてくれること。</a:t>
            </a:r>
          </a:p>
          <a:p>
            <a:endParaRPr kumimoji="1" lang="ja-JP" altLang="en-US"/>
          </a:p>
          <a:p>
            <a:r>
              <a:rPr kumimoji="1" lang="ja-JP" altLang="en-US"/>
              <a:t>そして、アプリとインフラを分けて考えることで、原因を切り分けやすくなることです。</a:t>
            </a:r>
          </a:p>
          <a:p>
            <a:endParaRPr kumimoji="1" lang="ja-JP" altLang="en-US"/>
          </a:p>
          <a:p>
            <a:r>
              <a:rPr kumimoji="1" lang="ja-JP" altLang="en-US"/>
              <a:t>解いて終わらない、次の学習につながる。</a:t>
            </a:r>
            <a:r>
              <a:rPr kumimoji="1" lang="en-US" altLang="ja-JP"/>
              <a:t>PROSTA</a:t>
            </a:r>
            <a:r>
              <a:rPr kumimoji="1" lang="ja-JP" altLang="en-US"/>
              <a:t>の紹介でした。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906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E5ED-130F-45BB-A1CB-140C70F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7AA4A5F-0614-E007-AFE0-1FEB88430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3EE4D50-ABCF-AC77-3182-BE7B61E16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【5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8:53】</a:t>
            </a:r>
          </a:p>
          <a:p>
            <a:endParaRPr kumimoji="1" lang="en-US" altLang="ja-JP"/>
          </a:p>
          <a:p>
            <a:r>
              <a:rPr kumimoji="1" lang="ja-JP" altLang="en-US"/>
              <a:t>ご清聴ありがとうございました。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402A7B-8299-0837-309A-628A0EFAC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6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AC180-E2B6-925F-E1AD-CC05403B9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BE52DF-7540-FE36-F85D-29AB343B8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7D4FDA-3AB3-8A78-E091-B1C7D515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7519A8-4509-7295-49F3-F4949F5A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3B62F9-E870-9D23-0151-1BA37EB2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27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7B4A1-B90B-8704-BE43-3999F4B1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C5DB32-9411-E55F-36EF-27D8FEC57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DFC2F-B736-0220-4432-C1F7117A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6E5D62-0958-E894-4205-320578B3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9DFE87-EDBF-90F6-BBF5-D53104EA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25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3FC352-3C9F-1405-2D8B-72CF2135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1B4DB3-10BA-AB92-D350-2ED3DA53A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62CE07-0428-2447-4974-2A12D9EF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356C79-E367-5DC0-B3AC-BFD714EE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94B6AA-EA4E-2219-C19E-527892AD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06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2BA93-5F82-BE8E-014A-CCAA3A68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BC4351-41B9-E0A4-19A1-96DF0D67C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AABD93-88D2-70AD-9EF3-0A78B9AB2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436D48-7FE3-BC43-7F7F-728768F3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C96E05-E053-D527-295E-5E27599C0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3AB237-EBA6-7BFD-5EAF-B7A5C0D8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342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B022C-855F-DE7C-7814-3644B754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AC40F3-20DE-FC11-00B4-4643C8BE9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5B0DD4-1CB2-28FB-855E-7320DCA98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360E0F-29C8-0FCB-3735-39F2B6BB1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724621-14DD-42AB-BECD-E850057D8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78F2DE6-E73D-131B-A58B-BD60027D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30880E-1676-8402-5B3B-9556E302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033EB3-63B3-DF35-6BD9-981EB6D1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37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026CA-5B3D-ECE5-76BF-A424560F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BC23F0-C48F-9B3E-F376-861E2BC1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6596B8-9D8D-4A13-3305-B09A6A37C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038A62-690B-2109-4CF7-6112CAB9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68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355BF59-E12C-792B-0B24-E29B3E91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DB20D-3A3B-7651-DC72-D411414B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698E5D-95D2-CD0A-8036-0BD66A44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106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7E686-D5C6-5565-F6B6-7E818159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1C8E8A-81BA-5B4D-7BC8-1F9BA01A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FAEA1-7A57-6405-77AC-2867C7619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EE55B6-1E54-3101-35AC-40909545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D201B-149A-ADB8-2EB0-2B1DA207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E8A95D-FCD1-EBA3-4987-D0F0AB1A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29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E8468-924A-7C15-BA42-39FCF754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0EF428-C8FB-5B9C-3D3F-38DF41504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7C2C8B-33CB-23D0-42C2-2D738E4D2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4FB59F-8EBF-BE0D-22B0-39FDA5B9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20541D-8A82-7042-549F-3B4C013B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A39E6F-A8E0-7143-68FA-7BC7830E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55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DEBD5-DF03-B554-A0DC-771D2791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3D2CF3-8D73-E46A-9FB6-15E852246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AFB878-7FC6-D5B7-8F1E-3EA101AC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D615FD-7CB1-57E9-B287-2B48FCA5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7E4FD1-7AB2-9BD7-43C5-B9FD6877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21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B889B0F-2581-2568-7122-D423D70B1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00E249-94CB-B3FE-1D05-08CA562EC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2E650-057A-434A-8A70-5F60C946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0AF59C-E66F-7545-9139-3015BF91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9F98B1-C07B-32AD-66D3-9A9E463A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920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09FFE1-E601-8352-32DF-FD744478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703BDB-6780-9DD1-0AD4-7FC34CAC6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E3ED93-FF3B-0774-0C59-8070D778B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ABC01-203E-49B5-BD91-4AB877B1DF76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DF5023-0336-25A1-C689-62DBE2E3D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AF39BD-D0A1-3C7E-DA0A-B13C580B2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76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4B94499-8E43-475E-1A89-67A2EFDA3E2F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9E77A4-5647-BB10-E941-B2E07183ADB4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 / INTRODUCTION</a:t>
            </a:r>
            <a:endParaRPr kumimoji="1" lang="ja-JP" altLang="en-US" sz="20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09B266-CE1B-EE79-B344-81CD2ABF69D4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kumimoji="1" lang="ja-JP" altLang="en-US" sz="2800" b="1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E39E4C-4EB8-2CEF-F124-57BB28D5DFB7}"/>
              </a:ext>
            </a:extLst>
          </p:cNvPr>
          <p:cNvSpPr txBox="1"/>
          <p:nvPr/>
        </p:nvSpPr>
        <p:spPr>
          <a:xfrm>
            <a:off x="609600" y="1333499"/>
            <a:ext cx="8128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72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</a:t>
            </a:r>
            <a:endParaRPr kumimoji="1" lang="ja-JP" altLang="en-US" sz="7200" b="1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57BC7B-79CC-849A-223E-86FF190C14B7}"/>
              </a:ext>
            </a:extLst>
          </p:cNvPr>
          <p:cNvSpPr txBox="1"/>
          <p:nvPr/>
        </p:nvSpPr>
        <p:spPr>
          <a:xfrm>
            <a:off x="609600" y="2603499"/>
            <a:ext cx="8128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
次の学習につながる。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3B9045-478F-196D-2907-6157977ECBE5}"/>
              </a:ext>
            </a:extLst>
          </p:cNvPr>
          <p:cNvSpPr txBox="1"/>
          <p:nvPr/>
        </p:nvSpPr>
        <p:spPr>
          <a:xfrm>
            <a:off x="609600" y="4127499"/>
            <a:ext cx="8128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プログラミング・</a:t>
            </a:r>
            <a:r>
              <a:rPr kumimoji="1" lang="en-US" altLang="ja-JP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IT</a:t>
            </a:r>
            <a:r>
              <a:rPr kumimoji="1" lang="ja-JP" altLang="en-US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資格の学習を続けるための</a:t>
            </a:r>
            <a:r>
              <a:rPr kumimoji="1" lang="en-US" altLang="ja-JP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Web</a:t>
            </a:r>
            <a:r>
              <a:rPr kumimoji="1" lang="ja-JP" altLang="en-US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アプリ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A458F6B-719F-4526-0192-055BA6750438}"/>
              </a:ext>
            </a:extLst>
          </p:cNvPr>
          <p:cNvSpPr/>
          <p:nvPr/>
        </p:nvSpPr>
        <p:spPr>
          <a:xfrm>
            <a:off x="609600" y="5181600"/>
            <a:ext cx="8128000" cy="78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9FDD508-CB18-DD8F-DFCA-10AC21D8EC55}"/>
              </a:ext>
            </a:extLst>
          </p:cNvPr>
          <p:cNvSpPr txBox="1"/>
          <p:nvPr/>
        </p:nvSpPr>
        <p:spPr>
          <a:xfrm>
            <a:off x="736600" y="5334000"/>
            <a:ext cx="7874000" cy="25762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ja-JP" sz="2800" b="1" dirty="0" err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Appalepie</a:t>
            </a:r>
            <a:r>
              <a:rPr lang="en-US" altLang="ja-JP" sz="28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lang="ja-JP" altLang="en-US" sz="28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大塚・徐・小林・八木・小嶋・橋爪</a:t>
            </a:r>
            <a:endParaRPr kumimoji="1" lang="ja-JP" altLang="en-US" sz="28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2E884D5-8D0F-463B-FFFC-BA4E4294D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0" y="1397000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7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EC153EB-9977-5294-7D39-55A8C417225B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F81FE6-22AD-D99C-EB41-8CCD684BA0D2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 / PROBLEM</a:t>
            </a:r>
            <a:endParaRPr kumimoji="1" lang="ja-JP" altLang="en-US" sz="20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94F006-7E4F-0E9D-5F17-E5BD0A05480C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誰の、どんな困りごとか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7F029F9-1D0A-785A-808F-3116041DB4D8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困りごと解決｜課題解決価値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88D8AAA-2A70-91DC-46C5-15B0A5D763F8}"/>
              </a:ext>
            </a:extLst>
          </p:cNvPr>
          <p:cNvSpPr/>
          <p:nvPr/>
        </p:nvSpPr>
        <p:spPr>
          <a:xfrm>
            <a:off x="482600" y="1778000"/>
            <a:ext cx="3937000" cy="38100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5ECF5F-F315-AB36-B8B2-0295D44C440E}"/>
              </a:ext>
            </a:extLst>
          </p:cNvPr>
          <p:cNvSpPr txBox="1"/>
          <p:nvPr/>
        </p:nvSpPr>
        <p:spPr>
          <a:xfrm>
            <a:off x="685800" y="2040751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対象ユーザー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3D0298-A42A-02BF-01FD-B120DBE5D2D8}"/>
              </a:ext>
            </a:extLst>
          </p:cNvPr>
          <p:cNvSpPr txBox="1"/>
          <p:nvPr/>
        </p:nvSpPr>
        <p:spPr>
          <a:xfrm>
            <a:off x="685799" y="2413000"/>
            <a:ext cx="3683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プログラミング・</a:t>
            </a:r>
          </a:p>
          <a:p>
            <a:r>
              <a:rPr kumimoji="1" lang="en-US" altLang="ja-JP" sz="24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IT</a:t>
            </a:r>
            <a:r>
              <a:rPr kumimoji="1" lang="ja-JP" altLang="en-US" sz="24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資格を学び始めた人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6D3481A-AA11-A671-7EA8-B577973C0C58}"/>
              </a:ext>
            </a:extLst>
          </p:cNvPr>
          <p:cNvSpPr txBox="1"/>
          <p:nvPr/>
        </p:nvSpPr>
        <p:spPr>
          <a:xfrm>
            <a:off x="685800" y="3403599"/>
            <a:ext cx="3683000" cy="215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 dirty="0">
                <a:latin typeface="Yu Gothic" panose="020B0400000000000000" pitchFamily="50" charset="-128"/>
                <a:ea typeface="Yu Gothic" panose="020B0400000000000000" pitchFamily="50" charset="-128"/>
              </a:rPr>
              <a:t>例：研修中の新人、学生</a:t>
            </a:r>
          </a:p>
          <a:p>
            <a:endParaRPr kumimoji="1" lang="ja-JP" altLang="en-US" sz="2200" dirty="0">
              <a:latin typeface="Yu Gothic" panose="020B0400000000000000" pitchFamily="50" charset="-128"/>
              <a:ea typeface="Yu Gothic" panose="020B0400000000000000" pitchFamily="50" charset="-128"/>
            </a:endParaRPr>
          </a:p>
          <a:p>
            <a:r>
              <a:rPr kumimoji="1" lang="ja-JP" altLang="en-US" sz="2200" dirty="0">
                <a:latin typeface="Yu Gothic" panose="020B0400000000000000" pitchFamily="50" charset="-128"/>
                <a:ea typeface="Yu Gothic" panose="020B0400000000000000" pitchFamily="50" charset="-128"/>
              </a:rPr>
              <a:t>解く場所はあるが</a:t>
            </a:r>
          </a:p>
          <a:p>
            <a:r>
              <a:rPr kumimoji="1" lang="ja-JP" altLang="en-US" sz="2200" dirty="0">
                <a:latin typeface="Yu Gothic" panose="020B0400000000000000" pitchFamily="50" charset="-128"/>
                <a:ea typeface="Yu Gothic" panose="020B0400000000000000" pitchFamily="50" charset="-128"/>
              </a:rPr>
              <a:t>「その後どうするか」は</a:t>
            </a:r>
          </a:p>
          <a:p>
            <a:r>
              <a:rPr kumimoji="1" lang="ja-JP" altLang="en-US" sz="2200" dirty="0">
                <a:latin typeface="Yu Gothic" panose="020B0400000000000000" pitchFamily="50" charset="-128"/>
                <a:ea typeface="Yu Gothic" panose="020B0400000000000000" pitchFamily="50" charset="-128"/>
              </a:rPr>
              <a:t>自分で決めるしかない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01BD1CB-CFAF-B2A7-6337-A95DE49462B6}"/>
              </a:ext>
            </a:extLst>
          </p:cNvPr>
          <p:cNvSpPr/>
          <p:nvPr/>
        </p:nvSpPr>
        <p:spPr>
          <a:xfrm>
            <a:off x="4673600" y="1778000"/>
            <a:ext cx="6908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3DDD69E-CF49-717D-CB65-EDE753E8BF1A}"/>
              </a:ext>
            </a:extLst>
          </p:cNvPr>
          <p:cNvSpPr txBox="1"/>
          <p:nvPr/>
        </p:nvSpPr>
        <p:spPr>
          <a:xfrm>
            <a:off x="4927600" y="1955800"/>
            <a:ext cx="508000" cy="32054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4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endParaRPr kumimoji="1" lang="ja-JP" altLang="en-US" sz="24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2F5B5C-9838-6C41-30D2-A9194AE92E09}"/>
              </a:ext>
            </a:extLst>
          </p:cNvPr>
          <p:cNvSpPr txBox="1"/>
          <p:nvPr/>
        </p:nvSpPr>
        <p:spPr>
          <a:xfrm>
            <a:off x="5588000" y="1955800"/>
            <a:ext cx="5715000" cy="32054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何が苦手か分からない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BA61D5B-CE17-E826-CF1F-EE779C5EBD93}"/>
              </a:ext>
            </a:extLst>
          </p:cNvPr>
          <p:cNvSpPr txBox="1"/>
          <p:nvPr/>
        </p:nvSpPr>
        <p:spPr>
          <a:xfrm>
            <a:off x="5588000" y="2438399"/>
            <a:ext cx="584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latin typeface="Yu Gothic" panose="020B0400000000000000" pitchFamily="50" charset="-128"/>
                <a:ea typeface="Yu Gothic" panose="020B0400000000000000" pitchFamily="50" charset="-128"/>
              </a:rPr>
              <a:t>結果が散らばり、弱点が見えない</a:t>
            </a:r>
            <a:endParaRPr kumimoji="1" lang="ja-JP" altLang="en-US" sz="2200" dirty="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22B5D39-9682-7F9C-411B-E3C5221FC3C6}"/>
              </a:ext>
            </a:extLst>
          </p:cNvPr>
          <p:cNvSpPr/>
          <p:nvPr/>
        </p:nvSpPr>
        <p:spPr>
          <a:xfrm>
            <a:off x="4673600" y="3073400"/>
            <a:ext cx="6908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56673E9-83BD-4567-6D3B-C458CBA65E16}"/>
              </a:ext>
            </a:extLst>
          </p:cNvPr>
          <p:cNvSpPr txBox="1"/>
          <p:nvPr/>
        </p:nvSpPr>
        <p:spPr>
          <a:xfrm>
            <a:off x="4927600" y="3251200"/>
            <a:ext cx="508000" cy="32054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4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endParaRPr kumimoji="1" lang="ja-JP" altLang="en-US" sz="2400" b="1" dirty="0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109B7F-F023-7977-5B7F-6D6FC71E3E15}"/>
              </a:ext>
            </a:extLst>
          </p:cNvPr>
          <p:cNvSpPr txBox="1"/>
          <p:nvPr/>
        </p:nvSpPr>
        <p:spPr>
          <a:xfrm>
            <a:off x="5588000" y="3251200"/>
            <a:ext cx="5715000" cy="32054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復習する問題を探すのが手間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BBEF2D1-01F9-468A-8A1B-EA4AF9ED8BBE}"/>
              </a:ext>
            </a:extLst>
          </p:cNvPr>
          <p:cNvSpPr txBox="1"/>
          <p:nvPr/>
        </p:nvSpPr>
        <p:spPr>
          <a:xfrm>
            <a:off x="5588000" y="3733799"/>
            <a:ext cx="584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latin typeface="Yu Gothic" panose="020B0400000000000000" pitchFamily="50" charset="-128"/>
                <a:ea typeface="Yu Gothic" panose="020B0400000000000000" pitchFamily="50" charset="-128"/>
              </a:rPr>
              <a:t>間違えた問題を自分で管理している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CB175BE7-AB4B-BA0B-E969-2009A2456E50}"/>
              </a:ext>
            </a:extLst>
          </p:cNvPr>
          <p:cNvSpPr/>
          <p:nvPr/>
        </p:nvSpPr>
        <p:spPr>
          <a:xfrm>
            <a:off x="4673600" y="4368800"/>
            <a:ext cx="6908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992E1F5-2FA7-FABF-0293-3F9D71E4393A}"/>
              </a:ext>
            </a:extLst>
          </p:cNvPr>
          <p:cNvSpPr txBox="1"/>
          <p:nvPr/>
        </p:nvSpPr>
        <p:spPr>
          <a:xfrm>
            <a:off x="4927600" y="4546600"/>
            <a:ext cx="508000" cy="32054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4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endParaRPr kumimoji="1" lang="ja-JP" altLang="en-US" sz="24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7325E4C-5B46-09BD-6CB4-7E1AFF6326B9}"/>
              </a:ext>
            </a:extLst>
          </p:cNvPr>
          <p:cNvSpPr txBox="1"/>
          <p:nvPr/>
        </p:nvSpPr>
        <p:spPr>
          <a:xfrm>
            <a:off x="5588000" y="4546600"/>
            <a:ext cx="5715000" cy="32054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一人だと続かない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05B4C41-8D31-687F-0D07-07B39BDEE16D}"/>
              </a:ext>
            </a:extLst>
          </p:cNvPr>
          <p:cNvSpPr txBox="1"/>
          <p:nvPr/>
        </p:nvSpPr>
        <p:spPr>
          <a:xfrm>
            <a:off x="5588000" y="5029199"/>
            <a:ext cx="584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latin typeface="Yu Gothic" panose="020B0400000000000000" pitchFamily="50" charset="-128"/>
                <a:ea typeface="Yu Gothic" panose="020B0400000000000000" pitchFamily="50" charset="-128"/>
              </a:rPr>
              <a:t>積み重ねが見えず、やる気が続かない</a:t>
            </a:r>
            <a:endParaRPr kumimoji="1" lang="ja-JP" altLang="en-US" sz="2200" dirty="0"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9F37B65-002D-AB57-28C4-002145E75A13}"/>
              </a:ext>
            </a:extLst>
          </p:cNvPr>
          <p:cNvSpPr txBox="1"/>
          <p:nvPr/>
        </p:nvSpPr>
        <p:spPr>
          <a:xfrm>
            <a:off x="2832100" y="5869801"/>
            <a:ext cx="6226175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→ 解いた結果を「次の行動」につなげる</a:t>
            </a:r>
          </a:p>
        </p:txBody>
      </p:sp>
    </p:spTree>
    <p:extLst>
      <p:ext uri="{BB962C8B-B14F-4D97-AF65-F5344CB8AC3E}">
        <p14:creationId xmlns:p14="http://schemas.microsoft.com/office/powerpoint/2010/main" val="311177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E34A7D0-4D54-2EAA-BBC7-C0E62D8F276E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0026A5-4877-B323-80E2-F3A8432D37B4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 / SOLUTION</a:t>
            </a:r>
            <a:endParaRPr kumimoji="1" lang="ja-JP" altLang="en-US" sz="20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3C2BF1-7712-C70B-6A7D-C4BCEB64FA3E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解いた結果を、自動で次の一歩につなげる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94C73D-B45C-CAD4-82E7-4C8DC272D415}"/>
              </a:ext>
            </a:extLst>
          </p:cNvPr>
          <p:cNvSpPr txBox="1"/>
          <p:nvPr/>
        </p:nvSpPr>
        <p:spPr>
          <a:xfrm>
            <a:off x="6959600" y="4318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困りごと解決｜解決効果・実用性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2E27AC9-0C41-0DC0-768C-B0B88E2D6AC9}"/>
              </a:ext>
            </a:extLst>
          </p:cNvPr>
          <p:cNvSpPr/>
          <p:nvPr/>
        </p:nvSpPr>
        <p:spPr>
          <a:xfrm>
            <a:off x="609600" y="1548815"/>
            <a:ext cx="2489200" cy="21995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88554D-3261-92A1-6808-DFF9FB8D5E5C}"/>
              </a:ext>
            </a:extLst>
          </p:cNvPr>
          <p:cNvSpPr txBox="1"/>
          <p:nvPr/>
        </p:nvSpPr>
        <p:spPr>
          <a:xfrm>
            <a:off x="685800" y="1630954"/>
            <a:ext cx="2082800" cy="44611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解く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B34835-3E88-0CDB-C5D9-AEB1F3485A38}"/>
              </a:ext>
            </a:extLst>
          </p:cNvPr>
          <p:cNvSpPr txBox="1"/>
          <p:nvPr/>
        </p:nvSpPr>
        <p:spPr>
          <a:xfrm>
            <a:off x="685800" y="2133600"/>
            <a:ext cx="23622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カテゴリ別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難易度別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F453ACD-B39F-AFB1-B9BC-BB42CD064A8D}"/>
              </a:ext>
            </a:extLst>
          </p:cNvPr>
          <p:cNvSpPr/>
          <p:nvPr/>
        </p:nvSpPr>
        <p:spPr>
          <a:xfrm>
            <a:off x="3136900" y="2630716"/>
            <a:ext cx="254000" cy="330200"/>
          </a:xfrm>
          <a:prstGeom prst="rightArrow">
            <a:avLst/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59482A9-78EB-1F2A-F6E5-39F6D03D42EF}"/>
              </a:ext>
            </a:extLst>
          </p:cNvPr>
          <p:cNvSpPr/>
          <p:nvPr/>
        </p:nvSpPr>
        <p:spPr>
          <a:xfrm>
            <a:off x="3429000" y="1548815"/>
            <a:ext cx="2489200" cy="21995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C163975-C1B6-8FD9-B83F-C1B87A21417E}"/>
              </a:ext>
            </a:extLst>
          </p:cNvPr>
          <p:cNvSpPr txBox="1"/>
          <p:nvPr/>
        </p:nvSpPr>
        <p:spPr>
          <a:xfrm>
            <a:off x="3505200" y="1630954"/>
            <a:ext cx="2082800" cy="44611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知る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FA279B2-5A01-0709-360A-8006F2203FC8}"/>
              </a:ext>
            </a:extLst>
          </p:cNvPr>
          <p:cNvSpPr txBox="1"/>
          <p:nvPr/>
        </p:nvSpPr>
        <p:spPr>
          <a:xfrm>
            <a:off x="3505200" y="2133600"/>
            <a:ext cx="23622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正答率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誤答回数</a:t>
            </a:r>
            <a:br>
              <a:rPr kumimoji="1" lang="en-US" altLang="ja-JP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</a:br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苦手範囲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5D7B0722-D881-243C-8065-FD43CD6CA100}"/>
              </a:ext>
            </a:extLst>
          </p:cNvPr>
          <p:cNvSpPr/>
          <p:nvPr/>
        </p:nvSpPr>
        <p:spPr>
          <a:xfrm>
            <a:off x="5956300" y="2630716"/>
            <a:ext cx="254000" cy="330200"/>
          </a:xfrm>
          <a:prstGeom prst="rightArrow">
            <a:avLst/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6683FAE-DE37-C19D-8FE1-335593C79089}"/>
              </a:ext>
            </a:extLst>
          </p:cNvPr>
          <p:cNvSpPr/>
          <p:nvPr/>
        </p:nvSpPr>
        <p:spPr>
          <a:xfrm>
            <a:off x="6248400" y="1510715"/>
            <a:ext cx="2489200" cy="22376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ACA5A3-42C1-2DD9-E49C-EE727C14BC47}"/>
              </a:ext>
            </a:extLst>
          </p:cNvPr>
          <p:cNvSpPr txBox="1"/>
          <p:nvPr/>
        </p:nvSpPr>
        <p:spPr>
          <a:xfrm>
            <a:off x="6324600" y="1630954"/>
            <a:ext cx="2082800" cy="44611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やり直す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6CF7FAD-21DE-AF9E-139D-71B4C1A5194F}"/>
              </a:ext>
            </a:extLst>
          </p:cNvPr>
          <p:cNvSpPr txBox="1"/>
          <p:nvPr/>
        </p:nvSpPr>
        <p:spPr>
          <a:xfrm>
            <a:off x="6324600" y="2108199"/>
            <a:ext cx="23622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誤答を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自動で出題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F4A66010-EE9E-27D1-6359-145097434E7E}"/>
              </a:ext>
            </a:extLst>
          </p:cNvPr>
          <p:cNvSpPr/>
          <p:nvPr/>
        </p:nvSpPr>
        <p:spPr>
          <a:xfrm>
            <a:off x="8775700" y="2630716"/>
            <a:ext cx="254000" cy="330200"/>
          </a:xfrm>
          <a:prstGeom prst="rightArrow">
            <a:avLst/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0C29069-294E-7841-AA10-554BE3654697}"/>
              </a:ext>
            </a:extLst>
          </p:cNvPr>
          <p:cNvSpPr/>
          <p:nvPr/>
        </p:nvSpPr>
        <p:spPr>
          <a:xfrm>
            <a:off x="9067800" y="1510715"/>
            <a:ext cx="2489200" cy="22376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3BDB5BE-7679-9601-E7D4-15C24DC1DDDE}"/>
              </a:ext>
            </a:extLst>
          </p:cNvPr>
          <p:cNvSpPr txBox="1"/>
          <p:nvPr/>
        </p:nvSpPr>
        <p:spPr>
          <a:xfrm>
            <a:off x="9144000" y="1630954"/>
            <a:ext cx="2082800" cy="44611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続ける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A447714-29EA-D26B-59B4-0341069ED696}"/>
              </a:ext>
            </a:extLst>
          </p:cNvPr>
          <p:cNvSpPr txBox="1"/>
          <p:nvPr/>
        </p:nvSpPr>
        <p:spPr>
          <a:xfrm>
            <a:off x="9144000" y="2108199"/>
            <a:ext cx="2362200" cy="158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レベル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カレンダー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フレンド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836017E-9A96-C034-4B61-9EE05B4C07B7}"/>
              </a:ext>
            </a:extLst>
          </p:cNvPr>
          <p:cNvSpPr/>
          <p:nvPr/>
        </p:nvSpPr>
        <p:spPr>
          <a:xfrm>
            <a:off x="609600" y="3886200"/>
            <a:ext cx="6604000" cy="23622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8E7C31C-6D5B-816E-F9AB-2F2F2F1E7DF9}"/>
              </a:ext>
            </a:extLst>
          </p:cNvPr>
          <p:cNvSpPr txBox="1"/>
          <p:nvPr/>
        </p:nvSpPr>
        <p:spPr>
          <a:xfrm>
            <a:off x="838200" y="4038600"/>
            <a:ext cx="622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解決効果（困りごと → </a:t>
            </a:r>
            <a:r>
              <a:rPr kumimoji="1" lang="en-US" altLang="ja-JP" sz="24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</a:t>
            </a:r>
            <a:r>
              <a:rPr kumimoji="1" lang="ja-JP" altLang="en-US" sz="24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  <a:endParaRPr kumimoji="1" lang="ja-JP" altLang="en-US" sz="2400" b="1" dirty="0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9294638-0832-6B52-2803-83657AC4D637}"/>
              </a:ext>
            </a:extLst>
          </p:cNvPr>
          <p:cNvSpPr txBox="1"/>
          <p:nvPr/>
        </p:nvSpPr>
        <p:spPr>
          <a:xfrm>
            <a:off x="736600" y="4470399"/>
            <a:ext cx="63500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・弱点 → 解答直後に正答率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・復習 → 誤答を自動で出題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・継続 → </a:t>
            </a:r>
            <a:r>
              <a:rPr kumimoji="1" lang="en-US" altLang="ja-JP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・レベル・仲間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C6C0D3D-3BA9-0E72-B027-5E549C7BE195}"/>
              </a:ext>
            </a:extLst>
          </p:cNvPr>
          <p:cNvSpPr/>
          <p:nvPr/>
        </p:nvSpPr>
        <p:spPr>
          <a:xfrm>
            <a:off x="7467600" y="3886200"/>
            <a:ext cx="4114800" cy="236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32F4219-106B-2D25-DA34-0233FF4B758F}"/>
              </a:ext>
            </a:extLst>
          </p:cNvPr>
          <p:cNvSpPr txBox="1"/>
          <p:nvPr/>
        </p:nvSpPr>
        <p:spPr>
          <a:xfrm>
            <a:off x="7696200" y="40386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実用性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AC8CAAF-7004-6CC7-F57A-36BCF6D849F4}"/>
              </a:ext>
            </a:extLst>
          </p:cNvPr>
          <p:cNvSpPr txBox="1"/>
          <p:nvPr/>
        </p:nvSpPr>
        <p:spPr>
          <a:xfrm>
            <a:off x="7645400" y="4470399"/>
            <a:ext cx="38100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ブラウザーだけで利用可</a:t>
            </a:r>
          </a:p>
          <a:p>
            <a:r>
              <a:rPr kumimoji="1" lang="en-US" altLang="ja-JP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・スマホに対応</a:t>
            </a:r>
          </a:p>
          <a:p>
            <a:r>
              <a:rPr kumimoji="1" lang="ja-JP" altLang="en-US" sz="26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管理者が問題を追加</a:t>
            </a:r>
          </a:p>
        </p:txBody>
      </p:sp>
    </p:spTree>
    <p:extLst>
      <p:ext uri="{BB962C8B-B14F-4D97-AF65-F5344CB8AC3E}">
        <p14:creationId xmlns:p14="http://schemas.microsoft.com/office/powerpoint/2010/main" val="267290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C16BDD7-3620-E232-4B3C-F42DEEBD4962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E6F29D-D8E8-F33B-433A-83A0F89B92B5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 / ORIGINALITY</a:t>
            </a:r>
            <a:endParaRPr kumimoji="1" lang="ja-JP" altLang="en-US" sz="20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D0ECE3-1904-F064-D512-821E7C7D74C5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学習を「育てる・競う」体験に変える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6FF401-CE3B-33AD-AC2A-6A5AC4DAD039}"/>
              </a:ext>
            </a:extLst>
          </p:cNvPr>
          <p:cNvSpPr txBox="1"/>
          <p:nvPr/>
        </p:nvSpPr>
        <p:spPr>
          <a:xfrm>
            <a:off x="6959600" y="4318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困りごと解決｜ワクワク・独創性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547A457-8936-A80B-AED4-E6BCF44C6C82}"/>
              </a:ext>
            </a:extLst>
          </p:cNvPr>
          <p:cNvSpPr/>
          <p:nvPr/>
        </p:nvSpPr>
        <p:spPr>
          <a:xfrm>
            <a:off x="609600" y="1778000"/>
            <a:ext cx="35052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A862202-DA7E-4305-33CA-3EA98F2E29B1}"/>
              </a:ext>
            </a:extLst>
          </p:cNvPr>
          <p:cNvSpPr txBox="1"/>
          <p:nvPr/>
        </p:nvSpPr>
        <p:spPr>
          <a:xfrm>
            <a:off x="838200" y="198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育つキャラクター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7A4A8E-0DC7-698C-79EE-A0611813E9A6}"/>
              </a:ext>
            </a:extLst>
          </p:cNvPr>
          <p:cNvSpPr txBox="1"/>
          <p:nvPr/>
        </p:nvSpPr>
        <p:spPr>
          <a:xfrm>
            <a:off x="762000" y="2438400"/>
            <a:ext cx="3276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正解で</a:t>
            </a:r>
            <a:r>
              <a:rPr kumimoji="1" lang="en-US" altLang="ja-JP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獲得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レベルで姿が成長</a:t>
            </a:r>
            <a:endParaRPr kumimoji="1" lang="ja-JP" altLang="en-US" sz="24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B030EC5-022B-982B-CD5A-F03147661A09}"/>
              </a:ext>
            </a:extLst>
          </p:cNvPr>
          <p:cNvSpPr/>
          <p:nvPr/>
        </p:nvSpPr>
        <p:spPr>
          <a:xfrm>
            <a:off x="4343400" y="1778000"/>
            <a:ext cx="35052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B4CF15-3E84-01A1-729E-6E2F9306036D}"/>
              </a:ext>
            </a:extLst>
          </p:cNvPr>
          <p:cNvSpPr txBox="1"/>
          <p:nvPr/>
        </p:nvSpPr>
        <p:spPr>
          <a:xfrm>
            <a:off x="4572000" y="198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クエストと実績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3407B08-B05C-09E1-951E-F62DE09E639D}"/>
              </a:ext>
            </a:extLst>
          </p:cNvPr>
          <p:cNvSpPr txBox="1"/>
          <p:nvPr/>
        </p:nvSpPr>
        <p:spPr>
          <a:xfrm>
            <a:off x="4495800" y="2438400"/>
            <a:ext cx="3276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毎日のクエスト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実績で達成感</a:t>
            </a:r>
            <a:endParaRPr kumimoji="1" lang="ja-JP" altLang="en-US" sz="24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00AD2B1-66F4-212F-AD30-BC41DE5FA125}"/>
              </a:ext>
            </a:extLst>
          </p:cNvPr>
          <p:cNvSpPr/>
          <p:nvPr/>
        </p:nvSpPr>
        <p:spPr>
          <a:xfrm>
            <a:off x="8077200" y="1778000"/>
            <a:ext cx="35052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3705D79-D09A-6766-AF5D-0E45B20638B8}"/>
              </a:ext>
            </a:extLst>
          </p:cNvPr>
          <p:cNvSpPr txBox="1"/>
          <p:nvPr/>
        </p:nvSpPr>
        <p:spPr>
          <a:xfrm>
            <a:off x="8305800" y="198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 dirty="0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仲間と刺激し合う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16EB51-339D-C93F-D100-E40421ABAEA8}"/>
              </a:ext>
            </a:extLst>
          </p:cNvPr>
          <p:cNvSpPr txBox="1"/>
          <p:nvPr/>
        </p:nvSpPr>
        <p:spPr>
          <a:xfrm>
            <a:off x="8229600" y="2438400"/>
            <a:ext cx="3276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フレンドの様子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友達ランキング</a:t>
            </a:r>
            <a:endParaRPr kumimoji="1" lang="ja-JP" altLang="en-US" sz="24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C4B0BDE7-61F8-19BA-8959-03B8B576A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78200"/>
            <a:ext cx="1524000" cy="15240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05BA2C10-4041-A080-29D8-1B72A3993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0" y="3378200"/>
            <a:ext cx="1524000" cy="15240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42AEE046-3ED1-C274-5569-3C10DB8D19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378200"/>
            <a:ext cx="1524000" cy="1524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F40D7C98-3955-4855-4118-2F615EF2B6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3378200"/>
            <a:ext cx="1524000" cy="152400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CCCEFA0-9061-B7EA-6C34-018CD6C133A2}"/>
              </a:ext>
            </a:extLst>
          </p:cNvPr>
          <p:cNvSpPr txBox="1"/>
          <p:nvPr/>
        </p:nvSpPr>
        <p:spPr>
          <a:xfrm>
            <a:off x="838200" y="5549900"/>
            <a:ext cx="10541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kumimoji="1" lang="ja-JP" altLang="en-US" sz="26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924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62B4FF1-331F-C36C-E303-9615D3287BCD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5D1F17B-FC68-906D-C6BF-50B6730030BA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 / DEMO</a:t>
            </a:r>
            <a:endParaRPr kumimoji="1" lang="ja-JP" altLang="en-US" sz="20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8AA677-B7F3-7662-180B-143CEF198CBE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若手技術者らしさ｜実現力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BDACE4-DD78-9725-C650-4BF02CFF44BC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実際に動く画面をご覧ください</a:t>
            </a:r>
            <a:endParaRPr kumimoji="1" lang="ja-JP" altLang="en-US" sz="3600" b="1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DA636EB-6431-66FC-AE6D-C220D83CC6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14500"/>
            <a:ext cx="6502400" cy="3657600"/>
          </a:xfrm>
          <a:prstGeom prst="rect">
            <a:avLst/>
          </a:prstGeom>
          <a:ln w="19050">
            <a:solidFill>
              <a:srgbClr val="C8CFD9"/>
            </a:solidFill>
          </a:ln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A3C33059-F6ED-D1F1-ECC2-3DCA59CFABF7}"/>
              </a:ext>
            </a:extLst>
          </p:cNvPr>
          <p:cNvSpPr/>
          <p:nvPr/>
        </p:nvSpPr>
        <p:spPr>
          <a:xfrm>
            <a:off x="3352800" y="3035300"/>
            <a:ext cx="1016000" cy="1016000"/>
          </a:xfrm>
          <a:prstGeom prst="ellipse">
            <a:avLst/>
          </a:prstGeom>
          <a:solidFill>
            <a:srgbClr val="132238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3ADB2C5E-7B4E-1E87-FA38-41FF3EC67BF8}"/>
              </a:ext>
            </a:extLst>
          </p:cNvPr>
          <p:cNvSpPr/>
          <p:nvPr/>
        </p:nvSpPr>
        <p:spPr>
          <a:xfrm rot="5400000">
            <a:off x="3683000" y="3263900"/>
            <a:ext cx="558800" cy="558800"/>
          </a:xfrm>
          <a:prstGeom prst="triangl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3260F8-EAB6-4C53-C6F0-DF3EF40AC0A8}"/>
              </a:ext>
            </a:extLst>
          </p:cNvPr>
          <p:cNvSpPr txBox="1"/>
          <p:nvPr/>
        </p:nvSpPr>
        <p:spPr>
          <a:xfrm>
            <a:off x="609600" y="5505450"/>
            <a:ext cx="6502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kumimoji="1" lang="ja-JP" altLang="en-US" sz="2200" b="1" dirty="0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527CD77-3C9E-09DC-CC2E-370D25A266BA}"/>
              </a:ext>
            </a:extLst>
          </p:cNvPr>
          <p:cNvSpPr txBox="1"/>
          <p:nvPr/>
        </p:nvSpPr>
        <p:spPr>
          <a:xfrm>
            <a:off x="7429500" y="1714499"/>
            <a:ext cx="4064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注目ポイント</a:t>
            </a:r>
            <a:endParaRPr kumimoji="1" lang="ja-JP" altLang="en-US" sz="2400" b="1" dirty="0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8C4752E-CF6C-E0D7-0E44-32D40F49F5EC}"/>
              </a:ext>
            </a:extLst>
          </p:cNvPr>
          <p:cNvSpPr/>
          <p:nvPr/>
        </p:nvSpPr>
        <p:spPr>
          <a:xfrm>
            <a:off x="7429500" y="2260600"/>
            <a:ext cx="4152900" cy="109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CC1A5D3-B72D-B313-BF31-A37F94E3CC76}"/>
              </a:ext>
            </a:extLst>
          </p:cNvPr>
          <p:cNvSpPr txBox="1"/>
          <p:nvPr/>
        </p:nvSpPr>
        <p:spPr>
          <a:xfrm>
            <a:off x="7581900" y="2540000"/>
            <a:ext cx="609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8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endParaRPr kumimoji="1" lang="ja-JP" altLang="en-US" sz="28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128DABE-2C6B-0E12-AF60-A6AB1813B48A}"/>
              </a:ext>
            </a:extLst>
          </p:cNvPr>
          <p:cNvSpPr txBox="1"/>
          <p:nvPr/>
        </p:nvSpPr>
        <p:spPr>
          <a:xfrm>
            <a:off x="8255000" y="2362200"/>
            <a:ext cx="32385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解答結果が</a:t>
            </a:r>
          </a:p>
          <a:p>
            <a:r>
              <a:rPr kumimoji="1" lang="ja-JP" altLang="en-US" sz="2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復習につながる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DB3A67A-E98C-EB05-D99E-ED6CA50E1EC4}"/>
              </a:ext>
            </a:extLst>
          </p:cNvPr>
          <p:cNvSpPr/>
          <p:nvPr/>
        </p:nvSpPr>
        <p:spPr>
          <a:xfrm>
            <a:off x="7429500" y="3505200"/>
            <a:ext cx="4152900" cy="109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32D9D7E-99B2-BF4D-E50A-F27E3748D225}"/>
              </a:ext>
            </a:extLst>
          </p:cNvPr>
          <p:cNvSpPr txBox="1"/>
          <p:nvPr/>
        </p:nvSpPr>
        <p:spPr>
          <a:xfrm>
            <a:off x="7581900" y="3784600"/>
            <a:ext cx="609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8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endParaRPr kumimoji="1" lang="ja-JP" altLang="en-US" sz="28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CE278AA-0C03-8904-C5F9-40254D8B3DCE}"/>
              </a:ext>
            </a:extLst>
          </p:cNvPr>
          <p:cNvSpPr txBox="1"/>
          <p:nvPr/>
        </p:nvSpPr>
        <p:spPr>
          <a:xfrm>
            <a:off x="8255000" y="3606800"/>
            <a:ext cx="32385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積み重ねが</a:t>
            </a:r>
          </a:p>
          <a:p>
            <a:r>
              <a:rPr kumimoji="1" lang="ja-JP" altLang="en-US" sz="2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成長として見える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89F2D18-4063-9A1F-297F-FDDF30517070}"/>
              </a:ext>
            </a:extLst>
          </p:cNvPr>
          <p:cNvSpPr/>
          <p:nvPr/>
        </p:nvSpPr>
        <p:spPr>
          <a:xfrm>
            <a:off x="7429500" y="4749800"/>
            <a:ext cx="4152900" cy="109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DEC2A6A-60DE-3132-AFF5-8A66E1E417F0}"/>
              </a:ext>
            </a:extLst>
          </p:cNvPr>
          <p:cNvSpPr txBox="1"/>
          <p:nvPr/>
        </p:nvSpPr>
        <p:spPr>
          <a:xfrm>
            <a:off x="7581900" y="5029200"/>
            <a:ext cx="609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8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endParaRPr kumimoji="1" lang="ja-JP" altLang="en-US" sz="28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3F80211-8AEE-BD6E-0367-6555A8806F99}"/>
              </a:ext>
            </a:extLst>
          </p:cNvPr>
          <p:cNvSpPr txBox="1"/>
          <p:nvPr/>
        </p:nvSpPr>
        <p:spPr>
          <a:xfrm>
            <a:off x="8255000" y="4851400"/>
            <a:ext cx="32385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予定と仲間が</a:t>
            </a:r>
          </a:p>
          <a:p>
            <a:r>
              <a:rPr kumimoji="1" lang="ja-JP" altLang="en-US" sz="2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次の学習を後押し</a:t>
            </a:r>
          </a:p>
        </p:txBody>
      </p:sp>
    </p:spTree>
    <p:extLst>
      <p:ext uri="{BB962C8B-B14F-4D97-AF65-F5344CB8AC3E}">
        <p14:creationId xmlns:p14="http://schemas.microsoft.com/office/powerpoint/2010/main" val="126692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moVideo">
            <a:hlinkClick r:id="" action="ppaction://media"/>
            <a:extLst>
              <a:ext uri="{FF2B5EF4-FFF2-40B4-BE49-F238E27FC236}">
                <a16:creationId xmlns:a16="http://schemas.microsoft.com/office/drawing/2014/main" id="{D42860B2-9EAF-BABB-35FE-F334F6C26C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6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000"/>
    </mc:Choice>
    <mc:Fallback xmlns="">
      <p:transition spd="slow" advTm="22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D5F0739-3838-9021-2390-61652BFCFB1F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5E2264-8AF1-DD2F-F45A-3938767D9302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 / CHALLENGE</a:t>
            </a:r>
            <a:endParaRPr kumimoji="1" lang="ja-JP" altLang="en-US" sz="20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ADDE2F-042D-AC4F-FBFE-19237FCF514B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初めて挑戦した技術と構成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270561-673F-D163-6450-2546342C4693}"/>
              </a:ext>
            </a:extLst>
          </p:cNvPr>
          <p:cNvSpPr txBox="1"/>
          <p:nvPr/>
        </p:nvSpPr>
        <p:spPr>
          <a:xfrm>
            <a:off x="6934479" y="431800"/>
            <a:ext cx="4978121" cy="3047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若手技術者らしさ｜技術チャレンジ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4F25786-7CA0-FA1B-86DA-309F5989A0C4}"/>
              </a:ext>
            </a:extLst>
          </p:cNvPr>
          <p:cNvSpPr/>
          <p:nvPr/>
        </p:nvSpPr>
        <p:spPr>
          <a:xfrm>
            <a:off x="609600" y="1777999"/>
            <a:ext cx="2413000" cy="141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DE4CEE-217F-1E32-3E5B-6DC8922AD578}"/>
              </a:ext>
            </a:extLst>
          </p:cNvPr>
          <p:cNvSpPr txBox="1"/>
          <p:nvPr/>
        </p:nvSpPr>
        <p:spPr>
          <a:xfrm>
            <a:off x="762000" y="1905000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6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ブラウザー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1E4FB0-94F8-F123-EC32-63396391C7CE}"/>
              </a:ext>
            </a:extLst>
          </p:cNvPr>
          <p:cNvSpPr txBox="1"/>
          <p:nvPr/>
        </p:nvSpPr>
        <p:spPr>
          <a:xfrm>
            <a:off x="762000" y="2489199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2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2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・スマホ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02F9E27E-AE57-35F5-0019-D7EB876F8ED7}"/>
              </a:ext>
            </a:extLst>
          </p:cNvPr>
          <p:cNvSpPr/>
          <p:nvPr/>
        </p:nvSpPr>
        <p:spPr>
          <a:xfrm>
            <a:off x="3073400" y="2235200"/>
            <a:ext cx="330200" cy="279400"/>
          </a:xfrm>
          <a:prstGeom prst="rightArrow">
            <a:avLst/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F9FF774-8338-C6F2-79F0-1F0A98D53F0B}"/>
              </a:ext>
            </a:extLst>
          </p:cNvPr>
          <p:cNvSpPr/>
          <p:nvPr/>
        </p:nvSpPr>
        <p:spPr>
          <a:xfrm>
            <a:off x="3429000" y="1777999"/>
            <a:ext cx="2413000" cy="141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A763A7E-AA92-674F-68C0-47765F76D84E}"/>
              </a:ext>
            </a:extLst>
          </p:cNvPr>
          <p:cNvSpPr txBox="1"/>
          <p:nvPr/>
        </p:nvSpPr>
        <p:spPr>
          <a:xfrm>
            <a:off x="3581400" y="1905000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26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OCI</a:t>
            </a:r>
            <a:endParaRPr kumimoji="1" lang="ja-JP" altLang="en-US" sz="26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C784EB-27F9-B253-00BA-DF286AAE1542}"/>
              </a:ext>
            </a:extLst>
          </p:cNvPr>
          <p:cNvSpPr txBox="1"/>
          <p:nvPr/>
        </p:nvSpPr>
        <p:spPr>
          <a:xfrm>
            <a:off x="3581400" y="2489199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2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2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終端</a:t>
            </a:r>
            <a:endParaRPr kumimoji="1" lang="ja-JP" altLang="en-US" sz="2200" dirty="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EB0807E-091C-D154-087E-B080BCDA6011}"/>
              </a:ext>
            </a:extLst>
          </p:cNvPr>
          <p:cNvSpPr/>
          <p:nvPr/>
        </p:nvSpPr>
        <p:spPr>
          <a:xfrm>
            <a:off x="5892800" y="2235200"/>
            <a:ext cx="330200" cy="279400"/>
          </a:xfrm>
          <a:prstGeom prst="rightArrow">
            <a:avLst/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252F80C-3751-9912-FE70-B50DC8051792}"/>
              </a:ext>
            </a:extLst>
          </p:cNvPr>
          <p:cNvSpPr/>
          <p:nvPr/>
        </p:nvSpPr>
        <p:spPr>
          <a:xfrm>
            <a:off x="6248400" y="1777999"/>
            <a:ext cx="2413000" cy="141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1C1119-6DBE-5F7B-092C-3072807E034F}"/>
              </a:ext>
            </a:extLst>
          </p:cNvPr>
          <p:cNvSpPr txBox="1"/>
          <p:nvPr/>
        </p:nvSpPr>
        <p:spPr>
          <a:xfrm>
            <a:off x="6400800" y="1905000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</a:t>
            </a:r>
            <a:r>
              <a:rPr kumimoji="1" lang="en-US" altLang="ja-JP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Tomcat</a:t>
            </a:r>
            <a:endParaRPr kumimoji="1" lang="ja-JP" altLang="en-US" sz="26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0121CA6-5EF9-D4D0-6315-43175BC1490B}"/>
              </a:ext>
            </a:extLst>
          </p:cNvPr>
          <p:cNvSpPr txBox="1"/>
          <p:nvPr/>
        </p:nvSpPr>
        <p:spPr>
          <a:xfrm>
            <a:off x="6400800" y="2489199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2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Spring Boot 3</a:t>
            </a:r>
            <a:endParaRPr kumimoji="1" lang="ja-JP" altLang="en-US" sz="22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DC76A076-D9C6-0A32-8B6E-3F6733CF4068}"/>
              </a:ext>
            </a:extLst>
          </p:cNvPr>
          <p:cNvSpPr/>
          <p:nvPr/>
        </p:nvSpPr>
        <p:spPr>
          <a:xfrm>
            <a:off x="8712200" y="2235200"/>
            <a:ext cx="330200" cy="279400"/>
          </a:xfrm>
          <a:prstGeom prst="rightArrow">
            <a:avLst/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07865BA-365B-0FBA-131D-D9735AB4BC37}"/>
              </a:ext>
            </a:extLst>
          </p:cNvPr>
          <p:cNvSpPr/>
          <p:nvPr/>
        </p:nvSpPr>
        <p:spPr>
          <a:xfrm>
            <a:off x="9067800" y="1777999"/>
            <a:ext cx="2413000" cy="141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E021218-753D-1EFA-73C5-D66205467703}"/>
              </a:ext>
            </a:extLst>
          </p:cNvPr>
          <p:cNvSpPr txBox="1"/>
          <p:nvPr/>
        </p:nvSpPr>
        <p:spPr>
          <a:xfrm>
            <a:off x="9220200" y="1905000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Oracle DB</a:t>
            </a:r>
            <a:endParaRPr kumimoji="1" lang="ja-JP" altLang="en-US" sz="26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BC64A3C-AC43-9A06-890C-045F68D70AD1}"/>
              </a:ext>
            </a:extLst>
          </p:cNvPr>
          <p:cNvSpPr txBox="1"/>
          <p:nvPr/>
        </p:nvSpPr>
        <p:spPr>
          <a:xfrm>
            <a:off x="9220200" y="2489200"/>
            <a:ext cx="2108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学習データ</a:t>
            </a:r>
            <a:endParaRPr kumimoji="1" lang="ja-JP" altLang="en-US" sz="2200" dirty="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7488C66-DC1C-8A60-4954-08B95F88B572}"/>
              </a:ext>
            </a:extLst>
          </p:cNvPr>
          <p:cNvSpPr/>
          <p:nvPr/>
        </p:nvSpPr>
        <p:spPr>
          <a:xfrm>
            <a:off x="609600" y="3479800"/>
            <a:ext cx="3505200" cy="26670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53253D6-BBE6-0B5C-A288-9C6E69EFCC40}"/>
              </a:ext>
            </a:extLst>
          </p:cNvPr>
          <p:cNvSpPr txBox="1"/>
          <p:nvPr/>
        </p:nvSpPr>
        <p:spPr>
          <a:xfrm>
            <a:off x="762000" y="3657600"/>
            <a:ext cx="3238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採点をまとめて保存</a:t>
            </a:r>
            <a:endParaRPr kumimoji="1" lang="ja-JP" altLang="en-US" sz="26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E3366E3-C66A-585D-986E-ABDB5701F421}"/>
              </a:ext>
            </a:extLst>
          </p:cNvPr>
          <p:cNvSpPr txBox="1"/>
          <p:nvPr/>
        </p:nvSpPr>
        <p:spPr>
          <a:xfrm>
            <a:off x="762000" y="4317999"/>
            <a:ext cx="32385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採点・</a:t>
            </a:r>
            <a:r>
              <a:rPr kumimoji="1" lang="en-US" altLang="ja-JP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・実績を</a:t>
            </a:r>
          </a:p>
          <a:p>
            <a:r>
              <a:rPr kumimoji="1" lang="en-US" altLang="ja-JP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回でまとめて保存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途中で失敗しても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データが崩れない</a:t>
            </a:r>
            <a:endParaRPr kumimoji="1" lang="ja-JP" altLang="en-US" sz="24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D5D74C1-0AB9-3123-9287-C3F183C38C63}"/>
              </a:ext>
            </a:extLst>
          </p:cNvPr>
          <p:cNvSpPr/>
          <p:nvPr/>
        </p:nvSpPr>
        <p:spPr>
          <a:xfrm>
            <a:off x="4343400" y="3479800"/>
            <a:ext cx="3505200" cy="26670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FDD2336-3681-1E35-F725-C8DAC7856F5F}"/>
              </a:ext>
            </a:extLst>
          </p:cNvPr>
          <p:cNvSpPr txBox="1"/>
          <p:nvPr/>
        </p:nvSpPr>
        <p:spPr>
          <a:xfrm>
            <a:off x="4495800" y="3657600"/>
            <a:ext cx="3238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タブごとに分離</a:t>
            </a:r>
            <a:endParaRPr kumimoji="1" lang="ja-JP" altLang="en-US" sz="26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170C720-9B18-295C-EBEE-1EB6220A8DC9}"/>
              </a:ext>
            </a:extLst>
          </p:cNvPr>
          <p:cNvSpPr txBox="1"/>
          <p:nvPr/>
        </p:nvSpPr>
        <p:spPr>
          <a:xfrm>
            <a:off x="4495800" y="4317999"/>
            <a:ext cx="32385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タブごとに演習を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分けて管理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途中の状態が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混ざらない</a:t>
            </a:r>
            <a:endParaRPr kumimoji="1" lang="ja-JP" altLang="en-US" sz="24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07F03D85-5C3D-A33C-769D-E8FB4CFE7485}"/>
              </a:ext>
            </a:extLst>
          </p:cNvPr>
          <p:cNvSpPr/>
          <p:nvPr/>
        </p:nvSpPr>
        <p:spPr>
          <a:xfrm>
            <a:off x="8077200" y="3479800"/>
            <a:ext cx="3505200" cy="26670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9127B26-1FD2-A2A1-D240-FFBB2D20E258}"/>
              </a:ext>
            </a:extLst>
          </p:cNvPr>
          <p:cNvSpPr txBox="1"/>
          <p:nvPr/>
        </p:nvSpPr>
        <p:spPr>
          <a:xfrm>
            <a:off x="8229600" y="3657600"/>
            <a:ext cx="3238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同時ログイン対策</a:t>
            </a:r>
            <a:endParaRPr kumimoji="1" lang="ja-JP" altLang="en-US" sz="26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BAE3865-39B4-6E03-ED82-1E019E963F77}"/>
              </a:ext>
            </a:extLst>
          </p:cNvPr>
          <p:cNvSpPr txBox="1"/>
          <p:nvPr/>
        </p:nvSpPr>
        <p:spPr>
          <a:xfrm>
            <a:off x="8229600" y="4317999"/>
            <a:ext cx="32385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同時に使われても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最新ログインだけ有効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データの食い違い</a:t>
            </a:r>
          </a:p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を防ぐ</a:t>
            </a:r>
          </a:p>
        </p:txBody>
      </p:sp>
    </p:spTree>
    <p:extLst>
      <p:ext uri="{BB962C8B-B14F-4D97-AF65-F5344CB8AC3E}">
        <p14:creationId xmlns:p14="http://schemas.microsoft.com/office/powerpoint/2010/main" val="117562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5003D7E-657B-9D9F-E5CA-5AD478240074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AB0F9E-D380-BABB-126D-0CF429E1C141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 / TRIAL &amp; ERROR</a:t>
            </a:r>
            <a:endParaRPr kumimoji="1" lang="ja-JP" altLang="en-US" sz="20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8F37D-D3B9-9EB8-1286-061D47189DBE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2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うまくいかなかったことと、乗り越え方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BF5A67-E1BE-17E3-B7B1-F6851F90B04D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若手技術者らしさ｜試行錯誤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E05F77-452E-0F0D-97D3-FE0EDACEC164}"/>
              </a:ext>
            </a:extLst>
          </p:cNvPr>
          <p:cNvSpPr txBox="1"/>
          <p:nvPr/>
        </p:nvSpPr>
        <p:spPr>
          <a:xfrm>
            <a:off x="812800" y="1574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 dirty="0">
                <a:solidFill>
                  <a:srgbClr val="B03A2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起きたこと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E44C4C3-521D-F507-8EE1-2665D58DD570}"/>
              </a:ext>
            </a:extLst>
          </p:cNvPr>
          <p:cNvSpPr txBox="1"/>
          <p:nvPr/>
        </p:nvSpPr>
        <p:spPr>
          <a:xfrm>
            <a:off x="4267200" y="1574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B9711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原因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CA1A9F-19DF-0A76-5975-475B34291DAD}"/>
              </a:ext>
            </a:extLst>
          </p:cNvPr>
          <p:cNvSpPr txBox="1"/>
          <p:nvPr/>
        </p:nvSpPr>
        <p:spPr>
          <a:xfrm>
            <a:off x="7848600" y="157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対応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75FC85B-3585-5DA7-EF78-3F21955D2442}"/>
              </a:ext>
            </a:extLst>
          </p:cNvPr>
          <p:cNvSpPr/>
          <p:nvPr/>
        </p:nvSpPr>
        <p:spPr>
          <a:xfrm>
            <a:off x="609600" y="2108200"/>
            <a:ext cx="109728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3627FA-77E8-49DB-2A17-B56371B71558}"/>
              </a:ext>
            </a:extLst>
          </p:cNvPr>
          <p:cNvSpPr txBox="1"/>
          <p:nvPr/>
        </p:nvSpPr>
        <p:spPr>
          <a:xfrm>
            <a:off x="787400" y="2260599"/>
            <a:ext cx="32004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エラー</a:t>
            </a:r>
            <a:r>
              <a:rPr kumimoji="1" lang="en-US" altLang="ja-JP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404</a:t>
            </a:r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などが</a:t>
            </a:r>
          </a:p>
          <a:p>
            <a:r>
              <a:rPr kumimoji="1" lang="en-US" altLang="ja-JP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500</a:t>
            </a:r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になる（</a:t>
            </a:r>
            <a:r>
              <a:rPr kumimoji="1" lang="en-US" altLang="ja-JP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件）</a:t>
            </a:r>
            <a:endParaRPr kumimoji="1" lang="ja-JP" altLang="en-US" sz="2200" b="1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4150B83C-9788-7C6E-94F6-83CCD262F729}"/>
              </a:ext>
            </a:extLst>
          </p:cNvPr>
          <p:cNvSpPr/>
          <p:nvPr/>
        </p:nvSpPr>
        <p:spPr>
          <a:xfrm>
            <a:off x="4038600" y="2590800"/>
            <a:ext cx="1778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5C03A5-D8E4-4A47-753D-A73DAD179383}"/>
              </a:ext>
            </a:extLst>
          </p:cNvPr>
          <p:cNvSpPr txBox="1"/>
          <p:nvPr/>
        </p:nvSpPr>
        <p:spPr>
          <a:xfrm>
            <a:off x="4292600" y="2260599"/>
            <a:ext cx="32004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エラー時の</a:t>
            </a:r>
          </a:p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取り消しが不十分</a:t>
            </a:r>
            <a:endParaRPr kumimoji="1" lang="ja-JP" altLang="en-US" sz="22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79E832C9-D588-E222-7793-627002DBF064}"/>
              </a:ext>
            </a:extLst>
          </p:cNvPr>
          <p:cNvSpPr/>
          <p:nvPr/>
        </p:nvSpPr>
        <p:spPr>
          <a:xfrm>
            <a:off x="7620000" y="2590800"/>
            <a:ext cx="1778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98E717-67CA-AE8E-8DAF-0F3C57CB5CFC}"/>
              </a:ext>
            </a:extLst>
          </p:cNvPr>
          <p:cNvSpPr txBox="1"/>
          <p:nvPr/>
        </p:nvSpPr>
        <p:spPr>
          <a:xfrm>
            <a:off x="7874000" y="2260600"/>
            <a:ext cx="36068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外側でも明示的に</a:t>
            </a:r>
          </a:p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取り消すよう修正</a:t>
            </a:r>
            <a:endParaRPr kumimoji="1" lang="ja-JP" altLang="en-US" sz="22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2A9553CC-646E-8866-A13B-9288AE71CCAC}"/>
              </a:ext>
            </a:extLst>
          </p:cNvPr>
          <p:cNvSpPr/>
          <p:nvPr/>
        </p:nvSpPr>
        <p:spPr>
          <a:xfrm>
            <a:off x="609600" y="3454400"/>
            <a:ext cx="109728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ACCCB5F-8997-8AED-45EC-9ED463CE44EA}"/>
              </a:ext>
            </a:extLst>
          </p:cNvPr>
          <p:cNvSpPr txBox="1"/>
          <p:nvPr/>
        </p:nvSpPr>
        <p:spPr>
          <a:xfrm>
            <a:off x="787400" y="3606799"/>
            <a:ext cx="32004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再読み込みで</a:t>
            </a:r>
          </a:p>
          <a:p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二重に採点</a:t>
            </a:r>
            <a:endParaRPr kumimoji="1" lang="ja-JP" altLang="en-US" sz="2200" b="1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5A0E35B3-0C3A-BB58-7ED4-11050065334C}"/>
              </a:ext>
            </a:extLst>
          </p:cNvPr>
          <p:cNvSpPr/>
          <p:nvPr/>
        </p:nvSpPr>
        <p:spPr>
          <a:xfrm>
            <a:off x="4038600" y="3937000"/>
            <a:ext cx="1778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FE00559-4405-C351-6AB6-7E550E6115A6}"/>
              </a:ext>
            </a:extLst>
          </p:cNvPr>
          <p:cNvSpPr txBox="1"/>
          <p:nvPr/>
        </p:nvSpPr>
        <p:spPr>
          <a:xfrm>
            <a:off x="4292600" y="3606799"/>
            <a:ext cx="32004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採点の</a:t>
            </a:r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POST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が</a:t>
            </a:r>
          </a:p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再送される</a:t>
            </a: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B892EAD2-9C19-F331-22B5-C3FA98E8FF20}"/>
              </a:ext>
            </a:extLst>
          </p:cNvPr>
          <p:cNvSpPr/>
          <p:nvPr/>
        </p:nvSpPr>
        <p:spPr>
          <a:xfrm>
            <a:off x="7620000" y="3937000"/>
            <a:ext cx="1778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46E6A21-5504-2C21-DEED-78E80144E45F}"/>
              </a:ext>
            </a:extLst>
          </p:cNvPr>
          <p:cNvSpPr txBox="1"/>
          <p:nvPr/>
        </p:nvSpPr>
        <p:spPr>
          <a:xfrm>
            <a:off x="7874000" y="3606799"/>
            <a:ext cx="36068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採点後は</a:t>
            </a:r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GET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へ移動</a:t>
            </a:r>
          </a:p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タブ内は順番待ち</a:t>
            </a:r>
          </a:p>
        </p:txBody>
      </p:sp>
      <p:sp>
        <p:nvSpPr>
          <p:cNvPr id="12" name="RowRect3">
            <a:extLst>
              <a:ext uri="{FF2B5EF4-FFF2-40B4-BE49-F238E27FC236}">
                <a16:creationId xmlns:a16="http://schemas.microsoft.com/office/drawing/2014/main" id="{2A3848E8-84FB-54D2-DC1B-BB4EAA7A3B16}"/>
              </a:ext>
            </a:extLst>
          </p:cNvPr>
          <p:cNvSpPr/>
          <p:nvPr/>
        </p:nvSpPr>
        <p:spPr>
          <a:xfrm>
            <a:off x="609600" y="4800600"/>
            <a:ext cx="109728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3_TextBox 18">
            <a:extLst>
              <a:ext uri="{FF2B5EF4-FFF2-40B4-BE49-F238E27FC236}">
                <a16:creationId xmlns:a16="http://schemas.microsoft.com/office/drawing/2014/main" id="{F18E1869-BFB1-2173-CE43-BB292B8831E2}"/>
              </a:ext>
            </a:extLst>
          </p:cNvPr>
          <p:cNvSpPr txBox="1"/>
          <p:nvPr/>
        </p:nvSpPr>
        <p:spPr>
          <a:xfrm>
            <a:off x="787400" y="4952999"/>
            <a:ext cx="32004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公開で</a:t>
            </a:r>
            <a:r>
              <a:rPr kumimoji="1" lang="en-US" altLang="ja-JP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502</a:t>
            </a:r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と</a:t>
            </a:r>
          </a:p>
          <a:p>
            <a:r>
              <a:rPr kumimoji="1" lang="ja-JP" altLang="en-US" sz="22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リダイレクト連続</a:t>
            </a:r>
            <a:endParaRPr kumimoji="1" lang="ja-JP" altLang="en-US" sz="2200" b="1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R3_Right Arrow 19">
            <a:extLst>
              <a:ext uri="{FF2B5EF4-FFF2-40B4-BE49-F238E27FC236}">
                <a16:creationId xmlns:a16="http://schemas.microsoft.com/office/drawing/2014/main" id="{1830C6E0-2EBF-FCEA-2154-FB7775C525D8}"/>
              </a:ext>
            </a:extLst>
          </p:cNvPr>
          <p:cNvSpPr/>
          <p:nvPr/>
        </p:nvSpPr>
        <p:spPr>
          <a:xfrm>
            <a:off x="4038600" y="5283200"/>
            <a:ext cx="1778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3_TextBox 20">
            <a:extLst>
              <a:ext uri="{FF2B5EF4-FFF2-40B4-BE49-F238E27FC236}">
                <a16:creationId xmlns:a16="http://schemas.microsoft.com/office/drawing/2014/main" id="{67C1896A-E75C-E1FB-E3B0-B3D4431554E2}"/>
              </a:ext>
            </a:extLst>
          </p:cNvPr>
          <p:cNvSpPr txBox="1"/>
          <p:nvPr/>
        </p:nvSpPr>
        <p:spPr>
          <a:xfrm>
            <a:off x="4292600" y="4952999"/>
            <a:ext cx="32004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と</a:t>
            </a:r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の両方で</a:t>
            </a:r>
          </a:p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暗号化・転送</a:t>
            </a:r>
            <a:endParaRPr kumimoji="1" lang="ja-JP" altLang="en-US" sz="22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R3_Right Arrow 21">
            <a:extLst>
              <a:ext uri="{FF2B5EF4-FFF2-40B4-BE49-F238E27FC236}">
                <a16:creationId xmlns:a16="http://schemas.microsoft.com/office/drawing/2014/main" id="{34AA7964-03DF-7E89-7B44-364A03DDD2C8}"/>
              </a:ext>
            </a:extLst>
          </p:cNvPr>
          <p:cNvSpPr/>
          <p:nvPr/>
        </p:nvSpPr>
        <p:spPr>
          <a:xfrm>
            <a:off x="7620000" y="5283200"/>
            <a:ext cx="1778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3_TextBox 22">
            <a:extLst>
              <a:ext uri="{FF2B5EF4-FFF2-40B4-BE49-F238E27FC236}">
                <a16:creationId xmlns:a16="http://schemas.microsoft.com/office/drawing/2014/main" id="{82F621BA-FFDB-D87E-E43F-8B9A7A6D589E}"/>
              </a:ext>
            </a:extLst>
          </p:cNvPr>
          <p:cNvSpPr txBox="1"/>
          <p:nvPr/>
        </p:nvSpPr>
        <p:spPr>
          <a:xfrm>
            <a:off x="7874000" y="4953000"/>
            <a:ext cx="36068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暗号化は</a:t>
            </a:r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に集約</a:t>
            </a:r>
          </a:p>
          <a:p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</a:t>
            </a:r>
            <a:r>
              <a:rPr kumimoji="1" lang="en-US" altLang="ja-JP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</a:t>
            </a:r>
            <a:r>
              <a:rPr kumimoji="1" lang="ja-JP" altLang="en-US" sz="2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に統一</a:t>
            </a:r>
            <a:endParaRPr kumimoji="1" lang="ja-JP" altLang="en-US" sz="22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358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4B15F18-05B3-F99E-B82D-2FCE45DA342A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668A4C-B13E-CFBF-4EA1-33F18D7D0063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0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 / LEARNINGS</a:t>
            </a:r>
            <a:endParaRPr kumimoji="1" lang="ja-JP" altLang="en-US" sz="20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596906-6683-03F4-1B3D-65770EC568D3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6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学んだこと、そしてこれから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E4D2E1-1717-BBEF-B204-B95DD06B2AB1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若手技術者らしさ｜学び・成長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37C7A08-DF81-86CC-E0A7-3276898E8E8A}"/>
              </a:ext>
            </a:extLst>
          </p:cNvPr>
          <p:cNvSpPr/>
          <p:nvPr/>
        </p:nvSpPr>
        <p:spPr>
          <a:xfrm>
            <a:off x="609600" y="1651000"/>
            <a:ext cx="109728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428712-63C7-4C2D-08E6-9440723EA704}"/>
              </a:ext>
            </a:extLst>
          </p:cNvPr>
          <p:cNvSpPr txBox="1"/>
          <p:nvPr/>
        </p:nvSpPr>
        <p:spPr>
          <a:xfrm>
            <a:off x="838200" y="1752599"/>
            <a:ext cx="10541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「失敗したとき」まで設計する</a:t>
            </a:r>
            <a:endParaRPr kumimoji="1" lang="ja-JP" altLang="en-US" sz="26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F2633E-3225-D8BE-44AE-52E9B7EBDE87}"/>
              </a:ext>
            </a:extLst>
          </p:cNvPr>
          <p:cNvSpPr txBox="1"/>
          <p:nvPr/>
        </p:nvSpPr>
        <p:spPr>
          <a:xfrm>
            <a:off x="838199" y="2286000"/>
            <a:ext cx="10541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エラー・二重送信・同時ログインまで考える</a:t>
            </a:r>
            <a:endParaRPr kumimoji="1" lang="ja-JP" altLang="en-US" sz="2400" dirty="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01469BC-FB1C-F175-871A-97D243802662}"/>
              </a:ext>
            </a:extLst>
          </p:cNvPr>
          <p:cNvSpPr/>
          <p:nvPr/>
        </p:nvSpPr>
        <p:spPr>
          <a:xfrm>
            <a:off x="609600" y="3022599"/>
            <a:ext cx="109728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F95358-E707-07D5-3E59-7740B565F933}"/>
              </a:ext>
            </a:extLst>
          </p:cNvPr>
          <p:cNvSpPr txBox="1"/>
          <p:nvPr/>
        </p:nvSpPr>
        <p:spPr>
          <a:xfrm>
            <a:off x="838200" y="3124199"/>
            <a:ext cx="10541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テストが不具合を先に見つける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DB6409-3298-7948-4163-53556A78FDB5}"/>
              </a:ext>
            </a:extLst>
          </p:cNvPr>
          <p:cNvSpPr txBox="1"/>
          <p:nvPr/>
        </p:nvSpPr>
        <p:spPr>
          <a:xfrm>
            <a:off x="838200" y="3657600"/>
            <a:ext cx="10541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テストを増やし、</a:t>
            </a:r>
            <a:r>
              <a:rPr kumimoji="1" lang="en-US" altLang="ja-JP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r>
              <a:rPr kumimoji="1" lang="ja-JP" altLang="en-US" sz="2400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件の不具合を発見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421110B-F4FF-BB25-75C2-7A1AE5AADC2C}"/>
              </a:ext>
            </a:extLst>
          </p:cNvPr>
          <p:cNvSpPr txBox="1"/>
          <p:nvPr/>
        </p:nvSpPr>
        <p:spPr>
          <a:xfrm>
            <a:off x="609600" y="58166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800" b="1" dirty="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FB5EFA4-E470-1F92-3B89-08BEB5CBB357}"/>
              </a:ext>
            </a:extLst>
          </p:cNvPr>
          <p:cNvSpPr/>
          <p:nvPr/>
        </p:nvSpPr>
        <p:spPr>
          <a:xfrm>
            <a:off x="609600" y="4394200"/>
            <a:ext cx="109728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BB1B1D4-C1B9-1D5A-DCC2-A38EEB81B6A0}"/>
              </a:ext>
            </a:extLst>
          </p:cNvPr>
          <p:cNvSpPr txBox="1"/>
          <p:nvPr/>
        </p:nvSpPr>
        <p:spPr>
          <a:xfrm>
            <a:off x="838200" y="4495800"/>
            <a:ext cx="10541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 dirty="0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アプリとインフラを分けて考える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D5CAAF-9409-EF70-09C8-CCD950BB2493}"/>
              </a:ext>
            </a:extLst>
          </p:cNvPr>
          <p:cNvSpPr txBox="1"/>
          <p:nvPr/>
        </p:nvSpPr>
        <p:spPr>
          <a:xfrm>
            <a:off x="838200" y="5029200"/>
            <a:ext cx="10541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原因の切り分けが速くなり、</a:t>
            </a:r>
            <a:r>
              <a:rPr kumimoji="1" lang="en-US" altLang="ja-JP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2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の問題も整理できた</a:t>
            </a:r>
          </a:p>
        </p:txBody>
      </p:sp>
    </p:spTree>
    <p:extLst>
      <p:ext uri="{BB962C8B-B14F-4D97-AF65-F5344CB8AC3E}">
        <p14:creationId xmlns:p14="http://schemas.microsoft.com/office/powerpoint/2010/main" val="108320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3E1E-ABA4-46E7-591B-D2BF3D93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CFE3E33-41C7-E7EA-49DD-7CE3BF270A09}"/>
              </a:ext>
            </a:extLst>
          </p:cNvPr>
          <p:cNvSpPr txBox="1"/>
          <p:nvPr/>
        </p:nvSpPr>
        <p:spPr>
          <a:xfrm>
            <a:off x="609599" y="2540000"/>
            <a:ext cx="76200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ja-JP" altLang="en-US" sz="48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ご清聴</a:t>
            </a:r>
          </a:p>
          <a:p>
            <a:r>
              <a:rPr lang="ja-JP" altLang="en-US" sz="48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ありがとうございました</a:t>
            </a:r>
            <a:endParaRPr kumimoji="1" lang="ja-JP" altLang="en-US" sz="4800" b="1" dirty="0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65B6849-7366-BB81-B7CB-0C2B8FBCE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99" y="1523999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7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1569</Words>
  <Application>Microsoft Office PowerPoint</Application>
  <PresentationFormat>ワイド画面</PresentationFormat>
  <Paragraphs>239</Paragraphs>
  <Slides>10</Slides>
  <Notes>10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大塚　徹真</dc:creator>
  <cp:lastModifiedBy>大塚　徹真</cp:lastModifiedBy>
  <cp:revision>9</cp:revision>
  <dcterms:created xsi:type="dcterms:W3CDTF">2026-10-30T13:59:43Z</dcterms:created>
  <dcterms:modified xsi:type="dcterms:W3CDTF">2026-10-31T10:34:51Z</dcterms:modified>
</cp:coreProperties>
</file>