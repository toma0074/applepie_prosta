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987918-9365-47AF-A037-5698E941ABBB}" type="datetimeFigureOut">
              <a:rPr kumimoji="1" lang="ja-JP" altLang="en-US" smtClean="0"/>
              <a:t>2026/10/30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26D0BF-0984-4B8C-BD90-347F7258570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0416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【15</a:t>
            </a:r>
            <a:r>
              <a:rPr kumimoji="1" lang="ja-JP" altLang="en-US"/>
              <a:t>秒 </a:t>
            </a:r>
            <a:r>
              <a:rPr kumimoji="1" lang="en-US" altLang="ja-JP"/>
              <a:t>/ </a:t>
            </a:r>
            <a:r>
              <a:rPr kumimoji="1" lang="ja-JP" altLang="en-US"/>
              <a:t>累計</a:t>
            </a:r>
            <a:r>
              <a:rPr kumimoji="1" lang="en-US" altLang="ja-JP"/>
              <a:t>0:15】</a:t>
            </a:r>
          </a:p>
          <a:p>
            <a:r>
              <a:rPr kumimoji="1" lang="en-US" altLang="ja-JP"/>
              <a:t>PROSTA</a:t>
            </a:r>
            <a:r>
              <a:rPr kumimoji="1" lang="ja-JP" altLang="en-US"/>
              <a:t>は、プログラミングや</a:t>
            </a:r>
            <a:r>
              <a:rPr kumimoji="1" lang="en-US" altLang="ja-JP"/>
              <a:t>IT</a:t>
            </a:r>
            <a:r>
              <a:rPr kumimoji="1" lang="ja-JP" altLang="en-US"/>
              <a:t>資格の学習を続けるための</a:t>
            </a:r>
            <a:r>
              <a:rPr kumimoji="1" lang="en-US" altLang="ja-JP"/>
              <a:t>Web</a:t>
            </a:r>
            <a:r>
              <a:rPr kumimoji="1" lang="ja-JP" altLang="en-US"/>
              <a:t>アプリです。</a:t>
            </a:r>
          </a:p>
          <a:p>
            <a:r>
              <a:rPr kumimoji="1" lang="ja-JP" altLang="en-US"/>
              <a:t>今日は審査観点に沿って、困りごとと解決策、デモ、そして技術面での挑戦と試行錯誤の順にお話しします。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6D0BF-0984-4B8C-BD90-347F72585707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880680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【30</a:t>
            </a:r>
            <a:r>
              <a:rPr kumimoji="1" lang="ja-JP" altLang="en-US"/>
              <a:t>秒 </a:t>
            </a:r>
            <a:r>
              <a:rPr kumimoji="1" lang="en-US" altLang="ja-JP"/>
              <a:t>/ </a:t>
            </a:r>
            <a:r>
              <a:rPr kumimoji="1" lang="ja-JP" altLang="en-US"/>
              <a:t>累計</a:t>
            </a:r>
            <a:r>
              <a:rPr kumimoji="1" lang="en-US" altLang="ja-JP"/>
              <a:t>0:45】</a:t>
            </a:r>
          </a:p>
          <a:p>
            <a:r>
              <a:rPr kumimoji="1" lang="ja-JP" altLang="en-US"/>
              <a:t>対象は、プログラミングや</a:t>
            </a:r>
            <a:r>
              <a:rPr kumimoji="1" lang="en-US" altLang="ja-JP"/>
              <a:t>IT</a:t>
            </a:r>
            <a:r>
              <a:rPr kumimoji="1" lang="ja-JP" altLang="en-US"/>
              <a:t>資格を学び始めた人です。例えば研修中の新人や学生です。</a:t>
            </a:r>
          </a:p>
          <a:p>
            <a:r>
              <a:rPr kumimoji="1" lang="ja-JP" altLang="en-US"/>
              <a:t>問題を解く場所はたくさんありますが、困るのはその後です。何が苦手か分からない、復習する問題を探すのが手間、そして一人だと続かない。</a:t>
            </a:r>
          </a:p>
          <a:p>
            <a:r>
              <a:rPr kumimoji="1" lang="ja-JP" altLang="en-US"/>
              <a:t>つまり、解いた結果が次の行動につながらないことが、本当の困りごとだと考えました。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6D0BF-0984-4B8C-BD90-347F72585707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49864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【30</a:t>
            </a:r>
            <a:r>
              <a:rPr kumimoji="1" lang="ja-JP" altLang="en-US"/>
              <a:t>秒 </a:t>
            </a:r>
            <a:r>
              <a:rPr kumimoji="1" lang="en-US" altLang="ja-JP"/>
              <a:t>/ </a:t>
            </a:r>
            <a:r>
              <a:rPr kumimoji="1" lang="ja-JP" altLang="en-US"/>
              <a:t>累計</a:t>
            </a:r>
            <a:r>
              <a:rPr kumimoji="1" lang="en-US" altLang="ja-JP"/>
              <a:t>1:15】</a:t>
            </a:r>
          </a:p>
          <a:p>
            <a:r>
              <a:rPr kumimoji="1" lang="en-US" altLang="ja-JP"/>
              <a:t>PROSTA</a:t>
            </a:r>
            <a:r>
              <a:rPr kumimoji="1" lang="ja-JP" altLang="en-US"/>
              <a:t>は、解く、知る、やり直す、続ける、の流れを一つにまとめました。</a:t>
            </a:r>
          </a:p>
          <a:p>
            <a:r>
              <a:rPr kumimoji="1" lang="ja-JP" altLang="en-US"/>
              <a:t>解答すると、分野別の正答率がすぐ分かります。復習モードでは、最後に間違えた問題を自動で出題するので、自分で探す必要がありません。</a:t>
            </a:r>
          </a:p>
          <a:p>
            <a:r>
              <a:rPr kumimoji="1" lang="ja-JP" altLang="en-US"/>
              <a:t>さらに、</a:t>
            </a:r>
            <a:r>
              <a:rPr kumimoji="1" lang="en-US" altLang="ja-JP"/>
              <a:t>EXP</a:t>
            </a:r>
            <a:r>
              <a:rPr kumimoji="1" lang="ja-JP" altLang="en-US"/>
              <a:t>やレベル、予定表、仲間の活動で、学習の積み重ねが見えるようにしています。</a:t>
            </a:r>
          </a:p>
          <a:p>
            <a:r>
              <a:rPr kumimoji="1" lang="ja-JP" altLang="en-US"/>
              <a:t>ブラウザーだけで使え、スマホにも対応し、管理者が問題を追加できるので、実際の学習の場で使える形にしました。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6D0BF-0984-4B8C-BD90-347F72585707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3134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【30</a:t>
            </a:r>
            <a:r>
              <a:rPr kumimoji="1" lang="ja-JP" altLang="en-US"/>
              <a:t>秒 </a:t>
            </a:r>
            <a:r>
              <a:rPr kumimoji="1" lang="en-US" altLang="ja-JP"/>
              <a:t>/ </a:t>
            </a:r>
            <a:r>
              <a:rPr kumimoji="1" lang="ja-JP" altLang="en-US"/>
              <a:t>累計</a:t>
            </a:r>
            <a:r>
              <a:rPr kumimoji="1" lang="en-US" altLang="ja-JP"/>
              <a:t>1:45】</a:t>
            </a:r>
          </a:p>
          <a:p>
            <a:r>
              <a:rPr kumimoji="1" lang="ja-JP" altLang="en-US"/>
              <a:t>学習を続けたくなる仕掛けとして、育てる、達成する、競う、の三つを入れました。</a:t>
            </a:r>
          </a:p>
          <a:p>
            <a:r>
              <a:rPr kumimoji="1" lang="ja-JP" altLang="en-US"/>
              <a:t>正解すると</a:t>
            </a:r>
            <a:r>
              <a:rPr kumimoji="1" lang="en-US" altLang="ja-JP"/>
              <a:t>EXP</a:t>
            </a:r>
            <a:r>
              <a:rPr kumimoji="1" lang="ja-JP" altLang="en-US"/>
              <a:t>がたまり、相棒キャラクターのスタが成長します。結果によって表情も変わります。</a:t>
            </a:r>
          </a:p>
          <a:p>
            <a:r>
              <a:rPr kumimoji="1" lang="ja-JP" altLang="en-US"/>
              <a:t>毎日のクエストや実績で小さな達成感をつくり、フレンドの学習フィードや友達内ランキングで、仲間と刺激し合えます。</a:t>
            </a:r>
          </a:p>
          <a:p>
            <a:r>
              <a:rPr kumimoji="1" lang="ja-JP" altLang="en-US"/>
              <a:t>今後は、ブックマーク、全体ランキング、そしてフレンド対戦へ広げたいと考えています。これらはまだ構想段階です。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6D0BF-0984-4B8C-BD90-347F72585707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63303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【</a:t>
            </a:r>
            <a:r>
              <a:rPr kumimoji="1" lang="ja-JP" altLang="en-US"/>
              <a:t>導入</a:t>
            </a:r>
            <a:r>
              <a:rPr kumimoji="1" lang="en-US" altLang="ja-JP"/>
              <a:t>15</a:t>
            </a:r>
            <a:r>
              <a:rPr kumimoji="1" lang="ja-JP" altLang="en-US"/>
              <a:t>秒＋動画</a:t>
            </a:r>
            <a:r>
              <a:rPr kumimoji="1" lang="en-US" altLang="ja-JP"/>
              <a:t>300</a:t>
            </a:r>
            <a:r>
              <a:rPr kumimoji="1" lang="ja-JP" altLang="en-US"/>
              <a:t>秒 </a:t>
            </a:r>
            <a:r>
              <a:rPr kumimoji="1" lang="en-US" altLang="ja-JP"/>
              <a:t>/ </a:t>
            </a:r>
            <a:r>
              <a:rPr kumimoji="1" lang="ja-JP" altLang="en-US"/>
              <a:t>累計</a:t>
            </a:r>
            <a:r>
              <a:rPr kumimoji="1" lang="en-US" altLang="ja-JP"/>
              <a:t>7:00】</a:t>
            </a:r>
          </a:p>
          <a:p>
            <a:r>
              <a:rPr kumimoji="1" lang="ja-JP" altLang="en-US"/>
              <a:t>（導入）では、実際に動いている画面をご覧ください。注目していただきたいのは、解答結果が復習につながること、積み重ねが成長として見えること、予定と仲間が次の学習を後押しすることです。</a:t>
            </a:r>
          </a:p>
          <a:p>
            <a:r>
              <a:rPr kumimoji="1" lang="ja-JP" altLang="en-US"/>
              <a:t>（ここで動画再生。動画内ナレーションと発表者の声を重ねない）</a:t>
            </a:r>
          </a:p>
          <a:p>
            <a:r>
              <a:rPr kumimoji="1" lang="ja-JP" altLang="en-US"/>
              <a:t>動画の挿入方法・撮影表は「</a:t>
            </a:r>
            <a:r>
              <a:rPr kumimoji="1" lang="en-US" altLang="ja-JP"/>
              <a:t>PROSTA_9</a:t>
            </a:r>
            <a:r>
              <a:rPr kumimoji="1" lang="ja-JP" altLang="en-US"/>
              <a:t>分発表台本</a:t>
            </a:r>
            <a:r>
              <a:rPr kumimoji="1" lang="en-US" altLang="ja-JP"/>
              <a:t>.md</a:t>
            </a:r>
            <a:r>
              <a:rPr kumimoji="1" lang="ja-JP" altLang="en-US"/>
              <a:t>」を参照。動画の位置は左</a:t>
            </a:r>
            <a:r>
              <a:rPr kumimoji="1" lang="en-US" altLang="ja-JP"/>
              <a:t>48pt</a:t>
            </a:r>
            <a:r>
              <a:rPr kumimoji="1" lang="ja-JP" altLang="en-US"/>
              <a:t>・上</a:t>
            </a:r>
            <a:r>
              <a:rPr kumimoji="1" lang="en-US" altLang="ja-JP"/>
              <a:t>135pt</a:t>
            </a:r>
            <a:r>
              <a:rPr kumimoji="1" lang="ja-JP" altLang="en-US"/>
              <a:t>・幅</a:t>
            </a:r>
            <a:r>
              <a:rPr kumimoji="1" lang="en-US" altLang="ja-JP"/>
              <a:t>608pt</a:t>
            </a:r>
            <a:r>
              <a:rPr kumimoji="1" lang="ja-JP" altLang="en-US"/>
              <a:t>・高さ</a:t>
            </a:r>
            <a:r>
              <a:rPr kumimoji="1" lang="en-US" altLang="ja-JP"/>
              <a:t>342pt</a:t>
            </a:r>
            <a:r>
              <a:rPr kumimoji="1" lang="ja-JP" altLang="en-US"/>
              <a:t>。枠と案内文字は削除する。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6D0BF-0984-4B8C-BD90-347F72585707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75803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【30</a:t>
            </a:r>
            <a:r>
              <a:rPr kumimoji="1" lang="ja-JP" altLang="en-US"/>
              <a:t>秒 </a:t>
            </a:r>
            <a:r>
              <a:rPr kumimoji="1" lang="en-US" altLang="ja-JP"/>
              <a:t>/ </a:t>
            </a:r>
            <a:r>
              <a:rPr kumimoji="1" lang="ja-JP" altLang="en-US"/>
              <a:t>累計</a:t>
            </a:r>
            <a:r>
              <a:rPr kumimoji="1" lang="en-US" altLang="ja-JP"/>
              <a:t>7:30】</a:t>
            </a:r>
          </a:p>
          <a:p>
            <a:r>
              <a:rPr kumimoji="1" lang="ja-JP" altLang="en-US"/>
              <a:t>技術面で挑戦したのは、アプリの中とインフラの両方です。</a:t>
            </a:r>
          </a:p>
          <a:p>
            <a:r>
              <a:rPr kumimoji="1" lang="ja-JP" altLang="en-US"/>
              <a:t>インフラは、</a:t>
            </a:r>
            <a:r>
              <a:rPr kumimoji="1" lang="en-US" altLang="ja-JP"/>
              <a:t>OCI</a:t>
            </a:r>
            <a:r>
              <a:rPr kumimoji="1" lang="ja-JP" altLang="en-US"/>
              <a:t>のロードバランサーで</a:t>
            </a:r>
            <a:r>
              <a:rPr kumimoji="1" lang="en-US" altLang="ja-JP"/>
              <a:t>HTTPS</a:t>
            </a:r>
            <a:r>
              <a:rPr kumimoji="1" lang="ja-JP" altLang="en-US"/>
              <a:t>を受け、</a:t>
            </a:r>
            <a:r>
              <a:rPr kumimoji="1" lang="en-US" altLang="ja-JP"/>
              <a:t>VM</a:t>
            </a:r>
            <a:r>
              <a:rPr kumimoji="1" lang="ja-JP" altLang="en-US"/>
              <a:t>上の</a:t>
            </a:r>
            <a:r>
              <a:rPr kumimoji="1" lang="en-US" altLang="ja-JP"/>
              <a:t>Tomcat</a:t>
            </a:r>
            <a:r>
              <a:rPr kumimoji="1" lang="ja-JP" altLang="en-US"/>
              <a:t>と</a:t>
            </a:r>
            <a:r>
              <a:rPr kumimoji="1" lang="en-US" altLang="ja-JP"/>
              <a:t>Oracle</a:t>
            </a:r>
            <a:r>
              <a:rPr kumimoji="1" lang="ja-JP" altLang="en-US"/>
              <a:t>につなぐ構成を、初めて自分たちで組みました。</a:t>
            </a:r>
          </a:p>
          <a:p>
            <a:r>
              <a:rPr kumimoji="1" lang="ja-JP" altLang="en-US"/>
              <a:t>アプリでは、採点から</a:t>
            </a:r>
            <a:r>
              <a:rPr kumimoji="1" lang="en-US" altLang="ja-JP"/>
              <a:t>EXP</a:t>
            </a:r>
            <a:r>
              <a:rPr kumimoji="1" lang="ja-JP" altLang="en-US"/>
              <a:t>、実績までを一つのトランザクションでまとめて保存し、タブごとの学習状態の分離や、最後のログインだけを有効にする仕組みを作りました。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6D0BF-0984-4B8C-BD90-347F72585707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85178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【35</a:t>
            </a:r>
            <a:r>
              <a:rPr kumimoji="1" lang="ja-JP" altLang="en-US"/>
              <a:t>秒 </a:t>
            </a:r>
            <a:r>
              <a:rPr kumimoji="1" lang="en-US" altLang="ja-JP"/>
              <a:t>/ </a:t>
            </a:r>
            <a:r>
              <a:rPr kumimoji="1" lang="ja-JP" altLang="en-US"/>
              <a:t>累計</a:t>
            </a:r>
            <a:r>
              <a:rPr kumimoji="1" lang="en-US" altLang="ja-JP"/>
              <a:t>8:05】</a:t>
            </a:r>
          </a:p>
          <a:p>
            <a:r>
              <a:rPr kumimoji="1" lang="ja-JP" altLang="en-US"/>
              <a:t>試行錯誤した例を三つ紹介します。</a:t>
            </a:r>
          </a:p>
          <a:p>
            <a:r>
              <a:rPr kumimoji="1" lang="ja-JP" altLang="en-US"/>
              <a:t>一つ目は、本来</a:t>
            </a:r>
            <a:r>
              <a:rPr kumimoji="1" lang="en-US" altLang="ja-JP"/>
              <a:t>404</a:t>
            </a:r>
            <a:r>
              <a:rPr kumimoji="1" lang="ja-JP" altLang="en-US"/>
              <a:t>などで返すべきエラーが</a:t>
            </a:r>
            <a:r>
              <a:rPr kumimoji="1" lang="en-US" altLang="ja-JP"/>
              <a:t>500</a:t>
            </a:r>
            <a:r>
              <a:rPr kumimoji="1" lang="ja-JP" altLang="en-US"/>
              <a:t>になる問題です。テストを増やしたところ</a:t>
            </a:r>
            <a:r>
              <a:rPr kumimoji="1" lang="en-US" altLang="ja-JP"/>
              <a:t>40</a:t>
            </a:r>
            <a:r>
              <a:rPr kumimoji="1" lang="ja-JP" altLang="en-US"/>
              <a:t>件見つかりました。原因はトランザクションの扱いで、エラー時は外側でも明示的に取り消すように直しました。</a:t>
            </a:r>
          </a:p>
          <a:p>
            <a:r>
              <a:rPr kumimoji="1" lang="ja-JP" altLang="en-US"/>
              <a:t>二つ目は、再読み込みによる二重採点です。採点後は別の画面へ移動させ、同じタブの処理を順番に実行するようにしました。</a:t>
            </a:r>
          </a:p>
          <a:p>
            <a:r>
              <a:rPr kumimoji="1" lang="ja-JP" altLang="en-US"/>
              <a:t>三つ目は、本番公開での</a:t>
            </a:r>
            <a:r>
              <a:rPr kumimoji="1" lang="en-US" altLang="ja-JP"/>
              <a:t>HTTPS</a:t>
            </a:r>
            <a:r>
              <a:rPr kumimoji="1" lang="ja-JP" altLang="en-US"/>
              <a:t>です。</a:t>
            </a:r>
            <a:r>
              <a:rPr kumimoji="1" lang="en-US" altLang="ja-JP"/>
              <a:t>502</a:t>
            </a:r>
            <a:r>
              <a:rPr kumimoji="1" lang="ja-JP" altLang="en-US"/>
              <a:t>エラーやリダイレクトの繰り返しが起き、暗号化をロードバランサーに集約することで整理しました。</a:t>
            </a:r>
          </a:p>
          <a:p>
            <a:r>
              <a:rPr kumimoji="1" lang="en-US" altLang="ja-JP"/>
              <a:t>※</a:t>
            </a:r>
            <a:r>
              <a:rPr kumimoji="1" lang="ja-JP" altLang="en-US"/>
              <a:t>発表前に本番</a:t>
            </a:r>
            <a:r>
              <a:rPr kumimoji="1" lang="en-US" altLang="ja-JP"/>
              <a:t>HTTPS</a:t>
            </a:r>
            <a:r>
              <a:rPr kumimoji="1" lang="ja-JP" altLang="en-US"/>
              <a:t>の動作を確認し、未解決なら「現在対応中」と言い換えること。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6D0BF-0984-4B8C-BD90-347F72585707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35283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【30</a:t>
            </a:r>
            <a:r>
              <a:rPr kumimoji="1" lang="ja-JP" altLang="en-US"/>
              <a:t>秒 </a:t>
            </a:r>
            <a:r>
              <a:rPr kumimoji="1" lang="en-US" altLang="ja-JP"/>
              <a:t>/ </a:t>
            </a:r>
            <a:r>
              <a:rPr kumimoji="1" lang="ja-JP" altLang="en-US"/>
              <a:t>累計</a:t>
            </a:r>
            <a:r>
              <a:rPr kumimoji="1" lang="en-US" altLang="ja-JP"/>
              <a:t>8:35】</a:t>
            </a:r>
          </a:p>
          <a:p>
            <a:r>
              <a:rPr kumimoji="1" lang="ja-JP" altLang="en-US"/>
              <a:t>デモが安定して動くよう、数字で確認しました。</a:t>
            </a:r>
          </a:p>
          <a:p>
            <a:r>
              <a:rPr kumimoji="1" lang="ja-JP" altLang="en-US"/>
              <a:t>自動テストは</a:t>
            </a:r>
            <a:r>
              <a:rPr kumimoji="1" lang="en-US" altLang="ja-JP"/>
              <a:t>294</a:t>
            </a:r>
            <a:r>
              <a:rPr kumimoji="1" lang="ja-JP" altLang="en-US"/>
              <a:t>件で、失敗とエラーはゼロです。解答</a:t>
            </a:r>
            <a:r>
              <a:rPr kumimoji="1" lang="en-US" altLang="ja-JP"/>
              <a:t>5</a:t>
            </a:r>
            <a:r>
              <a:rPr kumimoji="1" lang="ja-JP" altLang="en-US"/>
              <a:t>万件の大量データでも画面と集計を確認し、</a:t>
            </a:r>
            <a:r>
              <a:rPr kumimoji="1" lang="en-US" altLang="ja-JP"/>
              <a:t>4</a:t>
            </a:r>
            <a:r>
              <a:rPr kumimoji="1" lang="ja-JP" altLang="en-US"/>
              <a:t>ユーザーが同時に使う想定で、</a:t>
            </a:r>
            <a:r>
              <a:rPr kumimoji="1" lang="en-US" altLang="ja-JP"/>
              <a:t>95%</a:t>
            </a:r>
            <a:r>
              <a:rPr kumimoji="1" lang="ja-JP" altLang="en-US"/>
              <a:t>の応答が</a:t>
            </a:r>
            <a:r>
              <a:rPr kumimoji="1" lang="en-US" altLang="ja-JP"/>
              <a:t>44</a:t>
            </a:r>
            <a:r>
              <a:rPr kumimoji="1" lang="ja-JP" altLang="en-US"/>
              <a:t>ミリ秒以内でした。</a:t>
            </a:r>
          </a:p>
          <a:p>
            <a:r>
              <a:rPr kumimoji="1" lang="ja-JP" altLang="en-US"/>
              <a:t>ただし、これはローカルの検証環境での結果で、本番の性能を保証するものではありません。</a:t>
            </a:r>
          </a:p>
          <a:p>
            <a:r>
              <a:rPr kumimoji="1" lang="ja-JP" altLang="en-US"/>
              <a:t>仕組みや判断の理由は実装解説メモにまとめているので、質疑でも説明できます。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6D0BF-0984-4B8C-BD90-347F72585707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69042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/>
              <a:t>【20</a:t>
            </a:r>
            <a:r>
              <a:rPr kumimoji="1" lang="ja-JP" altLang="en-US"/>
              <a:t>秒 </a:t>
            </a:r>
            <a:r>
              <a:rPr kumimoji="1" lang="en-US" altLang="ja-JP"/>
              <a:t>/ </a:t>
            </a:r>
            <a:r>
              <a:rPr kumimoji="1" lang="ja-JP" altLang="en-US"/>
              <a:t>累計</a:t>
            </a:r>
            <a:r>
              <a:rPr kumimoji="1" lang="en-US" altLang="ja-JP"/>
              <a:t>8:55】</a:t>
            </a:r>
          </a:p>
          <a:p>
            <a:r>
              <a:rPr kumimoji="1" lang="ja-JP" altLang="en-US"/>
              <a:t>この開発で学んだのは、正常な流れだけでなく、失敗したときまで設計すること、テストが不具合を先に見つけてくれること、そしてアプリとインフラを分けて考えることです。</a:t>
            </a:r>
          </a:p>
          <a:p>
            <a:r>
              <a:rPr kumimoji="1" lang="ja-JP" altLang="en-US"/>
              <a:t>今後は本番環境での確認を進め、ブックマークや対戦へ広げていきます。</a:t>
            </a:r>
          </a:p>
          <a:p>
            <a:r>
              <a:rPr kumimoji="1" lang="ja-JP" altLang="en-US"/>
              <a:t>解いて終わらない、次の学習につながる。</a:t>
            </a:r>
            <a:r>
              <a:rPr kumimoji="1" lang="en-US" altLang="ja-JP"/>
              <a:t>PROSTA</a:t>
            </a:r>
            <a:r>
              <a:rPr kumimoji="1" lang="ja-JP" altLang="en-US"/>
              <a:t>の紹介でした。ご清聴ありがとうございました。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6D0BF-0984-4B8C-BD90-347F72585707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49063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付録。発表時間外。審査員から観点ごとの質問があったときに参照する。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6D0BF-0984-4B8C-BD90-347F72585707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16056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付録。質疑応答の準備用。詳しくは実装解説メモの「よく聞かれる質問への短い答え」を参照。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26D0BF-0984-4B8C-BD90-347F72585707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2659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1AC180-E2B6-925F-E1AD-CC05403B9B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DBE52DF-7540-FE36-F85D-29AB343B85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57D4FDA-3AB3-8A78-E091-B1C7D515F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ABC01-203E-49B5-BD91-4AB877B1DF76}" type="datetimeFigureOut">
              <a:rPr kumimoji="1" lang="ja-JP" altLang="en-US" smtClean="0"/>
              <a:t>2026/10/30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F7519A8-4509-7295-49F3-F4949F5AE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3B62F9-E870-9D23-0151-1BA37EB2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DE529-BCDF-4A00-B7AB-6E7A6BEB51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3276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47B4A1-B90B-8704-BE43-3999F4B10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FC5DB32-9411-E55F-36EF-27D8FEC57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29DFC2F-B736-0220-4432-C1F7117AA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ABC01-203E-49B5-BD91-4AB877B1DF76}" type="datetimeFigureOut">
              <a:rPr kumimoji="1" lang="ja-JP" altLang="en-US" smtClean="0"/>
              <a:t>2026/10/30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F6E5D62-0958-E894-4205-320578B37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C9DFE87-EDBF-90F6-BBF5-D53104EAD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DE529-BCDF-4A00-B7AB-6E7A6BEB51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2258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F3FC352-3C9F-1405-2D8B-72CF21351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D1B4DB3-10BA-AB92-D350-2ED3DA53A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262CE07-0428-2447-4974-2A12D9EF6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ABC01-203E-49B5-BD91-4AB877B1DF76}" type="datetimeFigureOut">
              <a:rPr kumimoji="1" lang="ja-JP" altLang="en-US" smtClean="0"/>
              <a:t>2026/10/30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6356C79-E367-5DC0-B3AC-BFD714EE8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E94B6AA-EA4E-2219-C19E-527892ADF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DE529-BCDF-4A00-B7AB-6E7A6BEB51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5060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22BA93-5F82-BE8E-014A-CCAA3A689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FBC4351-41B9-E0A4-19A1-96DF0D67C2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2AABD93-88D2-70AD-9EF3-0A78B9AB2A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3436D48-7FE3-BC43-7F7F-728768F3B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ABC01-203E-49B5-BD91-4AB877B1DF76}" type="datetimeFigureOut">
              <a:rPr kumimoji="1" lang="ja-JP" altLang="en-US" smtClean="0"/>
              <a:t>2026/10/30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4C96E05-E053-D527-295E-5E27599C0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43AB237-EBA6-7BFD-5EAF-B7A5C0D82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DE529-BCDF-4A00-B7AB-6E7A6BEB51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1342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BB022C-855F-DE7C-7814-3644B7542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6AC40F3-20DE-FC11-00B4-4643C8BE9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D5B0DD4-1CB2-28FB-855E-7320DCA982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3360E0F-29C8-0FCB-3735-39F2B6BB1A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E724621-14DD-42AB-BECD-E850057D86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78F2DE6-E73D-131B-A58B-BD60027DF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ABC01-203E-49B5-BD91-4AB877B1DF76}" type="datetimeFigureOut">
              <a:rPr kumimoji="1" lang="ja-JP" altLang="en-US" smtClean="0"/>
              <a:t>2026/10/30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9F30880E-1676-8402-5B3B-9556E3023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0033EB3-63B3-DF35-6BD9-981EB6D1C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DE529-BCDF-4A00-B7AB-6E7A6BEB51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2374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B026CA-5B3D-ECE5-76BF-A424560F4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BBC23F0-C48F-9B3E-F376-861E2BC10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ABC01-203E-49B5-BD91-4AB877B1DF76}" type="datetimeFigureOut">
              <a:rPr kumimoji="1" lang="ja-JP" altLang="en-US" smtClean="0"/>
              <a:t>2026/10/30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56596B8-9D8D-4A13-3305-B09A6A37C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2038A62-690B-2109-4CF7-6112CAB97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DE529-BCDF-4A00-B7AB-6E7A6BEB51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5685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355BF59-E12C-792B-0B24-E29B3E91E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ABC01-203E-49B5-BD91-4AB877B1DF76}" type="datetimeFigureOut">
              <a:rPr kumimoji="1" lang="ja-JP" altLang="en-US" smtClean="0"/>
              <a:t>2026/10/30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A9DB20D-3A3B-7651-DC72-D411414B0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4698E5D-95D2-CD0A-8036-0BD66A441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DE529-BCDF-4A00-B7AB-6E7A6BEB51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1064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87E686-D5C6-5565-F6B6-7E8181596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F1C8E8A-81BA-5B4D-7BC8-1F9BA01AD9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4EFAEA1-7A57-6405-77AC-2867C76196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9EE55B6-1E54-3101-35AC-409095455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ABC01-203E-49B5-BD91-4AB877B1DF76}" type="datetimeFigureOut">
              <a:rPr kumimoji="1" lang="ja-JP" altLang="en-US" smtClean="0"/>
              <a:t>2026/10/30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96D201B-149A-ADB8-2EB0-2B1DA2079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1E8A95D-FCD1-EBA3-4987-D0F0AB1A3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DE529-BCDF-4A00-B7AB-6E7A6BEB51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4294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6E8468-924A-7C15-BA42-39FCF7540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90EF428-C8FB-5B9C-3D3F-38DF415048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57C2C8B-33CB-23D0-42C2-2D738E4D27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24FB59F-8EBF-BE0D-22B0-39FDA5B98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ABC01-203E-49B5-BD91-4AB877B1DF76}" type="datetimeFigureOut">
              <a:rPr kumimoji="1" lang="ja-JP" altLang="en-US" smtClean="0"/>
              <a:t>2026/10/30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720541D-8A82-7042-549F-3B4C013BF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3A39E6F-A8E0-7143-68FA-7BC7830EB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DE529-BCDF-4A00-B7AB-6E7A6BEB51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6558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7DEBD5-DF03-B554-A0DC-771D27915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A3D2CF3-8D73-E46A-9FB6-15E8522468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6AFB878-7FC6-D5B7-8F1E-3EA101ACD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ABC01-203E-49B5-BD91-4AB877B1DF76}" type="datetimeFigureOut">
              <a:rPr kumimoji="1" lang="ja-JP" altLang="en-US" smtClean="0"/>
              <a:t>2026/10/30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7D615FD-7CB1-57E9-B287-2B48FCA54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C7E4FD1-7AB2-9BD7-43C5-B9FD6877D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DE529-BCDF-4A00-B7AB-6E7A6BEB51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2212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B889B0F-2581-2568-7122-D423D70B19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600E249-94CB-B3FE-1D05-08CA562EC0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FC2E650-057A-434A-8A70-5F60C946F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ABC01-203E-49B5-BD91-4AB877B1DF76}" type="datetimeFigureOut">
              <a:rPr kumimoji="1" lang="ja-JP" altLang="en-US" smtClean="0"/>
              <a:t>2026/10/30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40AF59C-E66F-7545-9139-3015BF91D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A9F98B1-C07B-32AD-66D3-9A9E463A3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DE529-BCDF-4A00-B7AB-6E7A6BEB51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9203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809FFE1-E601-8352-32DF-FD7444789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1703BDB-6780-9DD1-0AD4-7FC34CAC67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CE3ED93-FF3B-0774-0C59-8070D778BD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DABC01-203E-49B5-BD91-4AB877B1DF76}" type="datetimeFigureOut">
              <a:rPr kumimoji="1" lang="ja-JP" altLang="en-US" smtClean="0"/>
              <a:t>2026/10/30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6DF5023-0336-25A1-C689-62DBE2E3D8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4AF39BD-D0A1-3C7E-DA0A-B13C580B2E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ADE529-BCDF-4A00-B7AB-6E7A6BEB519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2769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B4B94499-8E43-475E-1A89-67A2EFDA3E2F}"/>
              </a:ext>
            </a:extLst>
          </p:cNvPr>
          <p:cNvSpPr/>
          <p:nvPr/>
        </p:nvSpPr>
        <p:spPr>
          <a:xfrm>
            <a:off x="482600" y="406400"/>
            <a:ext cx="76200" cy="330200"/>
          </a:xfrm>
          <a:prstGeom prst="roundRect">
            <a:avLst>
              <a:gd name="adj" fmla="val 6000"/>
            </a:avLst>
          </a:prstGeom>
          <a:solidFill>
            <a:srgbClr val="09847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09E77A4-5647-BB10-E941-B2E07183ADB4}"/>
              </a:ext>
            </a:extLst>
          </p:cNvPr>
          <p:cNvSpPr txBox="1"/>
          <p:nvPr/>
        </p:nvSpPr>
        <p:spPr>
          <a:xfrm>
            <a:off x="685800" y="4445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3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01 / INTRODUCTION</a:t>
            </a:r>
            <a:endParaRPr kumimoji="1" lang="ja-JP" altLang="en-US" sz="1300" b="1">
              <a:solidFill>
                <a:srgbClr val="09847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D09B266-CE1B-EE79-B344-81CD2ABF69D4}"/>
              </a:ext>
            </a:extLst>
          </p:cNvPr>
          <p:cNvSpPr txBox="1"/>
          <p:nvPr/>
        </p:nvSpPr>
        <p:spPr>
          <a:xfrm>
            <a:off x="609600" y="9652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endParaRPr kumimoji="1" lang="ja-JP" altLang="en-US" sz="2800" b="1">
              <a:solidFill>
                <a:srgbClr val="132238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D37DAC3-F561-6C95-E58A-40E3931B4CEA}"/>
              </a:ext>
            </a:extLst>
          </p:cNvPr>
          <p:cNvSpPr txBox="1"/>
          <p:nvPr/>
        </p:nvSpPr>
        <p:spPr>
          <a:xfrm>
            <a:off x="609600" y="64516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0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PROSTA  /  </a:t>
            </a:r>
            <a:r>
              <a:rPr kumimoji="1" lang="ja-JP" altLang="en-US" sz="10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解いて終わらない。次の学習につながる。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D9881E0-DE0E-3538-368B-CF178D7A917E}"/>
              </a:ext>
            </a:extLst>
          </p:cNvPr>
          <p:cNvSpPr txBox="1"/>
          <p:nvPr/>
        </p:nvSpPr>
        <p:spPr>
          <a:xfrm>
            <a:off x="9652000" y="6451600"/>
            <a:ext cx="193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kumimoji="1" lang="en-US" altLang="ja-JP" sz="10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01  /  0:00–0:15</a:t>
            </a:r>
            <a:endParaRPr kumimoji="1" lang="ja-JP" altLang="en-US" sz="1000">
              <a:solidFill>
                <a:srgbClr val="5C6F8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CE39E4C-4EB8-2CEF-F124-57BB28D5DFB7}"/>
              </a:ext>
            </a:extLst>
          </p:cNvPr>
          <p:cNvSpPr txBox="1"/>
          <p:nvPr/>
        </p:nvSpPr>
        <p:spPr>
          <a:xfrm>
            <a:off x="609600" y="1524000"/>
            <a:ext cx="812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54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PROSTA</a:t>
            </a:r>
            <a:endParaRPr kumimoji="1" lang="ja-JP" altLang="en-US" sz="5400" b="1">
              <a:solidFill>
                <a:srgbClr val="132238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557BC7B-79CC-849A-223E-86FF190C14B7}"/>
              </a:ext>
            </a:extLst>
          </p:cNvPr>
          <p:cNvSpPr txBox="1"/>
          <p:nvPr/>
        </p:nvSpPr>
        <p:spPr>
          <a:xfrm>
            <a:off x="609600" y="2603500"/>
            <a:ext cx="812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30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解いて終わらない。
次の学習につながる。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43B9045-478F-196D-2907-6157977ECBE5}"/>
              </a:ext>
            </a:extLst>
          </p:cNvPr>
          <p:cNvSpPr txBox="1"/>
          <p:nvPr/>
        </p:nvSpPr>
        <p:spPr>
          <a:xfrm>
            <a:off x="609600" y="3873500"/>
            <a:ext cx="812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7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プログラミング・</a:t>
            </a:r>
            <a:r>
              <a:rPr kumimoji="1" lang="en-US" altLang="ja-JP" sz="17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IT</a:t>
            </a:r>
            <a:r>
              <a:rPr kumimoji="1" lang="ja-JP" altLang="en-US" sz="17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資格の学習を続けるための</a:t>
            </a:r>
            <a:r>
              <a:rPr kumimoji="1" lang="en-US" altLang="ja-JP" sz="17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Web</a:t>
            </a:r>
            <a:r>
              <a:rPr kumimoji="1" lang="ja-JP" altLang="en-US" sz="17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アプリ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7A458F6B-719F-4526-0192-055BA6750438}"/>
              </a:ext>
            </a:extLst>
          </p:cNvPr>
          <p:cNvSpPr/>
          <p:nvPr/>
        </p:nvSpPr>
        <p:spPr>
          <a:xfrm>
            <a:off x="609600" y="4572000"/>
            <a:ext cx="8128000" cy="1397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9FDD508-CB18-DD8F-DFCA-10AC21D8EC55}"/>
              </a:ext>
            </a:extLst>
          </p:cNvPr>
          <p:cNvSpPr txBox="1"/>
          <p:nvPr/>
        </p:nvSpPr>
        <p:spPr>
          <a:xfrm>
            <a:off x="863600" y="47498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3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本日の流れ（審査観点に沿って）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F93C1D0-E128-69B8-9181-DB13B44F2B05}"/>
              </a:ext>
            </a:extLst>
          </p:cNvPr>
          <p:cNvSpPr txBox="1"/>
          <p:nvPr/>
        </p:nvSpPr>
        <p:spPr>
          <a:xfrm>
            <a:off x="863600" y="51054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困りごと解決：課題 → 解決策と効果 → ワクワク・独創性
実際の動き：</a:t>
            </a:r>
            <a:r>
              <a:rPr kumimoji="1" lang="en-US" altLang="ja-JP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</a:t>
            </a:r>
            <a:r>
              <a:rPr kumimoji="1" lang="ja-JP" altLang="en-US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分デモ
若手技術者らしさ：技術チャレンジ → 試行錯誤 → 実現力 → 学び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52E884D5-8D0F-463B-FFFC-BA4E4294DF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1000" y="2159000"/>
            <a:ext cx="2159000" cy="215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6793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BEC153EB-9977-5294-7D39-55A8C417225B}"/>
              </a:ext>
            </a:extLst>
          </p:cNvPr>
          <p:cNvSpPr/>
          <p:nvPr/>
        </p:nvSpPr>
        <p:spPr>
          <a:xfrm>
            <a:off x="482600" y="406400"/>
            <a:ext cx="76200" cy="330200"/>
          </a:xfrm>
          <a:prstGeom prst="roundRect">
            <a:avLst>
              <a:gd name="adj" fmla="val 6000"/>
            </a:avLst>
          </a:prstGeom>
          <a:solidFill>
            <a:srgbClr val="09847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8F81FE6-22AD-D99C-EB41-8CCD684BA0D2}"/>
              </a:ext>
            </a:extLst>
          </p:cNvPr>
          <p:cNvSpPr txBox="1"/>
          <p:nvPr/>
        </p:nvSpPr>
        <p:spPr>
          <a:xfrm>
            <a:off x="685800" y="4445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3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02 / PROBLEM</a:t>
            </a:r>
            <a:endParaRPr kumimoji="1" lang="ja-JP" altLang="en-US" sz="1300" b="1">
              <a:solidFill>
                <a:srgbClr val="09847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F94F006-7E4F-0E9D-5F17-E5BD0A05480C}"/>
              </a:ext>
            </a:extLst>
          </p:cNvPr>
          <p:cNvSpPr txBox="1"/>
          <p:nvPr/>
        </p:nvSpPr>
        <p:spPr>
          <a:xfrm>
            <a:off x="609600" y="9652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8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誰の、どんな困りごとか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955ED8BA-1559-CA25-08A9-A8AFA0AD1B15}"/>
              </a:ext>
            </a:extLst>
          </p:cNvPr>
          <p:cNvSpPr/>
          <p:nvPr/>
        </p:nvSpPr>
        <p:spPr>
          <a:xfrm>
            <a:off x="7620000" y="355600"/>
            <a:ext cx="3962400" cy="381000"/>
          </a:xfrm>
          <a:prstGeom prst="roundRect">
            <a:avLst>
              <a:gd name="adj" fmla="val 50000"/>
            </a:avLst>
          </a:prstGeom>
          <a:solidFill>
            <a:srgbClr val="2F54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7F029F9-1D0A-785A-808F-3116041DB4D8}"/>
              </a:ext>
            </a:extLst>
          </p:cNvPr>
          <p:cNvSpPr txBox="1"/>
          <p:nvPr/>
        </p:nvSpPr>
        <p:spPr>
          <a:xfrm>
            <a:off x="7747000" y="431800"/>
            <a:ext cx="370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ja-JP" altLang="en-US" sz="12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困りごと解決｜課題解決価値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8B517DF-C98A-DD86-36C6-D00448A147EB}"/>
              </a:ext>
            </a:extLst>
          </p:cNvPr>
          <p:cNvSpPr txBox="1"/>
          <p:nvPr/>
        </p:nvSpPr>
        <p:spPr>
          <a:xfrm>
            <a:off x="609600" y="64516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0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PROSTA  /  </a:t>
            </a:r>
            <a:r>
              <a:rPr kumimoji="1" lang="ja-JP" altLang="en-US" sz="10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解いて終わらない。次の学習につながる。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1FB3511-A920-1E5C-6262-358D75095746}"/>
              </a:ext>
            </a:extLst>
          </p:cNvPr>
          <p:cNvSpPr txBox="1"/>
          <p:nvPr/>
        </p:nvSpPr>
        <p:spPr>
          <a:xfrm>
            <a:off x="9652000" y="6451600"/>
            <a:ext cx="193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kumimoji="1" lang="en-US" altLang="ja-JP" sz="10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02  /  0:15–0:45</a:t>
            </a:r>
            <a:endParaRPr kumimoji="1" lang="ja-JP" altLang="en-US" sz="1000">
              <a:solidFill>
                <a:srgbClr val="5C6F8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788D8AAA-2A70-91DC-46C5-15B0A5D763F8}"/>
              </a:ext>
            </a:extLst>
          </p:cNvPr>
          <p:cNvSpPr/>
          <p:nvPr/>
        </p:nvSpPr>
        <p:spPr>
          <a:xfrm>
            <a:off x="609600" y="1778000"/>
            <a:ext cx="3810000" cy="3810000"/>
          </a:xfrm>
          <a:prstGeom prst="roundRect">
            <a:avLst>
              <a:gd name="adj" fmla="val 6000"/>
            </a:avLst>
          </a:prstGeom>
          <a:solidFill>
            <a:srgbClr val="E4EC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E5ECF5F-F315-AB36-B8B2-0295D44C440E}"/>
              </a:ext>
            </a:extLst>
          </p:cNvPr>
          <p:cNvSpPr txBox="1"/>
          <p:nvPr/>
        </p:nvSpPr>
        <p:spPr>
          <a:xfrm>
            <a:off x="863600" y="20066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500" b="1">
                <a:solidFill>
                  <a:srgbClr val="2F549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対象ユーザー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A3D0298-A42A-02BF-01FD-B120DBE5D2D8}"/>
              </a:ext>
            </a:extLst>
          </p:cNvPr>
          <p:cNvSpPr txBox="1"/>
          <p:nvPr/>
        </p:nvSpPr>
        <p:spPr>
          <a:xfrm>
            <a:off x="863600" y="24130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1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プログラミング・</a:t>
            </a:r>
            <a:r>
              <a:rPr kumimoji="1" lang="en-US" altLang="ja-JP" sz="21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IT</a:t>
            </a:r>
            <a:r>
              <a:rPr kumimoji="1" lang="ja-JP" altLang="en-US" sz="21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資格を
学び始めた人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6D3481A-AA11-A671-7EA8-B577973C0C58}"/>
              </a:ext>
            </a:extLst>
          </p:cNvPr>
          <p:cNvSpPr txBox="1"/>
          <p:nvPr/>
        </p:nvSpPr>
        <p:spPr>
          <a:xfrm>
            <a:off x="863600" y="35814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4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例：研修中の新人、学生
問題集や</a:t>
            </a:r>
            <a:r>
              <a:rPr kumimoji="1" lang="en-US" altLang="ja-JP" sz="14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Web</a:t>
            </a:r>
            <a:r>
              <a:rPr kumimoji="1" lang="ja-JP" altLang="en-US" sz="14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で演習はできるが、
「その後どうするか」を
自分で決める必要がある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901BD1CB-CFAF-B2A7-6337-A95DE49462B6}"/>
              </a:ext>
            </a:extLst>
          </p:cNvPr>
          <p:cNvSpPr/>
          <p:nvPr/>
        </p:nvSpPr>
        <p:spPr>
          <a:xfrm>
            <a:off x="4673600" y="1778000"/>
            <a:ext cx="69088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3DDD69E-CF49-717D-CB65-EDE753E8BF1A}"/>
              </a:ext>
            </a:extLst>
          </p:cNvPr>
          <p:cNvSpPr txBox="1"/>
          <p:nvPr/>
        </p:nvSpPr>
        <p:spPr>
          <a:xfrm>
            <a:off x="4927600" y="19558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2600" b="1">
                <a:solidFill>
                  <a:srgbClr val="2F549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01</a:t>
            </a:r>
            <a:endParaRPr kumimoji="1" lang="ja-JP" altLang="en-US" sz="2600" b="1">
              <a:solidFill>
                <a:srgbClr val="2F5496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32F5B5C-9838-6C41-30D2-A9194AE92E09}"/>
              </a:ext>
            </a:extLst>
          </p:cNvPr>
          <p:cNvSpPr txBox="1"/>
          <p:nvPr/>
        </p:nvSpPr>
        <p:spPr>
          <a:xfrm>
            <a:off x="5588000" y="1955800"/>
            <a:ext cx="571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0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何が苦手か分からない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BA61D5B-CE17-E826-CF1F-EE779C5EBD93}"/>
              </a:ext>
            </a:extLst>
          </p:cNvPr>
          <p:cNvSpPr txBox="1"/>
          <p:nvPr/>
        </p:nvSpPr>
        <p:spPr>
          <a:xfrm>
            <a:off x="5588000" y="2413000"/>
            <a:ext cx="571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4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解いた結果が散らばり、弱点が見えない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822B5D39-9682-7F9C-411B-E3C5221FC3C6}"/>
              </a:ext>
            </a:extLst>
          </p:cNvPr>
          <p:cNvSpPr/>
          <p:nvPr/>
        </p:nvSpPr>
        <p:spPr>
          <a:xfrm>
            <a:off x="4673600" y="3073400"/>
            <a:ext cx="69088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56673E9-83BD-4567-6D3B-C458CBA65E16}"/>
              </a:ext>
            </a:extLst>
          </p:cNvPr>
          <p:cNvSpPr txBox="1"/>
          <p:nvPr/>
        </p:nvSpPr>
        <p:spPr>
          <a:xfrm>
            <a:off x="4927600" y="32512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2600" b="1">
                <a:solidFill>
                  <a:srgbClr val="2F549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02</a:t>
            </a:r>
            <a:endParaRPr kumimoji="1" lang="ja-JP" altLang="en-US" sz="2600" b="1">
              <a:solidFill>
                <a:srgbClr val="2F5496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6109B7F-F023-7977-5B7F-6D6FC71E3E15}"/>
              </a:ext>
            </a:extLst>
          </p:cNvPr>
          <p:cNvSpPr txBox="1"/>
          <p:nvPr/>
        </p:nvSpPr>
        <p:spPr>
          <a:xfrm>
            <a:off x="5588000" y="3251200"/>
            <a:ext cx="571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0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復習する問題を探すのが手間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1BBEF2D1-01F9-468A-8A1B-EA4AF9ED8BBE}"/>
              </a:ext>
            </a:extLst>
          </p:cNvPr>
          <p:cNvSpPr txBox="1"/>
          <p:nvPr/>
        </p:nvSpPr>
        <p:spPr>
          <a:xfrm>
            <a:off x="5588000" y="3708400"/>
            <a:ext cx="571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4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間違えた問題を自分で記録・管理している</a:t>
            </a: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CB175BE7-AB4B-BA0B-E969-2009A2456E50}"/>
              </a:ext>
            </a:extLst>
          </p:cNvPr>
          <p:cNvSpPr/>
          <p:nvPr/>
        </p:nvSpPr>
        <p:spPr>
          <a:xfrm>
            <a:off x="4673600" y="4368800"/>
            <a:ext cx="69088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C992E1F5-2FA7-FABF-0293-3F9D71E4393A}"/>
              </a:ext>
            </a:extLst>
          </p:cNvPr>
          <p:cNvSpPr txBox="1"/>
          <p:nvPr/>
        </p:nvSpPr>
        <p:spPr>
          <a:xfrm>
            <a:off x="4927600" y="4546600"/>
            <a:ext cx="5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2600" b="1">
                <a:solidFill>
                  <a:srgbClr val="2F549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03</a:t>
            </a:r>
            <a:endParaRPr kumimoji="1" lang="ja-JP" altLang="en-US" sz="2600" b="1">
              <a:solidFill>
                <a:srgbClr val="2F5496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97325E4C-5B46-09BD-6CB4-7E1AFF6326B9}"/>
              </a:ext>
            </a:extLst>
          </p:cNvPr>
          <p:cNvSpPr txBox="1"/>
          <p:nvPr/>
        </p:nvSpPr>
        <p:spPr>
          <a:xfrm>
            <a:off x="5588000" y="4546600"/>
            <a:ext cx="571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0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一人だと続かない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205B4C41-8D31-687F-0D07-07B39BDEE16D}"/>
              </a:ext>
            </a:extLst>
          </p:cNvPr>
          <p:cNvSpPr txBox="1"/>
          <p:nvPr/>
        </p:nvSpPr>
        <p:spPr>
          <a:xfrm>
            <a:off x="5588000" y="5003800"/>
            <a:ext cx="571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4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積み重ねが見えず、やる気が続きにくい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89F37B65-002D-AB57-28C4-002145E75A13}"/>
              </a:ext>
            </a:extLst>
          </p:cNvPr>
          <p:cNvSpPr txBox="1"/>
          <p:nvPr/>
        </p:nvSpPr>
        <p:spPr>
          <a:xfrm>
            <a:off x="609600" y="57785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b="1">
                <a:solidFill>
                  <a:srgbClr val="2F549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→ 解いた結果が「次の行動」につながらないことが、本当の困りごと</a:t>
            </a:r>
          </a:p>
        </p:txBody>
      </p:sp>
    </p:spTree>
    <p:extLst>
      <p:ext uri="{BB962C8B-B14F-4D97-AF65-F5344CB8AC3E}">
        <p14:creationId xmlns:p14="http://schemas.microsoft.com/office/powerpoint/2010/main" val="3111778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FE34A7D0-4D54-2EAA-BBC7-C0E62D8F276E}"/>
              </a:ext>
            </a:extLst>
          </p:cNvPr>
          <p:cNvSpPr/>
          <p:nvPr/>
        </p:nvSpPr>
        <p:spPr>
          <a:xfrm>
            <a:off x="482600" y="406400"/>
            <a:ext cx="76200" cy="330200"/>
          </a:xfrm>
          <a:prstGeom prst="roundRect">
            <a:avLst>
              <a:gd name="adj" fmla="val 6000"/>
            </a:avLst>
          </a:prstGeom>
          <a:solidFill>
            <a:srgbClr val="09847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90026A5-4877-B323-80E2-F3A8432D37B4}"/>
              </a:ext>
            </a:extLst>
          </p:cNvPr>
          <p:cNvSpPr txBox="1"/>
          <p:nvPr/>
        </p:nvSpPr>
        <p:spPr>
          <a:xfrm>
            <a:off x="685800" y="4445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3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03 / SOLUTION</a:t>
            </a:r>
            <a:endParaRPr kumimoji="1" lang="ja-JP" altLang="en-US" sz="1300" b="1">
              <a:solidFill>
                <a:srgbClr val="09847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83C2BF1-7712-C70B-6A7D-C4BCEB64FA3E}"/>
              </a:ext>
            </a:extLst>
          </p:cNvPr>
          <p:cNvSpPr txBox="1"/>
          <p:nvPr/>
        </p:nvSpPr>
        <p:spPr>
          <a:xfrm>
            <a:off x="609600" y="9652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8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解いた結果を、自動で次の一歩につなげる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C59792C2-B416-09AB-39C5-93BDCD4B3630}"/>
              </a:ext>
            </a:extLst>
          </p:cNvPr>
          <p:cNvSpPr/>
          <p:nvPr/>
        </p:nvSpPr>
        <p:spPr>
          <a:xfrm>
            <a:off x="7620000" y="355600"/>
            <a:ext cx="3962400" cy="381000"/>
          </a:xfrm>
          <a:prstGeom prst="roundRect">
            <a:avLst>
              <a:gd name="adj" fmla="val 50000"/>
            </a:avLst>
          </a:prstGeom>
          <a:solidFill>
            <a:srgbClr val="2F54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594C73D-B45C-CAD4-82E7-4C8DC272D415}"/>
              </a:ext>
            </a:extLst>
          </p:cNvPr>
          <p:cNvSpPr txBox="1"/>
          <p:nvPr/>
        </p:nvSpPr>
        <p:spPr>
          <a:xfrm>
            <a:off x="7747000" y="431800"/>
            <a:ext cx="370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ja-JP" altLang="en-US" sz="12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困りごと解決｜解決効果・実用性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A24FE0E-AC5A-2C12-3CDB-901130D44705}"/>
              </a:ext>
            </a:extLst>
          </p:cNvPr>
          <p:cNvSpPr txBox="1"/>
          <p:nvPr/>
        </p:nvSpPr>
        <p:spPr>
          <a:xfrm>
            <a:off x="609600" y="64516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0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PROSTA  /  </a:t>
            </a:r>
            <a:r>
              <a:rPr kumimoji="1" lang="ja-JP" altLang="en-US" sz="10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解いて終わらない。次の学習につながる。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E32C861-AC15-CEC8-4B5A-D55607E5CEAC}"/>
              </a:ext>
            </a:extLst>
          </p:cNvPr>
          <p:cNvSpPr txBox="1"/>
          <p:nvPr/>
        </p:nvSpPr>
        <p:spPr>
          <a:xfrm>
            <a:off x="9652000" y="6451600"/>
            <a:ext cx="193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kumimoji="1" lang="en-US" altLang="ja-JP" sz="10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03  /  0:45–1:15</a:t>
            </a:r>
            <a:endParaRPr kumimoji="1" lang="ja-JP" altLang="en-US" sz="1000">
              <a:solidFill>
                <a:srgbClr val="5C6F8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02E27AC9-0C41-0DC0-768C-B0B88E2D6AC9}"/>
              </a:ext>
            </a:extLst>
          </p:cNvPr>
          <p:cNvSpPr/>
          <p:nvPr/>
        </p:nvSpPr>
        <p:spPr>
          <a:xfrm>
            <a:off x="609600" y="1778000"/>
            <a:ext cx="248920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F88554D-3261-92A1-6808-DFF9FB8D5E5C}"/>
              </a:ext>
            </a:extLst>
          </p:cNvPr>
          <p:cNvSpPr txBox="1"/>
          <p:nvPr/>
        </p:nvSpPr>
        <p:spPr>
          <a:xfrm>
            <a:off x="812800" y="1930400"/>
            <a:ext cx="208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600" b="1">
                <a:solidFill>
                  <a:srgbClr val="2F549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解く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2B34835-3E88-0CDB-C5D9-AEB1F3485A38}"/>
              </a:ext>
            </a:extLst>
          </p:cNvPr>
          <p:cNvSpPr txBox="1"/>
          <p:nvPr/>
        </p:nvSpPr>
        <p:spPr>
          <a:xfrm>
            <a:off x="812800" y="25400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カテゴリ・難易度別
最大</a:t>
            </a:r>
            <a:r>
              <a:rPr kumimoji="1" lang="en-US" altLang="ja-JP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15</a:t>
            </a:r>
            <a:r>
              <a:rPr kumimoji="1" lang="ja-JP" altLang="en-US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問・採点・解説</a:t>
            </a:r>
          </a:p>
        </p:txBody>
      </p:sp>
      <p:sp>
        <p:nvSpPr>
          <p:cNvPr id="12" name="矢印: 右 11">
            <a:extLst>
              <a:ext uri="{FF2B5EF4-FFF2-40B4-BE49-F238E27FC236}">
                <a16:creationId xmlns:a16="http://schemas.microsoft.com/office/drawing/2014/main" id="{5F453ACD-B39F-AFB1-B9BC-BB42CD064A8D}"/>
              </a:ext>
            </a:extLst>
          </p:cNvPr>
          <p:cNvSpPr/>
          <p:nvPr/>
        </p:nvSpPr>
        <p:spPr>
          <a:xfrm>
            <a:off x="3136900" y="2565400"/>
            <a:ext cx="254000" cy="330200"/>
          </a:xfrm>
          <a:prstGeom prst="rightArrow">
            <a:avLst/>
          </a:prstGeom>
          <a:solidFill>
            <a:srgbClr val="2F54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E59482A9-78EB-1F2A-F6E5-39F6D03D42EF}"/>
              </a:ext>
            </a:extLst>
          </p:cNvPr>
          <p:cNvSpPr/>
          <p:nvPr/>
        </p:nvSpPr>
        <p:spPr>
          <a:xfrm>
            <a:off x="3429000" y="1778000"/>
            <a:ext cx="248920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C163975-C1B6-8FD9-B83F-C1B87A21417E}"/>
              </a:ext>
            </a:extLst>
          </p:cNvPr>
          <p:cNvSpPr txBox="1"/>
          <p:nvPr/>
        </p:nvSpPr>
        <p:spPr>
          <a:xfrm>
            <a:off x="3632200" y="1930400"/>
            <a:ext cx="208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600" b="1">
                <a:solidFill>
                  <a:srgbClr val="2F549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知る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FA279B2-5A01-0709-360A-8006F2203FC8}"/>
              </a:ext>
            </a:extLst>
          </p:cNvPr>
          <p:cNvSpPr txBox="1"/>
          <p:nvPr/>
        </p:nvSpPr>
        <p:spPr>
          <a:xfrm>
            <a:off x="3632200" y="25400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正答率・誤答回数
カテゴリ別グラフ</a:t>
            </a:r>
          </a:p>
        </p:txBody>
      </p:sp>
      <p:sp>
        <p:nvSpPr>
          <p:cNvPr id="16" name="矢印: 右 15">
            <a:extLst>
              <a:ext uri="{FF2B5EF4-FFF2-40B4-BE49-F238E27FC236}">
                <a16:creationId xmlns:a16="http://schemas.microsoft.com/office/drawing/2014/main" id="{5D7B0722-D881-243C-8065-FD43CD6CA100}"/>
              </a:ext>
            </a:extLst>
          </p:cNvPr>
          <p:cNvSpPr/>
          <p:nvPr/>
        </p:nvSpPr>
        <p:spPr>
          <a:xfrm>
            <a:off x="5956300" y="2565400"/>
            <a:ext cx="254000" cy="330200"/>
          </a:xfrm>
          <a:prstGeom prst="rightArrow">
            <a:avLst/>
          </a:prstGeom>
          <a:solidFill>
            <a:srgbClr val="2F54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E6683FAE-DE37-C19D-8FE1-335593C79089}"/>
              </a:ext>
            </a:extLst>
          </p:cNvPr>
          <p:cNvSpPr/>
          <p:nvPr/>
        </p:nvSpPr>
        <p:spPr>
          <a:xfrm>
            <a:off x="6248400" y="1778000"/>
            <a:ext cx="248920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6ACA5A3-42C1-2DD9-E49C-EE727C14BC47}"/>
              </a:ext>
            </a:extLst>
          </p:cNvPr>
          <p:cNvSpPr txBox="1"/>
          <p:nvPr/>
        </p:nvSpPr>
        <p:spPr>
          <a:xfrm>
            <a:off x="6451600" y="1930400"/>
            <a:ext cx="208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600" b="1">
                <a:solidFill>
                  <a:srgbClr val="2F549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やり直す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56CF7FAD-21DE-AF9E-139D-71B4C1A5194F}"/>
              </a:ext>
            </a:extLst>
          </p:cNvPr>
          <p:cNvSpPr txBox="1"/>
          <p:nvPr/>
        </p:nvSpPr>
        <p:spPr>
          <a:xfrm>
            <a:off x="6451600" y="25400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最新が誤答の問題を
自動で復習出題</a:t>
            </a:r>
          </a:p>
        </p:txBody>
      </p:sp>
      <p:sp>
        <p:nvSpPr>
          <p:cNvPr id="20" name="矢印: 右 19">
            <a:extLst>
              <a:ext uri="{FF2B5EF4-FFF2-40B4-BE49-F238E27FC236}">
                <a16:creationId xmlns:a16="http://schemas.microsoft.com/office/drawing/2014/main" id="{F4A66010-EE9E-27D1-6359-145097434E7E}"/>
              </a:ext>
            </a:extLst>
          </p:cNvPr>
          <p:cNvSpPr/>
          <p:nvPr/>
        </p:nvSpPr>
        <p:spPr>
          <a:xfrm>
            <a:off x="8775700" y="2565400"/>
            <a:ext cx="254000" cy="330200"/>
          </a:xfrm>
          <a:prstGeom prst="rightArrow">
            <a:avLst/>
          </a:prstGeom>
          <a:solidFill>
            <a:srgbClr val="2F54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80C29069-294E-7841-AA10-554BE3654697}"/>
              </a:ext>
            </a:extLst>
          </p:cNvPr>
          <p:cNvSpPr/>
          <p:nvPr/>
        </p:nvSpPr>
        <p:spPr>
          <a:xfrm>
            <a:off x="9067800" y="1778000"/>
            <a:ext cx="248920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F3BDB5BE-7679-9601-E7D4-15C24DC1DDDE}"/>
              </a:ext>
            </a:extLst>
          </p:cNvPr>
          <p:cNvSpPr txBox="1"/>
          <p:nvPr/>
        </p:nvSpPr>
        <p:spPr>
          <a:xfrm>
            <a:off x="9271000" y="1930400"/>
            <a:ext cx="208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600" b="1">
                <a:solidFill>
                  <a:srgbClr val="2F549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続ける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1A447714-29EA-D26B-59B4-0341069ED696}"/>
              </a:ext>
            </a:extLst>
          </p:cNvPr>
          <p:cNvSpPr txBox="1"/>
          <p:nvPr/>
        </p:nvSpPr>
        <p:spPr>
          <a:xfrm>
            <a:off x="9271000" y="2540000"/>
            <a:ext cx="2133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レベル・クエスト
予定表・フレンド</a:t>
            </a:r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A836017E-9A96-C034-4B61-9EE05B4C07B7}"/>
              </a:ext>
            </a:extLst>
          </p:cNvPr>
          <p:cNvSpPr/>
          <p:nvPr/>
        </p:nvSpPr>
        <p:spPr>
          <a:xfrm>
            <a:off x="609600" y="3886200"/>
            <a:ext cx="6604000" cy="2362200"/>
          </a:xfrm>
          <a:prstGeom prst="roundRect">
            <a:avLst>
              <a:gd name="adj" fmla="val 6000"/>
            </a:avLst>
          </a:prstGeom>
          <a:solidFill>
            <a:srgbClr val="E4EC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8E7C31C-6D5B-816E-F9AB-2F2F2F1E7DF9}"/>
              </a:ext>
            </a:extLst>
          </p:cNvPr>
          <p:cNvSpPr txBox="1"/>
          <p:nvPr/>
        </p:nvSpPr>
        <p:spPr>
          <a:xfrm>
            <a:off x="838200" y="4038600"/>
            <a:ext cx="622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500" b="1">
                <a:solidFill>
                  <a:srgbClr val="2F549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解決効果（困りごと → </a:t>
            </a:r>
            <a:r>
              <a:rPr kumimoji="1" lang="en-US" altLang="ja-JP" sz="1500" b="1">
                <a:solidFill>
                  <a:srgbClr val="2F549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PROSTA</a:t>
            </a:r>
            <a:r>
              <a:rPr kumimoji="1" lang="ja-JP" altLang="en-US" sz="1500" b="1">
                <a:solidFill>
                  <a:srgbClr val="2F549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では）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59294638-0832-6B52-2803-83657AC4D637}"/>
              </a:ext>
            </a:extLst>
          </p:cNvPr>
          <p:cNvSpPr txBox="1"/>
          <p:nvPr/>
        </p:nvSpPr>
        <p:spPr>
          <a:xfrm>
            <a:off x="838200" y="4445000"/>
            <a:ext cx="622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5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01 </a:t>
            </a:r>
            <a:r>
              <a:rPr kumimoji="1" lang="ja-JP" altLang="en-US" sz="15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弱点が見えない → 解答直後に分野別の正答率を表示
</a:t>
            </a:r>
            <a:r>
              <a:rPr kumimoji="1" lang="en-US" altLang="ja-JP" sz="15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02 </a:t>
            </a:r>
            <a:r>
              <a:rPr kumimoji="1" lang="ja-JP" altLang="en-US" sz="15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復習問題を探す → 最新が誤答の問題を自動で抽出
</a:t>
            </a:r>
            <a:r>
              <a:rPr kumimoji="1" lang="en-US" altLang="ja-JP" sz="15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03 </a:t>
            </a:r>
            <a:r>
              <a:rPr kumimoji="1" lang="ja-JP" altLang="en-US" sz="15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続かない → </a:t>
            </a:r>
            <a:r>
              <a:rPr kumimoji="1" lang="en-US" altLang="ja-JP" sz="15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EXP</a:t>
            </a:r>
            <a:r>
              <a:rPr kumimoji="1" lang="ja-JP" altLang="en-US" sz="15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・レベル・予定・仲間の活動で可視化</a:t>
            </a: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7C6C0D3D-3BA9-0E72-B027-5E549C7BE195}"/>
              </a:ext>
            </a:extLst>
          </p:cNvPr>
          <p:cNvSpPr/>
          <p:nvPr/>
        </p:nvSpPr>
        <p:spPr>
          <a:xfrm>
            <a:off x="7467600" y="3886200"/>
            <a:ext cx="4114800" cy="2362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B32F4219-106B-2D25-DA34-0233FF4B758F}"/>
              </a:ext>
            </a:extLst>
          </p:cNvPr>
          <p:cNvSpPr txBox="1"/>
          <p:nvPr/>
        </p:nvSpPr>
        <p:spPr>
          <a:xfrm>
            <a:off x="7696200" y="4038600"/>
            <a:ext cx="368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500" b="1">
                <a:solidFill>
                  <a:srgbClr val="2F549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実用性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CAC8CAAF-7004-6CC7-F57A-36BCF6D849F4}"/>
              </a:ext>
            </a:extLst>
          </p:cNvPr>
          <p:cNvSpPr txBox="1"/>
          <p:nvPr/>
        </p:nvSpPr>
        <p:spPr>
          <a:xfrm>
            <a:off x="7696200" y="4445000"/>
            <a:ext cx="368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ブラウザーだけで利用
</a:t>
            </a:r>
            <a:r>
              <a:rPr kumimoji="1" lang="en-US" altLang="ja-JP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PC</a:t>
            </a:r>
            <a:r>
              <a:rPr kumimoji="1" lang="ja-JP" altLang="en-US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・スマホ表示に対応
（画面幅</a:t>
            </a:r>
            <a:r>
              <a:rPr kumimoji="1" lang="en-US" altLang="ja-JP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320〜1280px</a:t>
            </a:r>
            <a:r>
              <a:rPr kumimoji="1" lang="ja-JP" altLang="en-US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で確認）
管理者が問題・ユーザーを管理</a:t>
            </a:r>
          </a:p>
        </p:txBody>
      </p:sp>
    </p:spTree>
    <p:extLst>
      <p:ext uri="{BB962C8B-B14F-4D97-AF65-F5344CB8AC3E}">
        <p14:creationId xmlns:p14="http://schemas.microsoft.com/office/powerpoint/2010/main" val="2672904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4C16BDD7-3620-E232-4B3C-F42DEEBD4962}"/>
              </a:ext>
            </a:extLst>
          </p:cNvPr>
          <p:cNvSpPr/>
          <p:nvPr/>
        </p:nvSpPr>
        <p:spPr>
          <a:xfrm>
            <a:off x="482600" y="406400"/>
            <a:ext cx="76200" cy="330200"/>
          </a:xfrm>
          <a:prstGeom prst="roundRect">
            <a:avLst>
              <a:gd name="adj" fmla="val 6000"/>
            </a:avLst>
          </a:prstGeom>
          <a:solidFill>
            <a:srgbClr val="09847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8E6F29D-D8E8-F33B-433A-83A0F89B92B5}"/>
              </a:ext>
            </a:extLst>
          </p:cNvPr>
          <p:cNvSpPr txBox="1"/>
          <p:nvPr/>
        </p:nvSpPr>
        <p:spPr>
          <a:xfrm>
            <a:off x="685800" y="4445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3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04 / ORIGINALITY</a:t>
            </a:r>
            <a:endParaRPr kumimoji="1" lang="ja-JP" altLang="en-US" sz="1300" b="1">
              <a:solidFill>
                <a:srgbClr val="09847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1D0ECE3-1904-F064-D512-821E7C7D74C5}"/>
              </a:ext>
            </a:extLst>
          </p:cNvPr>
          <p:cNvSpPr txBox="1"/>
          <p:nvPr/>
        </p:nvSpPr>
        <p:spPr>
          <a:xfrm>
            <a:off x="609600" y="9652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8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学習を「育てる・競う」体験に変える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99CC2036-6161-A312-1256-AC591435B323}"/>
              </a:ext>
            </a:extLst>
          </p:cNvPr>
          <p:cNvSpPr/>
          <p:nvPr/>
        </p:nvSpPr>
        <p:spPr>
          <a:xfrm>
            <a:off x="7620000" y="355600"/>
            <a:ext cx="3962400" cy="381000"/>
          </a:xfrm>
          <a:prstGeom prst="roundRect">
            <a:avLst>
              <a:gd name="adj" fmla="val 50000"/>
            </a:avLst>
          </a:prstGeom>
          <a:solidFill>
            <a:srgbClr val="2F54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B6FF401-CE3B-33AD-AC2A-6A5AC4DAD039}"/>
              </a:ext>
            </a:extLst>
          </p:cNvPr>
          <p:cNvSpPr txBox="1"/>
          <p:nvPr/>
        </p:nvSpPr>
        <p:spPr>
          <a:xfrm>
            <a:off x="7747000" y="431800"/>
            <a:ext cx="370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ja-JP" altLang="en-US" sz="12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困りごと解決｜ワクワク・独創性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3004BA7-81E0-4CB3-40AB-AA0668B97FFD}"/>
              </a:ext>
            </a:extLst>
          </p:cNvPr>
          <p:cNvSpPr txBox="1"/>
          <p:nvPr/>
        </p:nvSpPr>
        <p:spPr>
          <a:xfrm>
            <a:off x="609600" y="64516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0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PROSTA  /  </a:t>
            </a:r>
            <a:r>
              <a:rPr kumimoji="1" lang="ja-JP" altLang="en-US" sz="10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解いて終わらない。次の学習につながる。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276F674-C7A1-614B-756F-6022C63C0322}"/>
              </a:ext>
            </a:extLst>
          </p:cNvPr>
          <p:cNvSpPr txBox="1"/>
          <p:nvPr/>
        </p:nvSpPr>
        <p:spPr>
          <a:xfrm>
            <a:off x="9652000" y="6451600"/>
            <a:ext cx="193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kumimoji="1" lang="en-US" altLang="ja-JP" sz="10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04  /  1:15–1:45</a:t>
            </a:r>
            <a:endParaRPr kumimoji="1" lang="ja-JP" altLang="en-US" sz="1000">
              <a:solidFill>
                <a:srgbClr val="5C6F8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8547A457-8936-A80B-AED4-E6BCF44C6C82}"/>
              </a:ext>
            </a:extLst>
          </p:cNvPr>
          <p:cNvSpPr/>
          <p:nvPr/>
        </p:nvSpPr>
        <p:spPr>
          <a:xfrm>
            <a:off x="609600" y="1778000"/>
            <a:ext cx="3505200" cy="317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A862202-DA7E-4305-33CA-3EA98F2E29B1}"/>
              </a:ext>
            </a:extLst>
          </p:cNvPr>
          <p:cNvSpPr txBox="1"/>
          <p:nvPr/>
        </p:nvSpPr>
        <p:spPr>
          <a:xfrm>
            <a:off x="838200" y="19812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900" b="1">
                <a:solidFill>
                  <a:srgbClr val="2F549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育つキャラクター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E7A4A8E-0DC7-698C-79EE-A0611813E9A6}"/>
              </a:ext>
            </a:extLst>
          </p:cNvPr>
          <p:cNvSpPr txBox="1"/>
          <p:nvPr/>
        </p:nvSpPr>
        <p:spPr>
          <a:xfrm>
            <a:off x="838200" y="24638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正解で</a:t>
            </a:r>
            <a:r>
              <a:rPr kumimoji="1" lang="en-US" altLang="ja-JP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EXP</a:t>
            </a:r>
            <a:r>
              <a:rPr kumimoji="1" lang="ja-JP" altLang="en-US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を獲得。レベルに応じて相棒キャラクター「スタ」が成長し、結果で表情も変わる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9B030EC5-022B-982B-CD5A-F03147661A09}"/>
              </a:ext>
            </a:extLst>
          </p:cNvPr>
          <p:cNvSpPr/>
          <p:nvPr/>
        </p:nvSpPr>
        <p:spPr>
          <a:xfrm>
            <a:off x="4343400" y="1778000"/>
            <a:ext cx="3505200" cy="317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BB4CF15-3E84-01A1-729E-6E2F9306036D}"/>
              </a:ext>
            </a:extLst>
          </p:cNvPr>
          <p:cNvSpPr txBox="1"/>
          <p:nvPr/>
        </p:nvSpPr>
        <p:spPr>
          <a:xfrm>
            <a:off x="4572000" y="19812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900" b="1">
                <a:solidFill>
                  <a:srgbClr val="2F549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毎日のクエストと実績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3407B08-B05C-09E1-951E-F62DE09E639D}"/>
              </a:ext>
            </a:extLst>
          </p:cNvPr>
          <p:cNvSpPr txBox="1"/>
          <p:nvPr/>
        </p:nvSpPr>
        <p:spPr>
          <a:xfrm>
            <a:off x="4572000" y="24638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「</a:t>
            </a:r>
            <a:r>
              <a:rPr kumimoji="1" lang="en-US" altLang="ja-JP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</a:t>
            </a:r>
            <a:r>
              <a:rPr kumimoji="1" lang="ja-JP" altLang="en-US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問解く」「</a:t>
            </a:r>
            <a:r>
              <a:rPr kumimoji="1" lang="en-US" altLang="ja-JP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3</a:t>
            </a:r>
            <a:r>
              <a:rPr kumimoji="1" lang="ja-JP" altLang="en-US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問正解」など今日の目標と、累計の実績で達成感をつくる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800AD2B1-66F4-212F-AD30-BC41DE5FA125}"/>
              </a:ext>
            </a:extLst>
          </p:cNvPr>
          <p:cNvSpPr/>
          <p:nvPr/>
        </p:nvSpPr>
        <p:spPr>
          <a:xfrm>
            <a:off x="8077200" y="1778000"/>
            <a:ext cx="3505200" cy="317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3705D79-D09A-6766-AF5D-0E45B20638B8}"/>
              </a:ext>
            </a:extLst>
          </p:cNvPr>
          <p:cNvSpPr txBox="1"/>
          <p:nvPr/>
        </p:nvSpPr>
        <p:spPr>
          <a:xfrm>
            <a:off x="8305800" y="19812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900" b="1">
                <a:solidFill>
                  <a:srgbClr val="2F549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仲間と刺激し合う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C16EB51-339D-C93F-D100-E40421ABAEA8}"/>
              </a:ext>
            </a:extLst>
          </p:cNvPr>
          <p:cNvSpPr txBox="1"/>
          <p:nvPr/>
        </p:nvSpPr>
        <p:spPr>
          <a:xfrm>
            <a:off x="8305800" y="24638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フレンドの学習フィードと、期間・分野をそろえた友達内ランキング</a:t>
            </a:r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C4B0BDE7-61F8-19BA-8959-03B8B576A4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" y="3683000"/>
            <a:ext cx="1143000" cy="1143000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05BA2C10-4041-A080-29D8-1B72A39930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0" y="3683000"/>
            <a:ext cx="1143000" cy="1143000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42AEE046-3ED1-C274-5569-3C10DB8D19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0" y="3683000"/>
            <a:ext cx="1143000" cy="1143000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F40D7C98-3955-4855-4118-2F615EF2B6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3683000"/>
            <a:ext cx="1143000" cy="1143000"/>
          </a:xfrm>
          <a:prstGeom prst="rect">
            <a:avLst/>
          </a:prstGeom>
        </p:spPr>
      </p:pic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77D4FC3D-FDD1-D3B6-58B9-CFC154828D89}"/>
              </a:ext>
            </a:extLst>
          </p:cNvPr>
          <p:cNvSpPr/>
          <p:nvPr/>
        </p:nvSpPr>
        <p:spPr>
          <a:xfrm>
            <a:off x="609600" y="5130800"/>
            <a:ext cx="10972800" cy="1117600"/>
          </a:xfrm>
          <a:prstGeom prst="roundRect">
            <a:avLst>
              <a:gd name="adj" fmla="val 6000"/>
            </a:avLst>
          </a:prstGeom>
          <a:solidFill>
            <a:srgbClr val="E4EC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3472C1DB-47DB-58A8-6403-E9E0E072BCE0}"/>
              </a:ext>
            </a:extLst>
          </p:cNvPr>
          <p:cNvSpPr txBox="1"/>
          <p:nvPr/>
        </p:nvSpPr>
        <p:spPr>
          <a:xfrm>
            <a:off x="838200" y="52832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500" b="1">
                <a:solidFill>
                  <a:srgbClr val="2F549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将来性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ACCCEFA0-9061-B7EA-6C34-018CD6C133A2}"/>
              </a:ext>
            </a:extLst>
          </p:cNvPr>
          <p:cNvSpPr txBox="1"/>
          <p:nvPr/>
        </p:nvSpPr>
        <p:spPr>
          <a:xfrm>
            <a:off x="838200" y="56642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5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問題のブックマーク → 全ユーザーランキング → フレンドとのリアルタイム対戦（いずれも未実装の今後の構想）</a:t>
            </a:r>
          </a:p>
        </p:txBody>
      </p:sp>
    </p:spTree>
    <p:extLst>
      <p:ext uri="{BB962C8B-B14F-4D97-AF65-F5344CB8AC3E}">
        <p14:creationId xmlns:p14="http://schemas.microsoft.com/office/powerpoint/2010/main" val="1679249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262B4FF1-331F-C36C-E303-9615D3287BCD}"/>
              </a:ext>
            </a:extLst>
          </p:cNvPr>
          <p:cNvSpPr/>
          <p:nvPr/>
        </p:nvSpPr>
        <p:spPr>
          <a:xfrm>
            <a:off x="482600" y="406400"/>
            <a:ext cx="76200" cy="330200"/>
          </a:xfrm>
          <a:prstGeom prst="roundRect">
            <a:avLst>
              <a:gd name="adj" fmla="val 6000"/>
            </a:avLst>
          </a:prstGeom>
          <a:solidFill>
            <a:srgbClr val="09847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5D1F17B-FC68-906D-C6BF-50B6730030BA}"/>
              </a:ext>
            </a:extLst>
          </p:cNvPr>
          <p:cNvSpPr txBox="1"/>
          <p:nvPr/>
        </p:nvSpPr>
        <p:spPr>
          <a:xfrm>
            <a:off x="685800" y="4445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3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05 / DEMO</a:t>
            </a:r>
            <a:endParaRPr kumimoji="1" lang="ja-JP" altLang="en-US" sz="1300" b="1">
              <a:solidFill>
                <a:srgbClr val="09847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706E426-B12B-D993-82C5-B8605ED8D934}"/>
              </a:ext>
            </a:extLst>
          </p:cNvPr>
          <p:cNvSpPr txBox="1"/>
          <p:nvPr/>
        </p:nvSpPr>
        <p:spPr>
          <a:xfrm>
            <a:off x="609600" y="9652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8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実際に動いている学習の流れ（</a:t>
            </a:r>
            <a:r>
              <a:rPr kumimoji="1" lang="en-US" altLang="ja-JP" sz="28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</a:t>
            </a:r>
            <a:r>
              <a:rPr kumimoji="1" lang="ja-JP" altLang="en-US" sz="28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分）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F1ABC791-6041-90BF-EB47-1FDFC5707615}"/>
              </a:ext>
            </a:extLst>
          </p:cNvPr>
          <p:cNvSpPr/>
          <p:nvPr/>
        </p:nvSpPr>
        <p:spPr>
          <a:xfrm>
            <a:off x="7620000" y="355600"/>
            <a:ext cx="3962400" cy="381000"/>
          </a:xfrm>
          <a:prstGeom prst="roundRect">
            <a:avLst>
              <a:gd name="adj" fmla="val 50000"/>
            </a:avLst>
          </a:prstGeom>
          <a:solidFill>
            <a:srgbClr val="09847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E8AA677-B7F3-7662-180B-143CEF198CBE}"/>
              </a:ext>
            </a:extLst>
          </p:cNvPr>
          <p:cNvSpPr txBox="1"/>
          <p:nvPr/>
        </p:nvSpPr>
        <p:spPr>
          <a:xfrm>
            <a:off x="7747000" y="431800"/>
            <a:ext cx="370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ja-JP" altLang="en-US" sz="12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若手技術者らしさ｜実現力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83898F8-2911-A833-A871-AFA4DB85C395}"/>
              </a:ext>
            </a:extLst>
          </p:cNvPr>
          <p:cNvSpPr txBox="1"/>
          <p:nvPr/>
        </p:nvSpPr>
        <p:spPr>
          <a:xfrm>
            <a:off x="609600" y="64516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0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PROSTA  /  </a:t>
            </a:r>
            <a:r>
              <a:rPr kumimoji="1" lang="ja-JP" altLang="en-US" sz="10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解いて終わらない。次の学習につながる。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7EC5780-BCE4-C631-ACE5-72CD38229E8B}"/>
              </a:ext>
            </a:extLst>
          </p:cNvPr>
          <p:cNvSpPr txBox="1"/>
          <p:nvPr/>
        </p:nvSpPr>
        <p:spPr>
          <a:xfrm>
            <a:off x="9652000" y="6451600"/>
            <a:ext cx="193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kumimoji="1" lang="en-US" altLang="ja-JP" sz="10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05  /  1:45–7:00</a:t>
            </a:r>
            <a:endParaRPr kumimoji="1" lang="ja-JP" altLang="en-US" sz="1000">
              <a:solidFill>
                <a:srgbClr val="5C6F8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9" name="VIDEO_SLOT_16x9">
            <a:extLst>
              <a:ext uri="{FF2B5EF4-FFF2-40B4-BE49-F238E27FC236}">
                <a16:creationId xmlns:a16="http://schemas.microsoft.com/office/drawing/2014/main" id="{D534BDED-D890-CD96-F635-38376B1018DE}"/>
              </a:ext>
            </a:extLst>
          </p:cNvPr>
          <p:cNvSpPr/>
          <p:nvPr/>
        </p:nvSpPr>
        <p:spPr>
          <a:xfrm>
            <a:off x="609600" y="1714500"/>
            <a:ext cx="7721600" cy="4343400"/>
          </a:xfrm>
          <a:prstGeom prst="roundRect">
            <a:avLst>
              <a:gd name="adj" fmla="val 0"/>
            </a:avLst>
          </a:prstGeom>
          <a:solidFill>
            <a:srgbClr val="13223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E244F5B-2CF0-9CB5-FAB2-888580564419}"/>
              </a:ext>
            </a:extLst>
          </p:cNvPr>
          <p:cNvSpPr txBox="1"/>
          <p:nvPr/>
        </p:nvSpPr>
        <p:spPr>
          <a:xfrm>
            <a:off x="1244600" y="3327400"/>
            <a:ext cx="6451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ja-JP" altLang="en-US" sz="26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ここに</a:t>
            </a:r>
            <a:r>
              <a:rPr kumimoji="1" lang="en-US" altLang="ja-JP" sz="26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</a:t>
            </a:r>
            <a:r>
              <a:rPr kumimoji="1" lang="ja-JP" altLang="en-US" sz="26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分のデモ動画を挿入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35E3978-097F-F063-0F7E-7535E24B5F09}"/>
              </a:ext>
            </a:extLst>
          </p:cNvPr>
          <p:cNvSpPr txBox="1"/>
          <p:nvPr/>
        </p:nvSpPr>
        <p:spPr>
          <a:xfrm>
            <a:off x="1244600" y="3962400"/>
            <a:ext cx="6451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ja-JP" sz="1500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MP4 / 16:9 / </a:t>
            </a:r>
            <a:r>
              <a:rPr kumimoji="1" lang="ja-JP" altLang="en-US" sz="1500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ナレーション付き
</a:t>
            </a:r>
            <a:r>
              <a:rPr kumimoji="1" lang="en-US" altLang="ja-JP" sz="1500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※ </a:t>
            </a:r>
            <a:r>
              <a:rPr kumimoji="1" lang="ja-JP" altLang="en-US" sz="1500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現時点では動画未挿入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5E41E96-C1E9-DC27-76E3-B34A989DC506}"/>
              </a:ext>
            </a:extLst>
          </p:cNvPr>
          <p:cNvSpPr txBox="1"/>
          <p:nvPr/>
        </p:nvSpPr>
        <p:spPr>
          <a:xfrm>
            <a:off x="8636000" y="1778000"/>
            <a:ext cx="294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7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注目してほしい点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91E238B-0814-9A30-3755-5FE50775D7A9}"/>
              </a:ext>
            </a:extLst>
          </p:cNvPr>
          <p:cNvSpPr txBox="1"/>
          <p:nvPr/>
        </p:nvSpPr>
        <p:spPr>
          <a:xfrm>
            <a:off x="8636000" y="2235200"/>
            <a:ext cx="294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01 </a:t>
            </a:r>
            <a:r>
              <a:rPr kumimoji="1" lang="ja-JP" altLang="en-US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解答結果が分析と復習につながる
</a:t>
            </a:r>
            <a:r>
              <a:rPr kumimoji="1" lang="en-US" altLang="ja-JP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02 </a:t>
            </a:r>
            <a:r>
              <a:rPr kumimoji="1" lang="ja-JP" altLang="en-US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積み重ねが成長として見える
</a:t>
            </a:r>
            <a:r>
              <a:rPr kumimoji="1" lang="en-US" altLang="ja-JP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03 </a:t>
            </a:r>
            <a:r>
              <a:rPr kumimoji="1" lang="ja-JP" altLang="en-US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予定と仲間が次の学習を後押し
流れ：ログイン → 演習・採点 → 学習状況 → 復習 → 予定表 → フレンド → </a:t>
            </a:r>
            <a:r>
              <a:rPr kumimoji="1" lang="en-US" altLang="ja-JP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MyPage</a:t>
            </a:r>
            <a:endParaRPr kumimoji="1" lang="ja-JP" altLang="en-US" sz="1400">
              <a:solidFill>
                <a:srgbClr val="132238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66927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BD5F0739-3838-9021-2390-61652BFCFB1F}"/>
              </a:ext>
            </a:extLst>
          </p:cNvPr>
          <p:cNvSpPr/>
          <p:nvPr/>
        </p:nvSpPr>
        <p:spPr>
          <a:xfrm>
            <a:off x="482600" y="406400"/>
            <a:ext cx="76200" cy="330200"/>
          </a:xfrm>
          <a:prstGeom prst="roundRect">
            <a:avLst>
              <a:gd name="adj" fmla="val 6000"/>
            </a:avLst>
          </a:prstGeom>
          <a:solidFill>
            <a:srgbClr val="09847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85E2264-8AF1-DD2F-F45A-3938767D9302}"/>
              </a:ext>
            </a:extLst>
          </p:cNvPr>
          <p:cNvSpPr txBox="1"/>
          <p:nvPr/>
        </p:nvSpPr>
        <p:spPr>
          <a:xfrm>
            <a:off x="685800" y="4445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3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06 / CHALLENGE</a:t>
            </a:r>
            <a:endParaRPr kumimoji="1" lang="ja-JP" altLang="en-US" sz="1300" b="1">
              <a:solidFill>
                <a:srgbClr val="09847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1ADDE2F-042D-AC4F-FBFE-19237FCF514B}"/>
              </a:ext>
            </a:extLst>
          </p:cNvPr>
          <p:cNvSpPr txBox="1"/>
          <p:nvPr/>
        </p:nvSpPr>
        <p:spPr>
          <a:xfrm>
            <a:off x="609600" y="9652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8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初めて挑戦した技術と構成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9CCD69E9-6041-08A9-D438-8C047441E99D}"/>
              </a:ext>
            </a:extLst>
          </p:cNvPr>
          <p:cNvSpPr/>
          <p:nvPr/>
        </p:nvSpPr>
        <p:spPr>
          <a:xfrm>
            <a:off x="7620000" y="355600"/>
            <a:ext cx="3962400" cy="381000"/>
          </a:xfrm>
          <a:prstGeom prst="roundRect">
            <a:avLst>
              <a:gd name="adj" fmla="val 50000"/>
            </a:avLst>
          </a:prstGeom>
          <a:solidFill>
            <a:srgbClr val="09847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4270561-673F-D163-6450-2546342C4693}"/>
              </a:ext>
            </a:extLst>
          </p:cNvPr>
          <p:cNvSpPr txBox="1"/>
          <p:nvPr/>
        </p:nvSpPr>
        <p:spPr>
          <a:xfrm>
            <a:off x="7747000" y="431800"/>
            <a:ext cx="370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ja-JP" altLang="en-US" sz="12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若手技術者らしさ｜技術チャレンジ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0B42652-22D5-7622-CAFA-2490C521B631}"/>
              </a:ext>
            </a:extLst>
          </p:cNvPr>
          <p:cNvSpPr txBox="1"/>
          <p:nvPr/>
        </p:nvSpPr>
        <p:spPr>
          <a:xfrm>
            <a:off x="609600" y="64516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0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PROSTA  /  </a:t>
            </a:r>
            <a:r>
              <a:rPr kumimoji="1" lang="ja-JP" altLang="en-US" sz="10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解いて終わらない。次の学習につながる。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FBF9F3B-6379-DD50-5233-BE8B4A36A99D}"/>
              </a:ext>
            </a:extLst>
          </p:cNvPr>
          <p:cNvSpPr txBox="1"/>
          <p:nvPr/>
        </p:nvSpPr>
        <p:spPr>
          <a:xfrm>
            <a:off x="9652000" y="6451600"/>
            <a:ext cx="193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kumimoji="1" lang="en-US" altLang="ja-JP" sz="10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06  /  7:00–7:30</a:t>
            </a:r>
            <a:endParaRPr kumimoji="1" lang="ja-JP" altLang="en-US" sz="1000">
              <a:solidFill>
                <a:srgbClr val="5C6F8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74F25786-7CA0-FA1B-86DA-309F5989A0C4}"/>
              </a:ext>
            </a:extLst>
          </p:cNvPr>
          <p:cNvSpPr/>
          <p:nvPr/>
        </p:nvSpPr>
        <p:spPr>
          <a:xfrm>
            <a:off x="609600" y="1778000"/>
            <a:ext cx="2413000" cy="1168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8DE4CEE-217F-1E32-3E5B-6DC8922AD578}"/>
              </a:ext>
            </a:extLst>
          </p:cNvPr>
          <p:cNvSpPr txBox="1"/>
          <p:nvPr/>
        </p:nvSpPr>
        <p:spPr>
          <a:xfrm>
            <a:off x="762000" y="1955800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ja-JP" altLang="en-US" sz="16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ブラウザー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D1E4FB0-94F8-F123-EC32-63396391C7CE}"/>
              </a:ext>
            </a:extLst>
          </p:cNvPr>
          <p:cNvSpPr txBox="1"/>
          <p:nvPr/>
        </p:nvSpPr>
        <p:spPr>
          <a:xfrm>
            <a:off x="762000" y="2413000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ja-JP" sz="12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PC</a:t>
            </a:r>
            <a:r>
              <a:rPr kumimoji="1" lang="ja-JP" altLang="en-US" sz="12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・スマホ</a:t>
            </a:r>
          </a:p>
        </p:txBody>
      </p:sp>
      <p:sp>
        <p:nvSpPr>
          <p:cNvPr id="12" name="矢印: 右 11">
            <a:extLst>
              <a:ext uri="{FF2B5EF4-FFF2-40B4-BE49-F238E27FC236}">
                <a16:creationId xmlns:a16="http://schemas.microsoft.com/office/drawing/2014/main" id="{02F9E27E-AE57-35F5-0019-D7EB876F8ED7}"/>
              </a:ext>
            </a:extLst>
          </p:cNvPr>
          <p:cNvSpPr/>
          <p:nvPr/>
        </p:nvSpPr>
        <p:spPr>
          <a:xfrm>
            <a:off x="3073400" y="2235200"/>
            <a:ext cx="330200" cy="279400"/>
          </a:xfrm>
          <a:prstGeom prst="rightArrow">
            <a:avLst/>
          </a:prstGeom>
          <a:solidFill>
            <a:srgbClr val="09847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4F9FF774-8338-C6F2-79F0-1F0A98D53F0B}"/>
              </a:ext>
            </a:extLst>
          </p:cNvPr>
          <p:cNvSpPr/>
          <p:nvPr/>
        </p:nvSpPr>
        <p:spPr>
          <a:xfrm>
            <a:off x="3429000" y="1778000"/>
            <a:ext cx="2413000" cy="1168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A763A7E-AA92-674F-68C0-47765F76D84E}"/>
              </a:ext>
            </a:extLst>
          </p:cNvPr>
          <p:cNvSpPr txBox="1"/>
          <p:nvPr/>
        </p:nvSpPr>
        <p:spPr>
          <a:xfrm>
            <a:off x="3581400" y="1955800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ja-JP" sz="16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OCI </a:t>
            </a:r>
            <a:r>
              <a:rPr kumimoji="1" lang="ja-JP" altLang="en-US" sz="16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ロードバランサー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EC784EB-27F9-B253-00BA-DF286AAE1542}"/>
              </a:ext>
            </a:extLst>
          </p:cNvPr>
          <p:cNvSpPr txBox="1"/>
          <p:nvPr/>
        </p:nvSpPr>
        <p:spPr>
          <a:xfrm>
            <a:off x="3581400" y="2413000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ja-JP" sz="12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HTTPS</a:t>
            </a:r>
            <a:r>
              <a:rPr kumimoji="1" lang="ja-JP" altLang="en-US" sz="12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終端・証明書</a:t>
            </a:r>
          </a:p>
        </p:txBody>
      </p:sp>
      <p:sp>
        <p:nvSpPr>
          <p:cNvPr id="16" name="矢印: 右 15">
            <a:extLst>
              <a:ext uri="{FF2B5EF4-FFF2-40B4-BE49-F238E27FC236}">
                <a16:creationId xmlns:a16="http://schemas.microsoft.com/office/drawing/2014/main" id="{0EB0807E-091C-D154-087E-B080BCDA6011}"/>
              </a:ext>
            </a:extLst>
          </p:cNvPr>
          <p:cNvSpPr/>
          <p:nvPr/>
        </p:nvSpPr>
        <p:spPr>
          <a:xfrm>
            <a:off x="5892800" y="2235200"/>
            <a:ext cx="330200" cy="279400"/>
          </a:xfrm>
          <a:prstGeom prst="rightArrow">
            <a:avLst/>
          </a:prstGeom>
          <a:solidFill>
            <a:srgbClr val="09847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F252F80C-3751-9912-FE70-B50DC8051792}"/>
              </a:ext>
            </a:extLst>
          </p:cNvPr>
          <p:cNvSpPr/>
          <p:nvPr/>
        </p:nvSpPr>
        <p:spPr>
          <a:xfrm>
            <a:off x="6248400" y="1778000"/>
            <a:ext cx="2413000" cy="1168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A1C1119-6DBE-5F7B-092C-3072807E034F}"/>
              </a:ext>
            </a:extLst>
          </p:cNvPr>
          <p:cNvSpPr txBox="1"/>
          <p:nvPr/>
        </p:nvSpPr>
        <p:spPr>
          <a:xfrm>
            <a:off x="6400800" y="1955800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ja-JP" sz="16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VM</a:t>
            </a:r>
            <a:r>
              <a:rPr kumimoji="1" lang="ja-JP" altLang="en-US" sz="16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：</a:t>
            </a:r>
            <a:r>
              <a:rPr kumimoji="1" lang="en-US" altLang="ja-JP" sz="16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Tomcat</a:t>
            </a:r>
            <a:endParaRPr kumimoji="1" lang="ja-JP" altLang="en-US" sz="1600" b="1">
              <a:solidFill>
                <a:srgbClr val="09847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0121CA6-5EF9-D4D0-6315-43175BC1490B}"/>
              </a:ext>
            </a:extLst>
          </p:cNvPr>
          <p:cNvSpPr txBox="1"/>
          <p:nvPr/>
        </p:nvSpPr>
        <p:spPr>
          <a:xfrm>
            <a:off x="6400800" y="2413000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ja-JP" sz="12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Spring Boot 3 / Thymeleaf</a:t>
            </a:r>
            <a:endParaRPr kumimoji="1" lang="ja-JP" altLang="en-US" sz="1200">
              <a:solidFill>
                <a:srgbClr val="5C6F8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0" name="矢印: 右 19">
            <a:extLst>
              <a:ext uri="{FF2B5EF4-FFF2-40B4-BE49-F238E27FC236}">
                <a16:creationId xmlns:a16="http://schemas.microsoft.com/office/drawing/2014/main" id="{DC76A076-D9C6-0A32-8B6E-3F6733CF4068}"/>
              </a:ext>
            </a:extLst>
          </p:cNvPr>
          <p:cNvSpPr/>
          <p:nvPr/>
        </p:nvSpPr>
        <p:spPr>
          <a:xfrm>
            <a:off x="8712200" y="2235200"/>
            <a:ext cx="330200" cy="279400"/>
          </a:xfrm>
          <a:prstGeom prst="rightArrow">
            <a:avLst/>
          </a:prstGeom>
          <a:solidFill>
            <a:srgbClr val="09847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F07865BA-365B-0FBA-131D-D9735AB4BC37}"/>
              </a:ext>
            </a:extLst>
          </p:cNvPr>
          <p:cNvSpPr/>
          <p:nvPr/>
        </p:nvSpPr>
        <p:spPr>
          <a:xfrm>
            <a:off x="9067800" y="1778000"/>
            <a:ext cx="2413000" cy="1168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E021218-753D-1EFA-73C5-D66205467703}"/>
              </a:ext>
            </a:extLst>
          </p:cNvPr>
          <p:cNvSpPr txBox="1"/>
          <p:nvPr/>
        </p:nvSpPr>
        <p:spPr>
          <a:xfrm>
            <a:off x="9220200" y="1955800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ja-JP" sz="16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Oracle DB</a:t>
            </a:r>
            <a:endParaRPr kumimoji="1" lang="ja-JP" altLang="en-US" sz="1600" b="1">
              <a:solidFill>
                <a:srgbClr val="09847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4BC64A3C-AC43-9A06-890C-045F68D70AD1}"/>
              </a:ext>
            </a:extLst>
          </p:cNvPr>
          <p:cNvSpPr txBox="1"/>
          <p:nvPr/>
        </p:nvSpPr>
        <p:spPr>
          <a:xfrm>
            <a:off x="9220200" y="2413000"/>
            <a:ext cx="2108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ja-JP" altLang="en-US" sz="12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解答・</a:t>
            </a:r>
            <a:r>
              <a:rPr kumimoji="1" lang="en-US" altLang="ja-JP" sz="12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EXP</a:t>
            </a:r>
            <a:r>
              <a:rPr kumimoji="1" lang="ja-JP" altLang="en-US" sz="12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・予定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0E2E6DC8-714E-736A-95ED-6D2471A082F6}"/>
              </a:ext>
            </a:extLst>
          </p:cNvPr>
          <p:cNvSpPr txBox="1"/>
          <p:nvPr/>
        </p:nvSpPr>
        <p:spPr>
          <a:xfrm>
            <a:off x="609600" y="30480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ja-JP" sz="12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HTTPS(443)</a:t>
            </a:r>
            <a:r>
              <a:rPr kumimoji="1" lang="ja-JP" altLang="en-US" sz="12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で</a:t>
            </a:r>
            <a:r>
              <a:rPr kumimoji="1" lang="en-US" altLang="ja-JP" sz="12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LB</a:t>
            </a:r>
            <a:r>
              <a:rPr kumimoji="1" lang="ja-JP" altLang="en-US" sz="12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まで暗号化し、</a:t>
            </a:r>
            <a:r>
              <a:rPr kumimoji="1" lang="en-US" altLang="ja-JP" sz="12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VCN</a:t>
            </a:r>
            <a:r>
              <a:rPr kumimoji="1" lang="ja-JP" altLang="en-US" sz="12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内は</a:t>
            </a:r>
            <a:r>
              <a:rPr kumimoji="1" lang="en-US" altLang="ja-JP" sz="12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HTTP</a:t>
            </a:r>
            <a:r>
              <a:rPr kumimoji="1" lang="ja-JP" altLang="en-US" sz="12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で転送。証明書は</a:t>
            </a:r>
            <a:r>
              <a:rPr kumimoji="1" lang="en-US" altLang="ja-JP" sz="12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Let's Encrypt</a:t>
            </a:r>
            <a:r>
              <a:rPr kumimoji="1" lang="ja-JP" altLang="en-US" sz="12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で取得し、踏み台経由で取り出して登録</a:t>
            </a: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07488C66-DC1C-8A60-4954-08B95F88B572}"/>
              </a:ext>
            </a:extLst>
          </p:cNvPr>
          <p:cNvSpPr/>
          <p:nvPr/>
        </p:nvSpPr>
        <p:spPr>
          <a:xfrm>
            <a:off x="609600" y="3479800"/>
            <a:ext cx="3505200" cy="2667000"/>
          </a:xfrm>
          <a:prstGeom prst="roundRect">
            <a:avLst>
              <a:gd name="adj" fmla="val 6000"/>
            </a:avLst>
          </a:prstGeom>
          <a:solidFill>
            <a:srgbClr val="E1F3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953253D6-BBE6-0B5C-A288-9C6E69EFCC40}"/>
              </a:ext>
            </a:extLst>
          </p:cNvPr>
          <p:cNvSpPr txBox="1"/>
          <p:nvPr/>
        </p:nvSpPr>
        <p:spPr>
          <a:xfrm>
            <a:off x="838200" y="36830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7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採点を「ひとまとまり」で保存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BE3366E3-C66A-585D-986E-ABDB5701F421}"/>
              </a:ext>
            </a:extLst>
          </p:cNvPr>
          <p:cNvSpPr txBox="1"/>
          <p:nvPr/>
        </p:nvSpPr>
        <p:spPr>
          <a:xfrm>
            <a:off x="838200" y="44450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解答・正解数・</a:t>
            </a:r>
            <a:r>
              <a:rPr kumimoji="1" lang="en-US" altLang="ja-JP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EXP</a:t>
            </a:r>
            <a:r>
              <a:rPr kumimoji="1" lang="ja-JP" altLang="en-US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・実績を</a:t>
            </a:r>
            <a:r>
              <a:rPr kumimoji="1" lang="en-US" altLang="ja-JP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</a:t>
            </a:r>
            <a:r>
              <a:rPr kumimoji="1" lang="ja-JP" altLang="en-US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つのトランザクションで更新。</a:t>
            </a:r>
            <a:r>
              <a:rPr kumimoji="1" lang="en-US" altLang="ja-JP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DB</a:t>
            </a:r>
            <a:r>
              <a:rPr kumimoji="1" lang="ja-JP" altLang="en-US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確定後に画面へ反映</a:t>
            </a:r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7D5D74C1-0AB9-3123-9287-C3F183C38C63}"/>
              </a:ext>
            </a:extLst>
          </p:cNvPr>
          <p:cNvSpPr/>
          <p:nvPr/>
        </p:nvSpPr>
        <p:spPr>
          <a:xfrm>
            <a:off x="4343400" y="3479800"/>
            <a:ext cx="3505200" cy="2667000"/>
          </a:xfrm>
          <a:prstGeom prst="roundRect">
            <a:avLst>
              <a:gd name="adj" fmla="val 6000"/>
            </a:avLst>
          </a:prstGeom>
          <a:solidFill>
            <a:srgbClr val="E1F3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2FDD2336-3681-1E35-F725-C8DAC7856F5F}"/>
              </a:ext>
            </a:extLst>
          </p:cNvPr>
          <p:cNvSpPr txBox="1"/>
          <p:nvPr/>
        </p:nvSpPr>
        <p:spPr>
          <a:xfrm>
            <a:off x="4572000" y="36830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7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タブごとに学習状態を分離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D170C720-9B18-295C-EBEE-1EB6220A8DC9}"/>
              </a:ext>
            </a:extLst>
          </p:cNvPr>
          <p:cNvSpPr txBox="1"/>
          <p:nvPr/>
        </p:nvSpPr>
        <p:spPr>
          <a:xfrm>
            <a:off x="4572000" y="44450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複数タブで別の演習をしても途中状態が混ざらない</a:t>
            </a: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07F03D85-5C3D-A33C-769D-E8FB4CFE7485}"/>
              </a:ext>
            </a:extLst>
          </p:cNvPr>
          <p:cNvSpPr/>
          <p:nvPr/>
        </p:nvSpPr>
        <p:spPr>
          <a:xfrm>
            <a:off x="8077200" y="3479800"/>
            <a:ext cx="3505200" cy="2667000"/>
          </a:xfrm>
          <a:prstGeom prst="roundRect">
            <a:avLst>
              <a:gd name="adj" fmla="val 6000"/>
            </a:avLst>
          </a:prstGeom>
          <a:solidFill>
            <a:srgbClr val="E1F3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09127B26-1FD2-A2A1-D240-FFBB2D20E258}"/>
              </a:ext>
            </a:extLst>
          </p:cNvPr>
          <p:cNvSpPr txBox="1"/>
          <p:nvPr/>
        </p:nvSpPr>
        <p:spPr>
          <a:xfrm>
            <a:off x="8305800" y="36830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7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最後のログインだけを有効化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4BAE3865-39B4-6E03-ED82-1E019E963F77}"/>
              </a:ext>
            </a:extLst>
          </p:cNvPr>
          <p:cNvSpPr txBox="1"/>
          <p:nvPr/>
        </p:nvSpPr>
        <p:spPr>
          <a:xfrm>
            <a:off x="8305800" y="44450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同じアカウントの同時利用で、データが食い違うことを防ぐ</a:t>
            </a:r>
          </a:p>
        </p:txBody>
      </p:sp>
    </p:spTree>
    <p:extLst>
      <p:ext uri="{BB962C8B-B14F-4D97-AF65-F5344CB8AC3E}">
        <p14:creationId xmlns:p14="http://schemas.microsoft.com/office/powerpoint/2010/main" val="1175629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35003D7E-657B-9D9F-E5CA-5AD478240074}"/>
              </a:ext>
            </a:extLst>
          </p:cNvPr>
          <p:cNvSpPr/>
          <p:nvPr/>
        </p:nvSpPr>
        <p:spPr>
          <a:xfrm>
            <a:off x="482600" y="406400"/>
            <a:ext cx="76200" cy="330200"/>
          </a:xfrm>
          <a:prstGeom prst="roundRect">
            <a:avLst>
              <a:gd name="adj" fmla="val 6000"/>
            </a:avLst>
          </a:prstGeom>
          <a:solidFill>
            <a:srgbClr val="09847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FAB0F9E-D380-BABB-126D-0CF429E1C141}"/>
              </a:ext>
            </a:extLst>
          </p:cNvPr>
          <p:cNvSpPr txBox="1"/>
          <p:nvPr/>
        </p:nvSpPr>
        <p:spPr>
          <a:xfrm>
            <a:off x="685800" y="4445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3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07 / TRIAL &amp; ERROR</a:t>
            </a:r>
            <a:endParaRPr kumimoji="1" lang="ja-JP" altLang="en-US" sz="1300" b="1">
              <a:solidFill>
                <a:srgbClr val="09847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9B8F37D-D3B9-9EB8-1286-061D47189DBE}"/>
              </a:ext>
            </a:extLst>
          </p:cNvPr>
          <p:cNvSpPr txBox="1"/>
          <p:nvPr/>
        </p:nvSpPr>
        <p:spPr>
          <a:xfrm>
            <a:off x="609600" y="9652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8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うまくいかなかったことと、乗り越え方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72A7BC7E-4D3C-9693-9CBC-8AEE774035EC}"/>
              </a:ext>
            </a:extLst>
          </p:cNvPr>
          <p:cNvSpPr/>
          <p:nvPr/>
        </p:nvSpPr>
        <p:spPr>
          <a:xfrm>
            <a:off x="7620000" y="355600"/>
            <a:ext cx="3962400" cy="381000"/>
          </a:xfrm>
          <a:prstGeom prst="roundRect">
            <a:avLst>
              <a:gd name="adj" fmla="val 50000"/>
            </a:avLst>
          </a:prstGeom>
          <a:solidFill>
            <a:srgbClr val="09847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BBF5A67-E1BE-17E3-B7B1-F6851F90B04D}"/>
              </a:ext>
            </a:extLst>
          </p:cNvPr>
          <p:cNvSpPr txBox="1"/>
          <p:nvPr/>
        </p:nvSpPr>
        <p:spPr>
          <a:xfrm>
            <a:off x="7747000" y="431800"/>
            <a:ext cx="370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ja-JP" altLang="en-US" sz="12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若手技術者らしさ｜試行錯誤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504A81E-7727-DBF2-B4BF-C67A2C297381}"/>
              </a:ext>
            </a:extLst>
          </p:cNvPr>
          <p:cNvSpPr txBox="1"/>
          <p:nvPr/>
        </p:nvSpPr>
        <p:spPr>
          <a:xfrm>
            <a:off x="609600" y="64516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0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PROSTA  /  </a:t>
            </a:r>
            <a:r>
              <a:rPr kumimoji="1" lang="ja-JP" altLang="en-US" sz="10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解いて終わらない。次の学習につながる。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AD3C336-0A4E-4C86-4DA3-269442A5934F}"/>
              </a:ext>
            </a:extLst>
          </p:cNvPr>
          <p:cNvSpPr txBox="1"/>
          <p:nvPr/>
        </p:nvSpPr>
        <p:spPr>
          <a:xfrm>
            <a:off x="9652000" y="6451600"/>
            <a:ext cx="193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kumimoji="1" lang="en-US" altLang="ja-JP" sz="10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07  /  7:30–8:05</a:t>
            </a:r>
            <a:endParaRPr kumimoji="1" lang="ja-JP" altLang="en-US" sz="1000">
              <a:solidFill>
                <a:srgbClr val="5C6F8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8E05F77-452E-0F0D-97D3-FE0EDACEC164}"/>
              </a:ext>
            </a:extLst>
          </p:cNvPr>
          <p:cNvSpPr txBox="1"/>
          <p:nvPr/>
        </p:nvSpPr>
        <p:spPr>
          <a:xfrm>
            <a:off x="609600" y="17018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400" b="1">
                <a:solidFill>
                  <a:srgbClr val="B03A2E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起きたこと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E44C4C3-521D-F507-8EE1-2665D58DD570}"/>
              </a:ext>
            </a:extLst>
          </p:cNvPr>
          <p:cNvSpPr txBox="1"/>
          <p:nvPr/>
        </p:nvSpPr>
        <p:spPr>
          <a:xfrm>
            <a:off x="4191000" y="1701800"/>
            <a:ext cx="330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400" b="1">
                <a:solidFill>
                  <a:srgbClr val="B9711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原因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3CA1A9F-19DF-0A76-5975-475B34291DAD}"/>
              </a:ext>
            </a:extLst>
          </p:cNvPr>
          <p:cNvSpPr txBox="1"/>
          <p:nvPr/>
        </p:nvSpPr>
        <p:spPr>
          <a:xfrm>
            <a:off x="7772400" y="17018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4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対応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19ED2B3D-CE22-0102-21BA-1A51065D2789}"/>
              </a:ext>
            </a:extLst>
          </p:cNvPr>
          <p:cNvSpPr/>
          <p:nvPr/>
        </p:nvSpPr>
        <p:spPr>
          <a:xfrm>
            <a:off x="609600" y="2032000"/>
            <a:ext cx="10972800" cy="124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448C847-3EC3-B5FF-0C4B-A566F5BE9BF9}"/>
              </a:ext>
            </a:extLst>
          </p:cNvPr>
          <p:cNvSpPr txBox="1"/>
          <p:nvPr/>
        </p:nvSpPr>
        <p:spPr>
          <a:xfrm>
            <a:off x="812800" y="22098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4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想定内のエラー（</a:t>
            </a:r>
            <a:r>
              <a:rPr kumimoji="1" lang="en-US" altLang="ja-JP" sz="14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404</a:t>
            </a:r>
            <a:r>
              <a:rPr kumimoji="1" lang="ja-JP" altLang="en-US" sz="14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など）が</a:t>
            </a:r>
            <a:r>
              <a:rPr kumimoji="1" lang="en-US" altLang="ja-JP" sz="14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500</a:t>
            </a:r>
            <a:r>
              <a:rPr kumimoji="1" lang="ja-JP" altLang="en-US" sz="14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になる（テストで</a:t>
            </a:r>
            <a:r>
              <a:rPr kumimoji="1" lang="en-US" altLang="ja-JP" sz="14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40</a:t>
            </a:r>
            <a:r>
              <a:rPr kumimoji="1" lang="ja-JP" altLang="en-US" sz="14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件発見）</a:t>
            </a:r>
          </a:p>
        </p:txBody>
      </p:sp>
      <p:sp>
        <p:nvSpPr>
          <p:cNvPr id="14" name="矢印: 右 13">
            <a:extLst>
              <a:ext uri="{FF2B5EF4-FFF2-40B4-BE49-F238E27FC236}">
                <a16:creationId xmlns:a16="http://schemas.microsoft.com/office/drawing/2014/main" id="{19C4C4C7-B7C0-6DBA-4E4F-A917553B311A}"/>
              </a:ext>
            </a:extLst>
          </p:cNvPr>
          <p:cNvSpPr/>
          <p:nvPr/>
        </p:nvSpPr>
        <p:spPr>
          <a:xfrm>
            <a:off x="3987800" y="2514600"/>
            <a:ext cx="152400" cy="254000"/>
          </a:xfrm>
          <a:prstGeom prst="rightArrow">
            <a:avLst/>
          </a:prstGeom>
          <a:solidFill>
            <a:srgbClr val="5C6F8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A892108-CEFD-6D64-7FD7-182BE1424DA5}"/>
              </a:ext>
            </a:extLst>
          </p:cNvPr>
          <p:cNvSpPr txBox="1"/>
          <p:nvPr/>
        </p:nvSpPr>
        <p:spPr>
          <a:xfrm>
            <a:off x="4267200" y="2209800"/>
            <a:ext cx="3251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内側の処理が共有トランザクションを「取消し予定」にしていた</a:t>
            </a:r>
          </a:p>
        </p:txBody>
      </p:sp>
      <p:sp>
        <p:nvSpPr>
          <p:cNvPr id="16" name="矢印: 右 15">
            <a:extLst>
              <a:ext uri="{FF2B5EF4-FFF2-40B4-BE49-F238E27FC236}">
                <a16:creationId xmlns:a16="http://schemas.microsoft.com/office/drawing/2014/main" id="{F0D1251F-7769-CA66-856C-6C75603D273C}"/>
              </a:ext>
            </a:extLst>
          </p:cNvPr>
          <p:cNvSpPr/>
          <p:nvPr/>
        </p:nvSpPr>
        <p:spPr>
          <a:xfrm>
            <a:off x="7569200" y="2514600"/>
            <a:ext cx="152400" cy="254000"/>
          </a:xfrm>
          <a:prstGeom prst="rightArrow">
            <a:avLst/>
          </a:prstGeom>
          <a:solidFill>
            <a:srgbClr val="5C6F8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39B6BE5-4913-3BEE-E674-3D928F6A850F}"/>
              </a:ext>
            </a:extLst>
          </p:cNvPr>
          <p:cNvSpPr txBox="1"/>
          <p:nvPr/>
        </p:nvSpPr>
        <p:spPr>
          <a:xfrm>
            <a:off x="7848600" y="2209800"/>
            <a:ext cx="355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4xx</a:t>
            </a:r>
            <a:r>
              <a:rPr kumimoji="1" lang="ja-JP" altLang="en-US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応答時は外側で明示的に取消し。途中の変更は保存しない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375FC85B-3585-5DA7-EF78-3F21955D2442}"/>
              </a:ext>
            </a:extLst>
          </p:cNvPr>
          <p:cNvSpPr/>
          <p:nvPr/>
        </p:nvSpPr>
        <p:spPr>
          <a:xfrm>
            <a:off x="609600" y="3429000"/>
            <a:ext cx="10972800" cy="124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473627FA-77E8-49DB-2A17-B56371B71558}"/>
              </a:ext>
            </a:extLst>
          </p:cNvPr>
          <p:cNvSpPr txBox="1"/>
          <p:nvPr/>
        </p:nvSpPr>
        <p:spPr>
          <a:xfrm>
            <a:off x="812800" y="36068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4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再読み込みで同じ解答が二重に採点される恐れ</a:t>
            </a:r>
          </a:p>
        </p:txBody>
      </p:sp>
      <p:sp>
        <p:nvSpPr>
          <p:cNvPr id="20" name="矢印: 右 19">
            <a:extLst>
              <a:ext uri="{FF2B5EF4-FFF2-40B4-BE49-F238E27FC236}">
                <a16:creationId xmlns:a16="http://schemas.microsoft.com/office/drawing/2014/main" id="{4150B83C-9788-7C6E-94F6-83CCD262F729}"/>
              </a:ext>
            </a:extLst>
          </p:cNvPr>
          <p:cNvSpPr/>
          <p:nvPr/>
        </p:nvSpPr>
        <p:spPr>
          <a:xfrm>
            <a:off x="3987800" y="3911600"/>
            <a:ext cx="152400" cy="254000"/>
          </a:xfrm>
          <a:prstGeom prst="rightArrow">
            <a:avLst/>
          </a:prstGeom>
          <a:solidFill>
            <a:srgbClr val="5C6F8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F5C03A5-D8E4-4A47-753D-A73DAD179383}"/>
              </a:ext>
            </a:extLst>
          </p:cNvPr>
          <p:cNvSpPr txBox="1"/>
          <p:nvPr/>
        </p:nvSpPr>
        <p:spPr>
          <a:xfrm>
            <a:off x="4267200" y="3606800"/>
            <a:ext cx="3251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採点の</a:t>
            </a:r>
            <a:r>
              <a:rPr kumimoji="1" lang="en-US" altLang="ja-JP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POST</a:t>
            </a:r>
            <a:r>
              <a:rPr kumimoji="1" lang="ja-JP" altLang="en-US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がブラウザーから再送される</a:t>
            </a:r>
          </a:p>
        </p:txBody>
      </p:sp>
      <p:sp>
        <p:nvSpPr>
          <p:cNvPr id="22" name="矢印: 右 21">
            <a:extLst>
              <a:ext uri="{FF2B5EF4-FFF2-40B4-BE49-F238E27FC236}">
                <a16:creationId xmlns:a16="http://schemas.microsoft.com/office/drawing/2014/main" id="{79E832C9-D588-E222-7793-627002DBF064}"/>
              </a:ext>
            </a:extLst>
          </p:cNvPr>
          <p:cNvSpPr/>
          <p:nvPr/>
        </p:nvSpPr>
        <p:spPr>
          <a:xfrm>
            <a:off x="7569200" y="3911600"/>
            <a:ext cx="152400" cy="254000"/>
          </a:xfrm>
          <a:prstGeom prst="rightArrow">
            <a:avLst/>
          </a:prstGeom>
          <a:solidFill>
            <a:srgbClr val="5C6F8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6598E717-67CA-AE8E-8DAF-0F3C57CB5CFC}"/>
              </a:ext>
            </a:extLst>
          </p:cNvPr>
          <p:cNvSpPr txBox="1"/>
          <p:nvPr/>
        </p:nvSpPr>
        <p:spPr>
          <a:xfrm>
            <a:off x="7848600" y="3606800"/>
            <a:ext cx="355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採点後は</a:t>
            </a:r>
            <a:r>
              <a:rPr kumimoji="1" lang="en-US" altLang="ja-JP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GET</a:t>
            </a:r>
            <a:r>
              <a:rPr kumimoji="1" lang="ja-JP" altLang="en-US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へ移動（</a:t>
            </a:r>
            <a:r>
              <a:rPr kumimoji="1" lang="en-US" altLang="ja-JP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PRG</a:t>
            </a:r>
            <a:r>
              <a:rPr kumimoji="1" lang="ja-JP" altLang="en-US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）＋同一タブの処理を順番待ちに</a:t>
            </a:r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2A9553CC-646E-8866-A13B-9288AE71CCAC}"/>
              </a:ext>
            </a:extLst>
          </p:cNvPr>
          <p:cNvSpPr/>
          <p:nvPr/>
        </p:nvSpPr>
        <p:spPr>
          <a:xfrm>
            <a:off x="609600" y="4826000"/>
            <a:ext cx="10972800" cy="124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2ACCCB5F-8997-8AED-45EC-9ED463CE44EA}"/>
              </a:ext>
            </a:extLst>
          </p:cNvPr>
          <p:cNvSpPr txBox="1"/>
          <p:nvPr/>
        </p:nvSpPr>
        <p:spPr>
          <a:xfrm>
            <a:off x="812800" y="50038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4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HTTPS</a:t>
            </a:r>
            <a:r>
              <a:rPr kumimoji="1" lang="ja-JP" altLang="en-US" sz="14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公開で</a:t>
            </a:r>
            <a:r>
              <a:rPr kumimoji="1" lang="en-US" altLang="ja-JP" sz="14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502</a:t>
            </a:r>
            <a:r>
              <a:rPr kumimoji="1" lang="ja-JP" altLang="en-US" sz="14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エラーとリダイレクトが繰り返される</a:t>
            </a:r>
          </a:p>
        </p:txBody>
      </p:sp>
      <p:sp>
        <p:nvSpPr>
          <p:cNvPr id="26" name="矢印: 右 25">
            <a:extLst>
              <a:ext uri="{FF2B5EF4-FFF2-40B4-BE49-F238E27FC236}">
                <a16:creationId xmlns:a16="http://schemas.microsoft.com/office/drawing/2014/main" id="{5A0E35B3-0C3A-BB58-7ED4-11050065334C}"/>
              </a:ext>
            </a:extLst>
          </p:cNvPr>
          <p:cNvSpPr/>
          <p:nvPr/>
        </p:nvSpPr>
        <p:spPr>
          <a:xfrm>
            <a:off x="3987800" y="5308600"/>
            <a:ext cx="152400" cy="254000"/>
          </a:xfrm>
          <a:prstGeom prst="rightArrow">
            <a:avLst/>
          </a:prstGeom>
          <a:solidFill>
            <a:srgbClr val="5C6F8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EFE00559-4405-C351-6AB6-7E550E6115A6}"/>
              </a:ext>
            </a:extLst>
          </p:cNvPr>
          <p:cNvSpPr txBox="1"/>
          <p:nvPr/>
        </p:nvSpPr>
        <p:spPr>
          <a:xfrm>
            <a:off x="4267200" y="5003800"/>
            <a:ext cx="3251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LB→VM</a:t>
            </a:r>
            <a:r>
              <a:rPr kumimoji="1" lang="ja-JP" altLang="en-US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を</a:t>
            </a:r>
            <a:r>
              <a:rPr kumimoji="1" lang="en-US" altLang="ja-JP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SSL</a:t>
            </a:r>
            <a:r>
              <a:rPr kumimoji="1" lang="ja-JP" altLang="en-US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接続／</a:t>
            </a:r>
            <a:r>
              <a:rPr kumimoji="1" lang="en-US" altLang="ja-JP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VM</a:t>
            </a:r>
            <a:r>
              <a:rPr kumimoji="1" lang="ja-JP" altLang="en-US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側でも</a:t>
            </a:r>
            <a:r>
              <a:rPr kumimoji="1" lang="en-US" altLang="ja-JP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https</a:t>
            </a:r>
            <a:r>
              <a:rPr kumimoji="1" lang="ja-JP" altLang="en-US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へ転送していた</a:t>
            </a:r>
          </a:p>
        </p:txBody>
      </p:sp>
      <p:sp>
        <p:nvSpPr>
          <p:cNvPr id="28" name="矢印: 右 27">
            <a:extLst>
              <a:ext uri="{FF2B5EF4-FFF2-40B4-BE49-F238E27FC236}">
                <a16:creationId xmlns:a16="http://schemas.microsoft.com/office/drawing/2014/main" id="{B892EAD2-9C19-F331-22B5-C3FA98E8FF20}"/>
              </a:ext>
            </a:extLst>
          </p:cNvPr>
          <p:cNvSpPr/>
          <p:nvPr/>
        </p:nvSpPr>
        <p:spPr>
          <a:xfrm>
            <a:off x="7569200" y="5308600"/>
            <a:ext cx="152400" cy="254000"/>
          </a:xfrm>
          <a:prstGeom prst="rightArrow">
            <a:avLst/>
          </a:prstGeom>
          <a:solidFill>
            <a:srgbClr val="5C6F8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246E6A21-5504-2C21-DEED-78E80144E45F}"/>
              </a:ext>
            </a:extLst>
          </p:cNvPr>
          <p:cNvSpPr txBox="1"/>
          <p:nvPr/>
        </p:nvSpPr>
        <p:spPr>
          <a:xfrm>
            <a:off x="7848600" y="5003800"/>
            <a:ext cx="355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暗号化は</a:t>
            </a:r>
            <a:r>
              <a:rPr kumimoji="1" lang="en-US" altLang="ja-JP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LB</a:t>
            </a:r>
            <a:r>
              <a:rPr kumimoji="1" lang="ja-JP" altLang="en-US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に集約し、</a:t>
            </a:r>
            <a:r>
              <a:rPr kumimoji="1" lang="en-US" altLang="ja-JP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VM</a:t>
            </a:r>
            <a:r>
              <a:rPr kumimoji="1" lang="ja-JP" altLang="en-US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は</a:t>
            </a:r>
            <a:r>
              <a:rPr kumimoji="1" lang="en-US" altLang="ja-JP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HTTP</a:t>
            </a:r>
            <a:r>
              <a:rPr kumimoji="1" lang="ja-JP" altLang="en-US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に統一</a:t>
            </a:r>
          </a:p>
        </p:txBody>
      </p:sp>
    </p:spTree>
    <p:extLst>
      <p:ext uri="{BB962C8B-B14F-4D97-AF65-F5344CB8AC3E}">
        <p14:creationId xmlns:p14="http://schemas.microsoft.com/office/powerpoint/2010/main" val="1943588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66DDED0E-B1F7-698C-C80B-2FAAF9E92419}"/>
              </a:ext>
            </a:extLst>
          </p:cNvPr>
          <p:cNvSpPr/>
          <p:nvPr/>
        </p:nvSpPr>
        <p:spPr>
          <a:xfrm>
            <a:off x="482600" y="406400"/>
            <a:ext cx="76200" cy="330200"/>
          </a:xfrm>
          <a:prstGeom prst="roundRect">
            <a:avLst>
              <a:gd name="adj" fmla="val 6000"/>
            </a:avLst>
          </a:prstGeom>
          <a:solidFill>
            <a:srgbClr val="09847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35A92C8-9D65-2C77-36CA-9A34453B651A}"/>
              </a:ext>
            </a:extLst>
          </p:cNvPr>
          <p:cNvSpPr txBox="1"/>
          <p:nvPr/>
        </p:nvSpPr>
        <p:spPr>
          <a:xfrm>
            <a:off x="685800" y="4445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3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08 / RELIABILITY</a:t>
            </a:r>
            <a:endParaRPr kumimoji="1" lang="ja-JP" altLang="en-US" sz="1300" b="1">
              <a:solidFill>
                <a:srgbClr val="09847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C734BCE-6F5D-BE7C-9F79-1CBC23586E98}"/>
              </a:ext>
            </a:extLst>
          </p:cNvPr>
          <p:cNvSpPr txBox="1"/>
          <p:nvPr/>
        </p:nvSpPr>
        <p:spPr>
          <a:xfrm>
            <a:off x="609600" y="9652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8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動き続けることを、数字で確認した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C8B8686-53D8-25A7-E4BA-D055235FB1A1}"/>
              </a:ext>
            </a:extLst>
          </p:cNvPr>
          <p:cNvSpPr/>
          <p:nvPr/>
        </p:nvSpPr>
        <p:spPr>
          <a:xfrm>
            <a:off x="7620000" y="355600"/>
            <a:ext cx="3962400" cy="381000"/>
          </a:xfrm>
          <a:prstGeom prst="roundRect">
            <a:avLst>
              <a:gd name="adj" fmla="val 50000"/>
            </a:avLst>
          </a:prstGeom>
          <a:solidFill>
            <a:srgbClr val="09847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294E007-84DE-155D-8FCB-EDFC251D8D50}"/>
              </a:ext>
            </a:extLst>
          </p:cNvPr>
          <p:cNvSpPr txBox="1"/>
          <p:nvPr/>
        </p:nvSpPr>
        <p:spPr>
          <a:xfrm>
            <a:off x="7747000" y="431800"/>
            <a:ext cx="370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ja-JP" altLang="en-US" sz="12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若手技術者らしさ｜実現力・質疑応答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3D4D7CD-58D5-B05B-6772-06154EE1470C}"/>
              </a:ext>
            </a:extLst>
          </p:cNvPr>
          <p:cNvSpPr txBox="1"/>
          <p:nvPr/>
        </p:nvSpPr>
        <p:spPr>
          <a:xfrm>
            <a:off x="609600" y="64516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0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PROSTA  /  </a:t>
            </a:r>
            <a:r>
              <a:rPr kumimoji="1" lang="ja-JP" altLang="en-US" sz="10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解いて終わらない。次の学習につながる。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61D53A9-724A-4412-E716-2E63068F803F}"/>
              </a:ext>
            </a:extLst>
          </p:cNvPr>
          <p:cNvSpPr txBox="1"/>
          <p:nvPr/>
        </p:nvSpPr>
        <p:spPr>
          <a:xfrm>
            <a:off x="9652000" y="6451600"/>
            <a:ext cx="193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kumimoji="1" lang="en-US" altLang="ja-JP" sz="10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08  /  8:05–8:35</a:t>
            </a:r>
            <a:endParaRPr kumimoji="1" lang="ja-JP" altLang="en-US" sz="1000">
              <a:solidFill>
                <a:srgbClr val="5C6F8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5127D663-A1D5-1B77-A1F2-D8729EC24DBA}"/>
              </a:ext>
            </a:extLst>
          </p:cNvPr>
          <p:cNvSpPr/>
          <p:nvPr/>
        </p:nvSpPr>
        <p:spPr>
          <a:xfrm>
            <a:off x="609600" y="1778000"/>
            <a:ext cx="2540000" cy="292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A4470FC-B93F-E133-385B-FFEE7C696335}"/>
              </a:ext>
            </a:extLst>
          </p:cNvPr>
          <p:cNvSpPr txBox="1"/>
          <p:nvPr/>
        </p:nvSpPr>
        <p:spPr>
          <a:xfrm>
            <a:off x="787400" y="2032000"/>
            <a:ext cx="218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ja-JP" sz="32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294</a:t>
            </a:r>
            <a:r>
              <a:rPr kumimoji="1" lang="ja-JP" altLang="en-US" sz="32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件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0394820-6A9C-74A6-F79E-ED0A93E3618A}"/>
              </a:ext>
            </a:extLst>
          </p:cNvPr>
          <p:cNvSpPr txBox="1"/>
          <p:nvPr/>
        </p:nvSpPr>
        <p:spPr>
          <a:xfrm>
            <a:off x="787400" y="2794000"/>
            <a:ext cx="218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ja-JP" altLang="en-US" sz="15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自動テスト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AB12BF3-29F3-87BB-F318-6FB372A1BF49}"/>
              </a:ext>
            </a:extLst>
          </p:cNvPr>
          <p:cNvSpPr txBox="1"/>
          <p:nvPr/>
        </p:nvSpPr>
        <p:spPr>
          <a:xfrm>
            <a:off x="787400" y="3276600"/>
            <a:ext cx="218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ja-JP" sz="12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293</a:t>
            </a:r>
            <a:r>
              <a:rPr kumimoji="1" lang="ja-JP" altLang="en-US" sz="12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成功・失敗</a:t>
            </a:r>
            <a:r>
              <a:rPr kumimoji="1" lang="en-US" altLang="ja-JP" sz="12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</a:t>
            </a:r>
            <a:r>
              <a:rPr kumimoji="1" lang="ja-JP" altLang="en-US" sz="12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・エラー</a:t>
            </a:r>
            <a:r>
              <a:rPr kumimoji="1" lang="en-US" altLang="ja-JP" sz="12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</a:t>
            </a:r>
            <a:r>
              <a:rPr kumimoji="1" lang="ja-JP" altLang="en-US" sz="12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（</a:t>
            </a:r>
            <a:r>
              <a:rPr kumimoji="1" lang="en-US" altLang="ja-JP" sz="12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</a:t>
            </a:r>
            <a:r>
              <a:rPr kumimoji="1" lang="ja-JP" altLang="en-US" sz="12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件は手動起動用でスキップ）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0E81F294-F122-F3B4-E4F5-B29835F9F904}"/>
              </a:ext>
            </a:extLst>
          </p:cNvPr>
          <p:cNvSpPr/>
          <p:nvPr/>
        </p:nvSpPr>
        <p:spPr>
          <a:xfrm>
            <a:off x="3429000" y="1778000"/>
            <a:ext cx="2540000" cy="292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7E6A835-B9D3-090F-A752-76954E5D8638}"/>
              </a:ext>
            </a:extLst>
          </p:cNvPr>
          <p:cNvSpPr txBox="1"/>
          <p:nvPr/>
        </p:nvSpPr>
        <p:spPr>
          <a:xfrm>
            <a:off x="3606800" y="2032000"/>
            <a:ext cx="218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ja-JP" sz="32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50,000</a:t>
            </a:r>
            <a:r>
              <a:rPr kumimoji="1" lang="ja-JP" altLang="en-US" sz="32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件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E8FA89F-53BE-B809-C8EE-D4CDA659D36B}"/>
              </a:ext>
            </a:extLst>
          </p:cNvPr>
          <p:cNvSpPr txBox="1"/>
          <p:nvPr/>
        </p:nvSpPr>
        <p:spPr>
          <a:xfrm>
            <a:off x="3606800" y="2794000"/>
            <a:ext cx="218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ja-JP" altLang="en-US" sz="15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大量データ検証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B830B3B-4C56-32D2-FE0B-2FE7B8E91CBF}"/>
              </a:ext>
            </a:extLst>
          </p:cNvPr>
          <p:cNvSpPr txBox="1"/>
          <p:nvPr/>
        </p:nvSpPr>
        <p:spPr>
          <a:xfrm>
            <a:off x="3606800" y="3276600"/>
            <a:ext cx="218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ja-JP" altLang="en-US" sz="12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問題</a:t>
            </a:r>
            <a:r>
              <a:rPr kumimoji="1" lang="en-US" altLang="ja-JP" sz="12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2,000</a:t>
            </a:r>
            <a:r>
              <a:rPr kumimoji="1" lang="ja-JP" altLang="en-US" sz="12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件・解答</a:t>
            </a:r>
            <a:r>
              <a:rPr kumimoji="1" lang="en-US" altLang="ja-JP" sz="12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50,000</a:t>
            </a:r>
            <a:r>
              <a:rPr kumimoji="1" lang="ja-JP" altLang="en-US" sz="12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件・フレンド</a:t>
            </a:r>
            <a:r>
              <a:rPr kumimoji="1" lang="en-US" altLang="ja-JP" sz="12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50</a:t>
            </a:r>
            <a:r>
              <a:rPr kumimoji="1" lang="ja-JP" altLang="en-US" sz="12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人で画面と集計を確認</a:t>
            </a: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90FF6488-F006-9082-05B7-A03ECBB00DDA}"/>
              </a:ext>
            </a:extLst>
          </p:cNvPr>
          <p:cNvSpPr/>
          <p:nvPr/>
        </p:nvSpPr>
        <p:spPr>
          <a:xfrm>
            <a:off x="6248400" y="1778000"/>
            <a:ext cx="2540000" cy="292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9FD408A-B8DF-46AA-8684-668ED1EF316B}"/>
              </a:ext>
            </a:extLst>
          </p:cNvPr>
          <p:cNvSpPr txBox="1"/>
          <p:nvPr/>
        </p:nvSpPr>
        <p:spPr>
          <a:xfrm>
            <a:off x="6426200" y="2032000"/>
            <a:ext cx="218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ja-JP" sz="32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44ms</a:t>
            </a:r>
            <a:endParaRPr kumimoji="1" lang="ja-JP" altLang="en-US" sz="3200" b="1">
              <a:solidFill>
                <a:srgbClr val="09847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1DD34D3-7E43-9CF2-E5FF-79BE13BA89C3}"/>
              </a:ext>
            </a:extLst>
          </p:cNvPr>
          <p:cNvSpPr txBox="1"/>
          <p:nvPr/>
        </p:nvSpPr>
        <p:spPr>
          <a:xfrm>
            <a:off x="6426200" y="2794000"/>
            <a:ext cx="218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ja-JP" altLang="en-US" sz="15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応答時間 </a:t>
            </a:r>
            <a:r>
              <a:rPr kumimoji="1" lang="en-US" altLang="ja-JP" sz="15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p95</a:t>
            </a:r>
            <a:endParaRPr kumimoji="1" lang="ja-JP" altLang="en-US" sz="1500" b="1">
              <a:solidFill>
                <a:srgbClr val="132238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D9A07B01-B076-B1E1-EA5B-532D8D2692B2}"/>
              </a:ext>
            </a:extLst>
          </p:cNvPr>
          <p:cNvSpPr txBox="1"/>
          <p:nvPr/>
        </p:nvSpPr>
        <p:spPr>
          <a:xfrm>
            <a:off x="6426200" y="3276600"/>
            <a:ext cx="218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ja-JP" sz="12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4</a:t>
            </a:r>
            <a:r>
              <a:rPr kumimoji="1" lang="ja-JP" altLang="en-US" sz="12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ユーザー並行</a:t>
            </a:r>
            <a:r>
              <a:rPr kumimoji="1" lang="en-US" altLang="ja-JP" sz="12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80</a:t>
            </a:r>
            <a:r>
              <a:rPr kumimoji="1" lang="ja-JP" altLang="en-US" sz="12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要求を含む</a:t>
            </a:r>
            <a:r>
              <a:rPr kumimoji="1" lang="en-US" altLang="ja-JP" sz="12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89</a:t>
            </a:r>
            <a:r>
              <a:rPr kumimoji="1" lang="ja-JP" altLang="en-US" sz="12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要求（最大</a:t>
            </a:r>
            <a:r>
              <a:rPr kumimoji="1" lang="en-US" altLang="ja-JP" sz="12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148ms</a:t>
            </a:r>
            <a:r>
              <a:rPr kumimoji="1" lang="ja-JP" altLang="en-US" sz="12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）</a:t>
            </a: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502CE857-1684-0E2D-FAEE-00E9F96472B9}"/>
              </a:ext>
            </a:extLst>
          </p:cNvPr>
          <p:cNvSpPr/>
          <p:nvPr/>
        </p:nvSpPr>
        <p:spPr>
          <a:xfrm>
            <a:off x="9067800" y="1778000"/>
            <a:ext cx="2540000" cy="292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D6C7D37-6760-B3CF-ECE6-C00EECBA6711}"/>
              </a:ext>
            </a:extLst>
          </p:cNvPr>
          <p:cNvSpPr txBox="1"/>
          <p:nvPr/>
        </p:nvSpPr>
        <p:spPr>
          <a:xfrm>
            <a:off x="9245600" y="2032000"/>
            <a:ext cx="218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ja-JP" sz="32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64</a:t>
            </a:r>
            <a:r>
              <a:rPr kumimoji="1" lang="ja-JP" altLang="en-US" sz="32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件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000A0DB-1CEE-4F8E-ED30-949F08E54D7D}"/>
              </a:ext>
            </a:extLst>
          </p:cNvPr>
          <p:cNvSpPr txBox="1"/>
          <p:nvPr/>
        </p:nvSpPr>
        <p:spPr>
          <a:xfrm>
            <a:off x="9245600" y="2794000"/>
            <a:ext cx="218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ja-JP" altLang="en-US" sz="15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フレンド削除の回帰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682320CB-D46E-D9D6-F841-B2972B880523}"/>
              </a:ext>
            </a:extLst>
          </p:cNvPr>
          <p:cNvSpPr txBox="1"/>
          <p:nvPr/>
        </p:nvSpPr>
        <p:spPr>
          <a:xfrm>
            <a:off x="9245600" y="3276600"/>
            <a:ext cx="218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ja-JP" altLang="en-US" sz="12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申請→承認→削除→復元を通して全成功</a:t>
            </a: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5A04FB8C-CB52-AD81-7D16-4667150705DF}"/>
              </a:ext>
            </a:extLst>
          </p:cNvPr>
          <p:cNvSpPr/>
          <p:nvPr/>
        </p:nvSpPr>
        <p:spPr>
          <a:xfrm>
            <a:off x="609600" y="4902200"/>
            <a:ext cx="10972800" cy="1346200"/>
          </a:xfrm>
          <a:prstGeom prst="roundRect">
            <a:avLst>
              <a:gd name="adj" fmla="val 6000"/>
            </a:avLst>
          </a:prstGeom>
          <a:solidFill>
            <a:srgbClr val="E1F3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DB412C73-37E5-C503-8FD6-0E1778188C3A}"/>
              </a:ext>
            </a:extLst>
          </p:cNvPr>
          <p:cNvSpPr txBox="1"/>
          <p:nvPr/>
        </p:nvSpPr>
        <p:spPr>
          <a:xfrm>
            <a:off x="838200" y="50546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5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質問に説明できるように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C94DBE94-8294-7CD1-917D-B717728F8720}"/>
              </a:ext>
            </a:extLst>
          </p:cNvPr>
          <p:cNvSpPr txBox="1"/>
          <p:nvPr/>
        </p:nvSpPr>
        <p:spPr>
          <a:xfrm>
            <a:off x="838200" y="54356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3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全機能の仕組み・判断理由・限界を「実装解説メモ」（全</a:t>
            </a:r>
            <a:r>
              <a:rPr kumimoji="1" lang="en-US" altLang="ja-JP" sz="13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12</a:t>
            </a:r>
            <a:r>
              <a:rPr kumimoji="1" lang="ja-JP" altLang="en-US" sz="13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章）に整理
</a:t>
            </a:r>
            <a:r>
              <a:rPr kumimoji="1" lang="en-US" altLang="ja-JP" sz="13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※ </a:t>
            </a:r>
            <a:r>
              <a:rPr kumimoji="1" lang="ja-JP" altLang="en-US" sz="13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検証は隔離した</a:t>
            </a:r>
            <a:r>
              <a:rPr kumimoji="1" lang="en-US" altLang="ja-JP" sz="13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H2DB</a:t>
            </a:r>
            <a:r>
              <a:rPr kumimoji="1" lang="ja-JP" altLang="en-US" sz="13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・ローカル計測。本番性能や</a:t>
            </a:r>
            <a:r>
              <a:rPr kumimoji="1" lang="en-US" altLang="ja-JP" sz="13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Oracle</a:t>
            </a:r>
            <a:r>
              <a:rPr kumimoji="1" lang="ja-JP" altLang="en-US" sz="13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固有の動作の保証ではない</a:t>
            </a:r>
          </a:p>
        </p:txBody>
      </p:sp>
    </p:spTree>
    <p:extLst>
      <p:ext uri="{BB962C8B-B14F-4D97-AF65-F5344CB8AC3E}">
        <p14:creationId xmlns:p14="http://schemas.microsoft.com/office/powerpoint/2010/main" val="2998816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84B15F18-05B3-F99E-B82D-2FCE45DA342A}"/>
              </a:ext>
            </a:extLst>
          </p:cNvPr>
          <p:cNvSpPr/>
          <p:nvPr/>
        </p:nvSpPr>
        <p:spPr>
          <a:xfrm>
            <a:off x="482600" y="406400"/>
            <a:ext cx="76200" cy="330200"/>
          </a:xfrm>
          <a:prstGeom prst="roundRect">
            <a:avLst>
              <a:gd name="adj" fmla="val 6000"/>
            </a:avLst>
          </a:prstGeom>
          <a:solidFill>
            <a:srgbClr val="09847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1668A4C-B13E-CFBF-4EA1-33F18D7D0063}"/>
              </a:ext>
            </a:extLst>
          </p:cNvPr>
          <p:cNvSpPr txBox="1"/>
          <p:nvPr/>
        </p:nvSpPr>
        <p:spPr>
          <a:xfrm>
            <a:off x="685800" y="4445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3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09 / LEARNINGS</a:t>
            </a:r>
            <a:endParaRPr kumimoji="1" lang="ja-JP" altLang="en-US" sz="1300" b="1">
              <a:solidFill>
                <a:srgbClr val="09847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3596906-6683-03F4-1B3D-65770EC568D3}"/>
              </a:ext>
            </a:extLst>
          </p:cNvPr>
          <p:cNvSpPr txBox="1"/>
          <p:nvPr/>
        </p:nvSpPr>
        <p:spPr>
          <a:xfrm>
            <a:off x="609600" y="9652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8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学んだこと、そしてこれから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CAE1C32E-51CA-F84C-5568-6CEE763CF8FD}"/>
              </a:ext>
            </a:extLst>
          </p:cNvPr>
          <p:cNvSpPr/>
          <p:nvPr/>
        </p:nvSpPr>
        <p:spPr>
          <a:xfrm>
            <a:off x="7620000" y="355600"/>
            <a:ext cx="3962400" cy="381000"/>
          </a:xfrm>
          <a:prstGeom prst="roundRect">
            <a:avLst>
              <a:gd name="adj" fmla="val 50000"/>
            </a:avLst>
          </a:prstGeom>
          <a:solidFill>
            <a:srgbClr val="09847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BE4D2E1-1717-BBEF-B204-B95DD06B2AB1}"/>
              </a:ext>
            </a:extLst>
          </p:cNvPr>
          <p:cNvSpPr txBox="1"/>
          <p:nvPr/>
        </p:nvSpPr>
        <p:spPr>
          <a:xfrm>
            <a:off x="7747000" y="431800"/>
            <a:ext cx="3708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ja-JP" altLang="en-US" sz="12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若手技術者らしさ｜学び・成長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D01AE53-56D2-E488-881D-FD27FE4CA3F4}"/>
              </a:ext>
            </a:extLst>
          </p:cNvPr>
          <p:cNvSpPr txBox="1"/>
          <p:nvPr/>
        </p:nvSpPr>
        <p:spPr>
          <a:xfrm>
            <a:off x="609600" y="64516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0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PROSTA  /  </a:t>
            </a:r>
            <a:r>
              <a:rPr kumimoji="1" lang="ja-JP" altLang="en-US" sz="10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解いて終わらない。次の学習につながる。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BF4ACAF-46F8-00ED-5472-EBD7412512E7}"/>
              </a:ext>
            </a:extLst>
          </p:cNvPr>
          <p:cNvSpPr txBox="1"/>
          <p:nvPr/>
        </p:nvSpPr>
        <p:spPr>
          <a:xfrm>
            <a:off x="9652000" y="6451600"/>
            <a:ext cx="193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kumimoji="1" lang="en-US" altLang="ja-JP" sz="10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09  /  8:35–8:55</a:t>
            </a:r>
            <a:endParaRPr kumimoji="1" lang="ja-JP" altLang="en-US" sz="1000">
              <a:solidFill>
                <a:srgbClr val="5C6F8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037C7A08-DF81-86CC-E0A7-3276898E8E8A}"/>
              </a:ext>
            </a:extLst>
          </p:cNvPr>
          <p:cNvSpPr/>
          <p:nvPr/>
        </p:nvSpPr>
        <p:spPr>
          <a:xfrm>
            <a:off x="609600" y="1778000"/>
            <a:ext cx="7112000" cy="863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7428712-63C7-4C2D-08E6-9440723EA704}"/>
              </a:ext>
            </a:extLst>
          </p:cNvPr>
          <p:cNvSpPr txBox="1"/>
          <p:nvPr/>
        </p:nvSpPr>
        <p:spPr>
          <a:xfrm>
            <a:off x="838200" y="1905000"/>
            <a:ext cx="665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7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「失敗したとき」まで設計する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1F2633E-3225-D8BE-44AE-52E9B7EBDE87}"/>
              </a:ext>
            </a:extLst>
          </p:cNvPr>
          <p:cNvSpPr txBox="1"/>
          <p:nvPr/>
        </p:nvSpPr>
        <p:spPr>
          <a:xfrm>
            <a:off x="838200" y="2260600"/>
            <a:ext cx="665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2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正常な流れだけでなく、エラー・二重送信・同時ログインを考える大切さ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001469BC-FB1C-F175-871A-97D243802662}"/>
              </a:ext>
            </a:extLst>
          </p:cNvPr>
          <p:cNvSpPr/>
          <p:nvPr/>
        </p:nvSpPr>
        <p:spPr>
          <a:xfrm>
            <a:off x="609600" y="2794000"/>
            <a:ext cx="7112000" cy="863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BF95358-E707-07D5-3E59-7740B565F933}"/>
              </a:ext>
            </a:extLst>
          </p:cNvPr>
          <p:cNvSpPr txBox="1"/>
          <p:nvPr/>
        </p:nvSpPr>
        <p:spPr>
          <a:xfrm>
            <a:off x="838200" y="2921000"/>
            <a:ext cx="665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7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テストが不具合を先に見つける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3DB6409-3298-7948-4163-53556A78FDB5}"/>
              </a:ext>
            </a:extLst>
          </p:cNvPr>
          <p:cNvSpPr txBox="1"/>
          <p:nvPr/>
        </p:nvSpPr>
        <p:spPr>
          <a:xfrm>
            <a:off x="838200" y="3276600"/>
            <a:ext cx="665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2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テストを増やしたことで、</a:t>
            </a:r>
            <a:r>
              <a:rPr kumimoji="1" lang="en-US" altLang="ja-JP" sz="12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40</a:t>
            </a:r>
            <a:r>
              <a:rPr kumimoji="1" lang="ja-JP" altLang="en-US" sz="12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件の隠れた不具合を本番前に発見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F3A60312-0DAC-58F9-ED58-4F32065C862C}"/>
              </a:ext>
            </a:extLst>
          </p:cNvPr>
          <p:cNvSpPr/>
          <p:nvPr/>
        </p:nvSpPr>
        <p:spPr>
          <a:xfrm>
            <a:off x="609600" y="3810000"/>
            <a:ext cx="7112000" cy="863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0BB22E0-E062-7A75-C448-D75B002F1153}"/>
              </a:ext>
            </a:extLst>
          </p:cNvPr>
          <p:cNvSpPr txBox="1"/>
          <p:nvPr/>
        </p:nvSpPr>
        <p:spPr>
          <a:xfrm>
            <a:off x="838200" y="3937000"/>
            <a:ext cx="665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7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アプリとインフラを分けて考える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A6E3232-721B-4851-2334-EDE34CF27261}"/>
              </a:ext>
            </a:extLst>
          </p:cNvPr>
          <p:cNvSpPr txBox="1"/>
          <p:nvPr/>
        </p:nvSpPr>
        <p:spPr>
          <a:xfrm>
            <a:off x="838200" y="4292600"/>
            <a:ext cx="6654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2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どこで暗号化し、どこへ何を渡すかを図にすると原因が分かる</a:t>
            </a: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6E9D3C14-A7D2-E13E-D2A4-0F5DC67EB99B}"/>
              </a:ext>
            </a:extLst>
          </p:cNvPr>
          <p:cNvSpPr/>
          <p:nvPr/>
        </p:nvSpPr>
        <p:spPr>
          <a:xfrm>
            <a:off x="7975600" y="1778000"/>
            <a:ext cx="3606800" cy="2895600"/>
          </a:xfrm>
          <a:prstGeom prst="roundRect">
            <a:avLst>
              <a:gd name="adj" fmla="val 6000"/>
            </a:avLst>
          </a:prstGeom>
          <a:solidFill>
            <a:srgbClr val="E4EC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C73EEA5-53C6-BA74-919D-404C9C9F95E8}"/>
              </a:ext>
            </a:extLst>
          </p:cNvPr>
          <p:cNvSpPr txBox="1"/>
          <p:nvPr/>
        </p:nvSpPr>
        <p:spPr>
          <a:xfrm>
            <a:off x="8204200" y="1981200"/>
            <a:ext cx="3149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500" b="1">
                <a:solidFill>
                  <a:srgbClr val="2F549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これから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BB6D5812-B8E1-A1D6-7425-EDD818A2E1A1}"/>
              </a:ext>
            </a:extLst>
          </p:cNvPr>
          <p:cNvSpPr txBox="1"/>
          <p:nvPr/>
        </p:nvSpPr>
        <p:spPr>
          <a:xfrm>
            <a:off x="8204200" y="2387600"/>
            <a:ext cx="3149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本番環境での確認
（</a:t>
            </a:r>
            <a:r>
              <a:rPr kumimoji="1" lang="en-US" altLang="ja-JP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Oracle</a:t>
            </a:r>
            <a:r>
              <a:rPr kumimoji="1" lang="ja-JP" altLang="en-US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・</a:t>
            </a:r>
            <a:r>
              <a:rPr kumimoji="1" lang="en-US" altLang="ja-JP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HTTPS</a:t>
            </a:r>
            <a:r>
              <a:rPr kumimoji="1" lang="ja-JP" altLang="en-US" sz="14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・スマホ実機）
ブックマーク
全ユーザーランキング
フレンド対戦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2421110B-F4FF-BB25-75C2-7A1AE5AADC2C}"/>
              </a:ext>
            </a:extLst>
          </p:cNvPr>
          <p:cNvSpPr txBox="1"/>
          <p:nvPr/>
        </p:nvSpPr>
        <p:spPr>
          <a:xfrm>
            <a:off x="609600" y="49784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ja-JP" altLang="en-US" sz="26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解いて終わらない。次の学習につながる。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FAD292AD-C270-9AE8-FA06-1FABBE43A4AC}"/>
              </a:ext>
            </a:extLst>
          </p:cNvPr>
          <p:cNvSpPr txBox="1"/>
          <p:nvPr/>
        </p:nvSpPr>
        <p:spPr>
          <a:xfrm>
            <a:off x="609600" y="56642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ja-JP" altLang="en-US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ご清聴ありがとうございました。</a:t>
            </a:r>
          </a:p>
        </p:txBody>
      </p:sp>
    </p:spTree>
    <p:extLst>
      <p:ext uri="{BB962C8B-B14F-4D97-AF65-F5344CB8AC3E}">
        <p14:creationId xmlns:p14="http://schemas.microsoft.com/office/powerpoint/2010/main" val="1083208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2285CF60-B2C7-58DC-263A-306F2ECDCB85}"/>
              </a:ext>
            </a:extLst>
          </p:cNvPr>
          <p:cNvSpPr/>
          <p:nvPr/>
        </p:nvSpPr>
        <p:spPr>
          <a:xfrm>
            <a:off x="482600" y="406400"/>
            <a:ext cx="76200" cy="330200"/>
          </a:xfrm>
          <a:prstGeom prst="roundRect">
            <a:avLst>
              <a:gd name="adj" fmla="val 6000"/>
            </a:avLst>
          </a:prstGeom>
          <a:solidFill>
            <a:srgbClr val="09847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416E728-9CB3-51CB-0E12-136B59F82B37}"/>
              </a:ext>
            </a:extLst>
          </p:cNvPr>
          <p:cNvSpPr txBox="1"/>
          <p:nvPr/>
        </p:nvSpPr>
        <p:spPr>
          <a:xfrm>
            <a:off x="685800" y="4445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3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APPENDIX A</a:t>
            </a:r>
            <a:endParaRPr kumimoji="1" lang="ja-JP" altLang="en-US" sz="1300" b="1">
              <a:solidFill>
                <a:srgbClr val="09847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0DA6D4E-F056-406D-18D7-E12A4518AFC9}"/>
              </a:ext>
            </a:extLst>
          </p:cNvPr>
          <p:cNvSpPr txBox="1"/>
          <p:nvPr/>
        </p:nvSpPr>
        <p:spPr>
          <a:xfrm>
            <a:off x="609600" y="9652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8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審査観点との対応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51C328E-4969-DFA3-D814-842CB2D58DEB}"/>
              </a:ext>
            </a:extLst>
          </p:cNvPr>
          <p:cNvSpPr txBox="1"/>
          <p:nvPr/>
        </p:nvSpPr>
        <p:spPr>
          <a:xfrm>
            <a:off x="609600" y="64516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0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PROSTA  /  </a:t>
            </a:r>
            <a:r>
              <a:rPr kumimoji="1" lang="ja-JP" altLang="en-US" sz="10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解いて終わらない。次の学習につながる。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1536F09-EC75-D8DD-5A68-20FB33E59CDB}"/>
              </a:ext>
            </a:extLst>
          </p:cNvPr>
          <p:cNvSpPr txBox="1"/>
          <p:nvPr/>
        </p:nvSpPr>
        <p:spPr>
          <a:xfrm>
            <a:off x="9652000" y="6451600"/>
            <a:ext cx="193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kumimoji="1" lang="en-US" altLang="ja-JP" sz="10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10  /  </a:t>
            </a:r>
            <a:r>
              <a:rPr kumimoji="1" lang="ja-JP" altLang="en-US" sz="10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付録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55AAD287-79F7-6921-B979-3B7A7E310109}"/>
              </a:ext>
            </a:extLst>
          </p:cNvPr>
          <p:cNvSpPr/>
          <p:nvPr/>
        </p:nvSpPr>
        <p:spPr>
          <a:xfrm>
            <a:off x="609600" y="1651000"/>
            <a:ext cx="1524000" cy="38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9F72B1FB-FDEB-C9CA-6076-4546C9042F50}"/>
              </a:ext>
            </a:extLst>
          </p:cNvPr>
          <p:cNvSpPr/>
          <p:nvPr/>
        </p:nvSpPr>
        <p:spPr>
          <a:xfrm>
            <a:off x="2260600" y="1651000"/>
            <a:ext cx="4597400" cy="381000"/>
          </a:xfrm>
          <a:prstGeom prst="roundRect">
            <a:avLst>
              <a:gd name="adj" fmla="val 6000"/>
            </a:avLst>
          </a:prstGeom>
          <a:solidFill>
            <a:srgbClr val="2F549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3628992-CCE2-D2B7-DD5F-057D5E77DAD1}"/>
              </a:ext>
            </a:extLst>
          </p:cNvPr>
          <p:cNvSpPr txBox="1"/>
          <p:nvPr/>
        </p:nvSpPr>
        <p:spPr>
          <a:xfrm>
            <a:off x="2260600" y="1727200"/>
            <a:ext cx="459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ja-JP" altLang="en-US" sz="14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困りごと解決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837AE3A8-EF55-B6EE-FB8D-4AFB99D5716E}"/>
              </a:ext>
            </a:extLst>
          </p:cNvPr>
          <p:cNvSpPr/>
          <p:nvPr/>
        </p:nvSpPr>
        <p:spPr>
          <a:xfrm>
            <a:off x="6985000" y="1651000"/>
            <a:ext cx="4597400" cy="381000"/>
          </a:xfrm>
          <a:prstGeom prst="roundRect">
            <a:avLst>
              <a:gd name="adj" fmla="val 6000"/>
            </a:avLst>
          </a:prstGeom>
          <a:solidFill>
            <a:srgbClr val="09847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93D93BA-B182-DAFA-8EA6-6CFDFE17D05C}"/>
              </a:ext>
            </a:extLst>
          </p:cNvPr>
          <p:cNvSpPr txBox="1"/>
          <p:nvPr/>
        </p:nvSpPr>
        <p:spPr>
          <a:xfrm>
            <a:off x="6985000" y="1727200"/>
            <a:ext cx="459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ja-JP" altLang="en-US" sz="1400" b="1">
                <a:solidFill>
                  <a:srgbClr val="FFFFFF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若手技術者らしさ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9BE9D5FB-ED7D-37C3-3448-CB0E568CDA0C}"/>
              </a:ext>
            </a:extLst>
          </p:cNvPr>
          <p:cNvSpPr/>
          <p:nvPr/>
        </p:nvSpPr>
        <p:spPr>
          <a:xfrm>
            <a:off x="2260600" y="2133600"/>
            <a:ext cx="4597400" cy="132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AAC77D8-B2E2-A718-18B6-9C0980DA997D}"/>
              </a:ext>
            </a:extLst>
          </p:cNvPr>
          <p:cNvSpPr txBox="1"/>
          <p:nvPr/>
        </p:nvSpPr>
        <p:spPr>
          <a:xfrm>
            <a:off x="2463800" y="22860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zh-TW" altLang="en-US" sz="1600" b="1">
                <a:solidFill>
                  <a:srgbClr val="2F549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課題解決価値</a:t>
            </a:r>
            <a:endParaRPr kumimoji="1" lang="ja-JP" altLang="en-US" sz="1600" b="1">
              <a:solidFill>
                <a:srgbClr val="2F5496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A54EEEE-DBDA-D313-0907-AE24BCA984E0}"/>
              </a:ext>
            </a:extLst>
          </p:cNvPr>
          <p:cNvSpPr txBox="1"/>
          <p:nvPr/>
        </p:nvSpPr>
        <p:spPr>
          <a:xfrm>
            <a:off x="2463800" y="26670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3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誰の困りごとか：</a:t>
            </a:r>
            <a:r>
              <a:rPr kumimoji="1" lang="en-US" altLang="ja-JP" sz="13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P2
</a:t>
            </a:r>
            <a:r>
              <a:rPr kumimoji="1" lang="ja-JP" altLang="en-US" sz="13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解決効果・実用性：</a:t>
            </a:r>
            <a:r>
              <a:rPr kumimoji="1" lang="en-US" altLang="ja-JP" sz="13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P3</a:t>
            </a:r>
            <a:endParaRPr kumimoji="1" lang="ja-JP" altLang="en-US" sz="1300">
              <a:solidFill>
                <a:srgbClr val="132238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8BC24A3B-9D69-E223-1852-F42D164210E5}"/>
              </a:ext>
            </a:extLst>
          </p:cNvPr>
          <p:cNvSpPr/>
          <p:nvPr/>
        </p:nvSpPr>
        <p:spPr>
          <a:xfrm>
            <a:off x="6985000" y="2133600"/>
            <a:ext cx="4597400" cy="132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6AF1C4B-EFA5-0C97-8ADC-B395446CDB8A}"/>
              </a:ext>
            </a:extLst>
          </p:cNvPr>
          <p:cNvSpPr txBox="1"/>
          <p:nvPr/>
        </p:nvSpPr>
        <p:spPr>
          <a:xfrm>
            <a:off x="7188200" y="22860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6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技術チャレンジ・成長性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B1FF813-F06D-4288-6C12-6E09AD2678F1}"/>
              </a:ext>
            </a:extLst>
          </p:cNvPr>
          <p:cNvSpPr txBox="1"/>
          <p:nvPr/>
        </p:nvSpPr>
        <p:spPr>
          <a:xfrm>
            <a:off x="7188200" y="26670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3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新技術への挑戦：</a:t>
            </a:r>
            <a:r>
              <a:rPr kumimoji="1" lang="en-US" altLang="ja-JP" sz="13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P6
</a:t>
            </a:r>
            <a:r>
              <a:rPr kumimoji="1" lang="ja-JP" altLang="en-US" sz="13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試行錯誤：</a:t>
            </a:r>
            <a:r>
              <a:rPr kumimoji="1" lang="en-US" altLang="ja-JP" sz="13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P7</a:t>
            </a:r>
            <a:r>
              <a:rPr kumimoji="1" lang="ja-JP" altLang="en-US" sz="13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　学び：</a:t>
            </a:r>
            <a:r>
              <a:rPr kumimoji="1" lang="en-US" altLang="ja-JP" sz="13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P9</a:t>
            </a:r>
            <a:endParaRPr kumimoji="1" lang="ja-JP" altLang="en-US" sz="1300">
              <a:solidFill>
                <a:srgbClr val="132238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A26C0127-FB0D-0E6A-443B-6902DF4928F8}"/>
              </a:ext>
            </a:extLst>
          </p:cNvPr>
          <p:cNvSpPr/>
          <p:nvPr/>
        </p:nvSpPr>
        <p:spPr>
          <a:xfrm>
            <a:off x="2260600" y="3556000"/>
            <a:ext cx="4597400" cy="132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1076123B-4910-319C-519E-D2ABC4DAD368}"/>
              </a:ext>
            </a:extLst>
          </p:cNvPr>
          <p:cNvSpPr txBox="1"/>
          <p:nvPr/>
        </p:nvSpPr>
        <p:spPr>
          <a:xfrm>
            <a:off x="2463800" y="37084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600" b="1">
                <a:solidFill>
                  <a:srgbClr val="2F549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ワクワク・独創性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ED59EC76-46D2-F629-DB1A-195899DBF449}"/>
              </a:ext>
            </a:extLst>
          </p:cNvPr>
          <p:cNvSpPr txBox="1"/>
          <p:nvPr/>
        </p:nvSpPr>
        <p:spPr>
          <a:xfrm>
            <a:off x="2463800" y="40894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3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育てる・達成する・競う：</a:t>
            </a:r>
            <a:r>
              <a:rPr kumimoji="1" lang="en-US" altLang="ja-JP" sz="13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P4
</a:t>
            </a:r>
            <a:r>
              <a:rPr kumimoji="1" lang="ja-JP" altLang="en-US" sz="13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将来性：</a:t>
            </a:r>
            <a:r>
              <a:rPr kumimoji="1" lang="en-US" altLang="ja-JP" sz="13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P4</a:t>
            </a:r>
            <a:r>
              <a:rPr kumimoji="1" lang="ja-JP" altLang="en-US" sz="13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・</a:t>
            </a:r>
            <a:r>
              <a:rPr kumimoji="1" lang="en-US" altLang="ja-JP" sz="13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P9</a:t>
            </a:r>
            <a:endParaRPr kumimoji="1" lang="ja-JP" altLang="en-US" sz="1300">
              <a:solidFill>
                <a:srgbClr val="132238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74E82E9C-6FB2-FA57-452B-3B06858E590C}"/>
              </a:ext>
            </a:extLst>
          </p:cNvPr>
          <p:cNvSpPr/>
          <p:nvPr/>
        </p:nvSpPr>
        <p:spPr>
          <a:xfrm>
            <a:off x="6985000" y="3556000"/>
            <a:ext cx="4597400" cy="1320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80FEC549-8881-D283-7301-2BB978D5F676}"/>
              </a:ext>
            </a:extLst>
          </p:cNvPr>
          <p:cNvSpPr txBox="1"/>
          <p:nvPr/>
        </p:nvSpPr>
        <p:spPr>
          <a:xfrm>
            <a:off x="7188200" y="37084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6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実現力・質疑応答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183C8129-6E41-FF78-58F2-088A57D734C4}"/>
              </a:ext>
            </a:extLst>
          </p:cNvPr>
          <p:cNvSpPr txBox="1"/>
          <p:nvPr/>
        </p:nvSpPr>
        <p:spPr>
          <a:xfrm>
            <a:off x="7188200" y="4089400"/>
            <a:ext cx="419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3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実際の動作：</a:t>
            </a:r>
            <a:r>
              <a:rPr kumimoji="1" lang="en-US" altLang="ja-JP" sz="13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P5</a:t>
            </a:r>
            <a:r>
              <a:rPr kumimoji="1" lang="ja-JP" altLang="en-US" sz="13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デモ
安定性：</a:t>
            </a:r>
            <a:r>
              <a:rPr kumimoji="1" lang="en-US" altLang="ja-JP" sz="13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P8</a:t>
            </a:r>
            <a:r>
              <a:rPr kumimoji="1" lang="ja-JP" altLang="en-US" sz="13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　説明：実装解説メモ</a:t>
            </a:r>
          </a:p>
        </p:txBody>
      </p: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1DF51AF7-1BF2-FBDC-C670-C0CBF1845BDA}"/>
              </a:ext>
            </a:extLst>
          </p:cNvPr>
          <p:cNvSpPr/>
          <p:nvPr/>
        </p:nvSpPr>
        <p:spPr>
          <a:xfrm>
            <a:off x="609600" y="2133600"/>
            <a:ext cx="1524000" cy="2743200"/>
          </a:xfrm>
          <a:prstGeom prst="roundRect">
            <a:avLst>
              <a:gd name="adj" fmla="val 6000"/>
            </a:avLst>
          </a:prstGeom>
          <a:solidFill>
            <a:srgbClr val="E4ECF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3A75914E-C7D0-3970-3C90-AD73DDAD0967}"/>
              </a:ext>
            </a:extLst>
          </p:cNvPr>
          <p:cNvSpPr txBox="1"/>
          <p:nvPr/>
        </p:nvSpPr>
        <p:spPr>
          <a:xfrm>
            <a:off x="736600" y="3302000"/>
            <a:ext cx="127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ja-JP" altLang="en-US" sz="15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評価観点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5AAC395C-2A90-608D-2696-81568C45E13E}"/>
              </a:ext>
            </a:extLst>
          </p:cNvPr>
          <p:cNvSpPr/>
          <p:nvPr/>
        </p:nvSpPr>
        <p:spPr>
          <a:xfrm>
            <a:off x="609600" y="5003800"/>
            <a:ext cx="10972800" cy="1244600"/>
          </a:xfrm>
          <a:prstGeom prst="roundRect">
            <a:avLst>
              <a:gd name="adj" fmla="val 6000"/>
            </a:avLst>
          </a:prstGeom>
          <a:solidFill>
            <a:srgbClr val="E1F3E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D26C61FD-8711-673E-A86C-E1CBCB1753A3}"/>
              </a:ext>
            </a:extLst>
          </p:cNvPr>
          <p:cNvSpPr txBox="1"/>
          <p:nvPr/>
        </p:nvSpPr>
        <p:spPr>
          <a:xfrm>
            <a:off x="838200" y="5130800"/>
            <a:ext cx="254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5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AI</a:t>
            </a:r>
            <a:r>
              <a:rPr kumimoji="1" lang="ja-JP" altLang="en-US" sz="15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評価への配慮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CDDED8ED-84AF-FEB0-4EAD-587E804CF53C}"/>
              </a:ext>
            </a:extLst>
          </p:cNvPr>
          <p:cNvSpPr txBox="1"/>
          <p:nvPr/>
        </p:nvSpPr>
        <p:spPr>
          <a:xfrm>
            <a:off x="838200" y="54864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2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論理構成：課題→解決→デモ→技術→試行錯誤→学びの一本線　具体性：対象者・件数・応答時間を数値で
技術説明：構成図と「起きたこと→原因→対応」　資料品質：</a:t>
            </a:r>
            <a:r>
              <a:rPr kumimoji="1" lang="en-US" altLang="ja-JP" sz="12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</a:t>
            </a:r>
            <a:r>
              <a:rPr kumimoji="1" lang="ja-JP" altLang="en-US" sz="12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スライド</a:t>
            </a:r>
            <a:r>
              <a:rPr kumimoji="1" lang="en-US" altLang="ja-JP" sz="12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</a:t>
            </a:r>
            <a:r>
              <a:rPr kumimoji="1" lang="ja-JP" altLang="en-US" sz="12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メッセージ・観点タグを表示</a:t>
            </a:r>
          </a:p>
        </p:txBody>
      </p:sp>
    </p:spTree>
    <p:extLst>
      <p:ext uri="{BB962C8B-B14F-4D97-AF65-F5344CB8AC3E}">
        <p14:creationId xmlns:p14="http://schemas.microsoft.com/office/powerpoint/2010/main" val="1478053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AF9E1361-F155-2958-BC93-4BCAFAAF000D}"/>
              </a:ext>
            </a:extLst>
          </p:cNvPr>
          <p:cNvSpPr/>
          <p:nvPr/>
        </p:nvSpPr>
        <p:spPr>
          <a:xfrm>
            <a:off x="482600" y="406400"/>
            <a:ext cx="76200" cy="330200"/>
          </a:xfrm>
          <a:prstGeom prst="roundRect">
            <a:avLst>
              <a:gd name="adj" fmla="val 6000"/>
            </a:avLst>
          </a:prstGeom>
          <a:solidFill>
            <a:srgbClr val="09847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4915D4F-879C-6AEA-7410-6DEF85F8CB33}"/>
              </a:ext>
            </a:extLst>
          </p:cNvPr>
          <p:cNvSpPr txBox="1"/>
          <p:nvPr/>
        </p:nvSpPr>
        <p:spPr>
          <a:xfrm>
            <a:off x="685800" y="444500"/>
            <a:ext cx="660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300" b="1">
                <a:solidFill>
                  <a:srgbClr val="09847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APPENDIX B</a:t>
            </a:r>
            <a:endParaRPr kumimoji="1" lang="ja-JP" altLang="en-US" sz="1300" b="1">
              <a:solidFill>
                <a:srgbClr val="098474"/>
              </a:solidFill>
              <a:latin typeface="Yu Gothic" panose="020B0400000000000000" pitchFamily="50" charset="-128"/>
              <a:ea typeface="Yu Gothic" panose="020B0400000000000000" pitchFamily="50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80692D5-859B-459E-145F-CEEACB80CADB}"/>
              </a:ext>
            </a:extLst>
          </p:cNvPr>
          <p:cNvSpPr txBox="1"/>
          <p:nvPr/>
        </p:nvSpPr>
        <p:spPr>
          <a:xfrm>
            <a:off x="609600" y="965200"/>
            <a:ext cx="1097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2800" b="1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想定される質問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458D4E6-877F-4C6F-8960-9EBCDB1EE8CB}"/>
              </a:ext>
            </a:extLst>
          </p:cNvPr>
          <p:cNvSpPr txBox="1"/>
          <p:nvPr/>
        </p:nvSpPr>
        <p:spPr>
          <a:xfrm>
            <a:off x="609600" y="6451600"/>
            <a:ext cx="762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0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PROSTA  /  </a:t>
            </a:r>
            <a:r>
              <a:rPr kumimoji="1" lang="ja-JP" altLang="en-US" sz="10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解いて終わらない。次の学習につながる。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C0703C6-B16F-927E-FE61-86E201BEA4B0}"/>
              </a:ext>
            </a:extLst>
          </p:cNvPr>
          <p:cNvSpPr txBox="1"/>
          <p:nvPr/>
        </p:nvSpPr>
        <p:spPr>
          <a:xfrm>
            <a:off x="9652000" y="6451600"/>
            <a:ext cx="1930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kumimoji="1" lang="en-US" altLang="ja-JP" sz="10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11  /  </a:t>
            </a:r>
            <a:r>
              <a:rPr kumimoji="1" lang="ja-JP" altLang="en-US" sz="1000">
                <a:solidFill>
                  <a:srgbClr val="5C6F84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付録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5B6FF596-C809-E58B-A72B-748C0EC6EC0B}"/>
              </a:ext>
            </a:extLst>
          </p:cNvPr>
          <p:cNvSpPr/>
          <p:nvPr/>
        </p:nvSpPr>
        <p:spPr>
          <a:xfrm>
            <a:off x="609600" y="1701800"/>
            <a:ext cx="10972800" cy="10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987E2F3-B2DF-54BC-214D-7B91517CEE94}"/>
              </a:ext>
            </a:extLst>
          </p:cNvPr>
          <p:cNvSpPr txBox="1"/>
          <p:nvPr/>
        </p:nvSpPr>
        <p:spPr>
          <a:xfrm>
            <a:off x="838200" y="1828800"/>
            <a:ext cx="1051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500" b="1">
                <a:solidFill>
                  <a:srgbClr val="2F549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Q. </a:t>
            </a:r>
            <a:r>
              <a:rPr kumimoji="1" lang="ja-JP" altLang="en-US" sz="1500" b="1">
                <a:solidFill>
                  <a:srgbClr val="2F549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学習効果は実証済み？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E4818DE-5D72-B24D-BF50-6EBE741F1A39}"/>
              </a:ext>
            </a:extLst>
          </p:cNvPr>
          <p:cNvSpPr txBox="1"/>
          <p:nvPr/>
        </p:nvSpPr>
        <p:spPr>
          <a:xfrm>
            <a:off x="838200" y="2184400"/>
            <a:ext cx="1051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3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まだ実証していません。継続しやすくする設計として実装した段階で、利用者での効果測定が次の課題です。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FBA0E0FE-B17A-CE5F-2990-2D5E93B8D9CA}"/>
              </a:ext>
            </a:extLst>
          </p:cNvPr>
          <p:cNvSpPr/>
          <p:nvPr/>
        </p:nvSpPr>
        <p:spPr>
          <a:xfrm>
            <a:off x="609600" y="2844800"/>
            <a:ext cx="10972800" cy="10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BB82FDE-DC87-B063-E532-6E98F851B46B}"/>
              </a:ext>
            </a:extLst>
          </p:cNvPr>
          <p:cNvSpPr txBox="1"/>
          <p:nvPr/>
        </p:nvSpPr>
        <p:spPr>
          <a:xfrm>
            <a:off x="838200" y="2971800"/>
            <a:ext cx="1051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500" b="1">
                <a:solidFill>
                  <a:srgbClr val="2F549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Q. </a:t>
            </a:r>
            <a:r>
              <a:rPr kumimoji="1" lang="ja-JP" altLang="en-US" sz="1500" b="1">
                <a:solidFill>
                  <a:srgbClr val="2F549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弱点問題と復習の違いは？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B76CB5F-54B9-C8C4-55FF-5FA834414FFF}"/>
              </a:ext>
            </a:extLst>
          </p:cNvPr>
          <p:cNvSpPr txBox="1"/>
          <p:nvPr/>
        </p:nvSpPr>
        <p:spPr>
          <a:xfrm>
            <a:off x="838200" y="3327400"/>
            <a:ext cx="1051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3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復習は各問題の最新の解答が不正解のもの。弱点問題は</a:t>
            </a:r>
            <a:r>
              <a:rPr kumimoji="1" lang="en-US" altLang="ja-JP" sz="13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2</a:t>
            </a:r>
            <a:r>
              <a:rPr kumimoji="1" lang="ja-JP" altLang="en-US" sz="13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回以上解いた問題の正答率が低い順に出題します。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713FEBE4-7BA4-646C-49D3-1C2E3872B1A4}"/>
              </a:ext>
            </a:extLst>
          </p:cNvPr>
          <p:cNvSpPr/>
          <p:nvPr/>
        </p:nvSpPr>
        <p:spPr>
          <a:xfrm>
            <a:off x="609600" y="3987800"/>
            <a:ext cx="10972800" cy="10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7B81AD8-F570-8728-4040-AA3E947DB967}"/>
              </a:ext>
            </a:extLst>
          </p:cNvPr>
          <p:cNvSpPr txBox="1"/>
          <p:nvPr/>
        </p:nvSpPr>
        <p:spPr>
          <a:xfrm>
            <a:off x="838200" y="4114800"/>
            <a:ext cx="1051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500" b="1">
                <a:solidFill>
                  <a:srgbClr val="2F549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Q. </a:t>
            </a:r>
            <a:r>
              <a:rPr kumimoji="1" lang="ja-JP" altLang="en-US" sz="1500" b="1">
                <a:solidFill>
                  <a:srgbClr val="2F549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フレンドが退会したら？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1238460-9802-66DD-D87B-3FBB64E4A68A}"/>
              </a:ext>
            </a:extLst>
          </p:cNvPr>
          <p:cNvSpPr txBox="1"/>
          <p:nvPr/>
        </p:nvSpPr>
        <p:spPr>
          <a:xfrm>
            <a:off x="838200" y="4470400"/>
            <a:ext cx="1051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3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一覧・ランキングから外れ、フィードは</a:t>
            </a:r>
            <a:r>
              <a:rPr kumimoji="1" lang="en-US" altLang="ja-JP" sz="13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404</a:t>
            </a:r>
            <a:r>
              <a:rPr kumimoji="1" lang="ja-JP" altLang="en-US" sz="13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になります。論理削除のため、管理者が復元すると関係も戻ります。</a:t>
            </a: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A9451A33-74C9-F7DF-E83F-993EE4D1B2AB}"/>
              </a:ext>
            </a:extLst>
          </p:cNvPr>
          <p:cNvSpPr/>
          <p:nvPr/>
        </p:nvSpPr>
        <p:spPr>
          <a:xfrm>
            <a:off x="609600" y="5130800"/>
            <a:ext cx="10972800" cy="101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1C76D56-F846-65D2-0783-82A91017BAC8}"/>
              </a:ext>
            </a:extLst>
          </p:cNvPr>
          <p:cNvSpPr txBox="1"/>
          <p:nvPr/>
        </p:nvSpPr>
        <p:spPr>
          <a:xfrm>
            <a:off x="838200" y="5257800"/>
            <a:ext cx="1051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en-US" altLang="ja-JP" sz="1500" b="1">
                <a:solidFill>
                  <a:srgbClr val="2F549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Q. </a:t>
            </a:r>
            <a:r>
              <a:rPr kumimoji="1" lang="ja-JP" altLang="en-US" sz="1500" b="1">
                <a:solidFill>
                  <a:srgbClr val="2F549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なぜ</a:t>
            </a:r>
            <a:r>
              <a:rPr kumimoji="1" lang="en-US" altLang="ja-JP" sz="1500" b="1">
                <a:solidFill>
                  <a:srgbClr val="2F549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LB</a:t>
            </a:r>
            <a:r>
              <a:rPr kumimoji="1" lang="ja-JP" altLang="en-US" sz="1500" b="1">
                <a:solidFill>
                  <a:srgbClr val="2F549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で</a:t>
            </a:r>
            <a:r>
              <a:rPr kumimoji="1" lang="en-US" altLang="ja-JP" sz="1500" b="1">
                <a:solidFill>
                  <a:srgbClr val="2F549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HTTPS</a:t>
            </a:r>
            <a:r>
              <a:rPr kumimoji="1" lang="ja-JP" altLang="en-US" sz="1500" b="1">
                <a:solidFill>
                  <a:srgbClr val="2F5496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にした？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3DB8687-E25C-58EA-186E-DD8A0E1E9CD6}"/>
              </a:ext>
            </a:extLst>
          </p:cNvPr>
          <p:cNvSpPr txBox="1"/>
          <p:nvPr/>
        </p:nvSpPr>
        <p:spPr>
          <a:xfrm>
            <a:off x="838200" y="5613400"/>
            <a:ext cx="10515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kumimoji="1" lang="ja-JP" altLang="en-US" sz="13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証明書の管理を</a:t>
            </a:r>
            <a:r>
              <a:rPr kumimoji="1" lang="en-US" altLang="ja-JP" sz="13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LB</a:t>
            </a:r>
            <a:r>
              <a:rPr kumimoji="1" lang="ja-JP" altLang="en-US" sz="13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に集約でき、</a:t>
            </a:r>
            <a:r>
              <a:rPr kumimoji="1" lang="en-US" altLang="ja-JP" sz="13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VM</a:t>
            </a:r>
            <a:r>
              <a:rPr kumimoji="1" lang="ja-JP" altLang="en-US" sz="1300">
                <a:solidFill>
                  <a:srgbClr val="132238"/>
                </a:solidFill>
                <a:latin typeface="Yu Gothic" panose="020B0400000000000000" pitchFamily="50" charset="-128"/>
                <a:ea typeface="Yu Gothic" panose="020B0400000000000000" pitchFamily="50" charset="-128"/>
              </a:rPr>
              <a:t>を直接公開しなくて済むためです。証明書の更新は手動で行う必要があります。</a:t>
            </a:r>
          </a:p>
        </p:txBody>
      </p:sp>
    </p:spTree>
    <p:extLst>
      <p:ext uri="{BB962C8B-B14F-4D97-AF65-F5344CB8AC3E}">
        <p14:creationId xmlns:p14="http://schemas.microsoft.com/office/powerpoint/2010/main" val="4090397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2487</Words>
  <Application>Microsoft Office PowerPoint</Application>
  <PresentationFormat>ユーザー設定</PresentationFormat>
  <Paragraphs>218</Paragraphs>
  <Slides>11</Slides>
  <Notes>11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6" baseType="lpstr">
      <vt:lpstr>Yu Gothic</vt:lpstr>
      <vt:lpstr>Yu Gothic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大塚　徹真</dc:creator>
  <cp:lastModifiedBy>大塚　徹真</cp:lastModifiedBy>
  <cp:revision>1</cp:revision>
  <dcterms:created xsi:type="dcterms:W3CDTF">2026-10-30T13:59:43Z</dcterms:created>
  <dcterms:modified xsi:type="dcterms:W3CDTF">2026-10-30T13:59:44Z</dcterms:modified>
</cp:coreProperties>
</file>