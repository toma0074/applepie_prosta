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D176E4-2396-41B5-A13E-8592FA64ABEA}" type="datetimeFigureOut">
              <a:rPr kumimoji="1" lang="ja-JP" altLang="en-US" smtClean="0"/>
              <a:t>2026/10/30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CD034-C6FA-4B3E-A611-E4769FD7B167}" type="slidenum">
              <a:rPr kumimoji="1" lang="ja-JP" altLang="en-US" smtClean="0"/>
              <a:t>‹#›</a:t>
            </a:fld>
            <a:endParaRPr kumimoji="1" lang="ja-JP" altLang="en-US"/>
          </a:p>
        </p:txBody>
      </p:sp>
    </p:spTree>
    <p:extLst>
      <p:ext uri="{BB962C8B-B14F-4D97-AF65-F5344CB8AC3E}">
        <p14:creationId xmlns:p14="http://schemas.microsoft.com/office/powerpoint/2010/main" val="225294867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【20</a:t>
            </a:r>
            <a:r>
              <a:rPr kumimoji="1" lang="ja-JP" altLang="en-US"/>
              <a:t>秒 </a:t>
            </a:r>
            <a:r>
              <a:rPr kumimoji="1" lang="en-US" altLang="ja-JP"/>
              <a:t>/ </a:t>
            </a:r>
            <a:r>
              <a:rPr kumimoji="1" lang="ja-JP" altLang="en-US"/>
              <a:t>累計</a:t>
            </a:r>
            <a:r>
              <a:rPr kumimoji="1" lang="en-US" altLang="ja-JP"/>
              <a:t>0:20】</a:t>
            </a:r>
          </a:p>
          <a:p>
            <a:r>
              <a:rPr kumimoji="1" lang="en-US" altLang="ja-JP"/>
              <a:t>PROSTA</a:t>
            </a:r>
            <a:r>
              <a:rPr kumimoji="1" lang="ja-JP" altLang="en-US"/>
              <a:t>は、プログラミングや資格の学習を、継続しやすくする</a:t>
            </a:r>
            <a:r>
              <a:rPr kumimoji="1" lang="en-US" altLang="ja-JP"/>
              <a:t>Web</a:t>
            </a:r>
            <a:r>
              <a:rPr kumimoji="1" lang="ja-JP" altLang="en-US"/>
              <a:t>アプリです。</a:t>
            </a:r>
          </a:p>
          <a:p>
            <a:r>
              <a:rPr kumimoji="1" lang="ja-JP" altLang="en-US"/>
              <a:t>目指したのは、問題を解いて終わりにせず、結果から次の学習につなげることです。</a:t>
            </a:r>
          </a:p>
          <a:p>
            <a:r>
              <a:rPr kumimoji="1" lang="ja-JP" altLang="en-US"/>
              <a:t>今日は、その学習の流れを中心に紹介します。</a:t>
            </a:r>
          </a:p>
        </p:txBody>
      </p:sp>
      <p:sp>
        <p:nvSpPr>
          <p:cNvPr id="4" name="スライド番号プレースホルダー 3"/>
          <p:cNvSpPr>
            <a:spLocks noGrp="1"/>
          </p:cNvSpPr>
          <p:nvPr>
            <p:ph type="sldNum" sz="quarter" idx="5"/>
          </p:nvPr>
        </p:nvSpPr>
        <p:spPr/>
        <p:txBody>
          <a:bodyPr/>
          <a:lstStyle/>
          <a:p>
            <a:fld id="{FE2CD034-C6FA-4B3E-A611-E4769FD7B167}" type="slidenum">
              <a:rPr kumimoji="1" lang="ja-JP" altLang="en-US" smtClean="0"/>
              <a:t>1</a:t>
            </a:fld>
            <a:endParaRPr kumimoji="1" lang="ja-JP" altLang="en-US"/>
          </a:p>
        </p:txBody>
      </p:sp>
    </p:spTree>
    <p:extLst>
      <p:ext uri="{BB962C8B-B14F-4D97-AF65-F5344CB8AC3E}">
        <p14:creationId xmlns:p14="http://schemas.microsoft.com/office/powerpoint/2010/main" val="1434810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【40</a:t>
            </a:r>
            <a:r>
              <a:rPr kumimoji="1" lang="ja-JP" altLang="en-US"/>
              <a:t>秒 </a:t>
            </a:r>
            <a:r>
              <a:rPr kumimoji="1" lang="en-US" altLang="ja-JP"/>
              <a:t>/ </a:t>
            </a:r>
            <a:r>
              <a:rPr kumimoji="1" lang="ja-JP" altLang="en-US"/>
              <a:t>累計</a:t>
            </a:r>
            <a:r>
              <a:rPr kumimoji="1" lang="en-US" altLang="ja-JP"/>
              <a:t>1:00】</a:t>
            </a:r>
          </a:p>
          <a:p>
            <a:r>
              <a:rPr kumimoji="1" lang="ja-JP" altLang="en-US"/>
              <a:t>学習では、問題を解くこと自体より、その後に何を復習するかを決めることや、学習を続けることが難しいと考えました。</a:t>
            </a:r>
          </a:p>
          <a:p>
            <a:r>
              <a:rPr kumimoji="1" lang="ja-JP" altLang="en-US"/>
              <a:t>そこで、成績を見える形にし、履歴から復習へ進める流れを用意しました。</a:t>
            </a:r>
          </a:p>
          <a:p>
            <a:r>
              <a:rPr kumimoji="1" lang="ja-JP" altLang="en-US"/>
              <a:t>さらに、レベルやキャラクター、予定表、フレンドとの比較で、学習の積み重ねを感じられるようにしています。</a:t>
            </a:r>
          </a:p>
          <a:p>
            <a:r>
              <a:rPr kumimoji="1" lang="ja-JP" altLang="en-US"/>
              <a:t>効果を実証したというより、こうした課題を支える設計として実装しています。</a:t>
            </a:r>
          </a:p>
        </p:txBody>
      </p:sp>
      <p:sp>
        <p:nvSpPr>
          <p:cNvPr id="4" name="スライド番号プレースホルダー 3"/>
          <p:cNvSpPr>
            <a:spLocks noGrp="1"/>
          </p:cNvSpPr>
          <p:nvPr>
            <p:ph type="sldNum" sz="quarter" idx="5"/>
          </p:nvPr>
        </p:nvSpPr>
        <p:spPr/>
        <p:txBody>
          <a:bodyPr/>
          <a:lstStyle/>
          <a:p>
            <a:fld id="{FE2CD034-C6FA-4B3E-A611-E4769FD7B167}" type="slidenum">
              <a:rPr kumimoji="1" lang="ja-JP" altLang="en-US" smtClean="0"/>
              <a:t>2</a:t>
            </a:fld>
            <a:endParaRPr kumimoji="1" lang="ja-JP" altLang="en-US"/>
          </a:p>
        </p:txBody>
      </p:sp>
    </p:spTree>
    <p:extLst>
      <p:ext uri="{BB962C8B-B14F-4D97-AF65-F5344CB8AC3E}">
        <p14:creationId xmlns:p14="http://schemas.microsoft.com/office/powerpoint/2010/main" val="3050339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【40</a:t>
            </a:r>
            <a:r>
              <a:rPr kumimoji="1" lang="ja-JP" altLang="en-US"/>
              <a:t>秒 </a:t>
            </a:r>
            <a:r>
              <a:rPr kumimoji="1" lang="en-US" altLang="ja-JP"/>
              <a:t>/ </a:t>
            </a:r>
            <a:r>
              <a:rPr kumimoji="1" lang="ja-JP" altLang="en-US"/>
              <a:t>累計</a:t>
            </a:r>
            <a:r>
              <a:rPr kumimoji="1" lang="en-US" altLang="ja-JP"/>
              <a:t>1:40】</a:t>
            </a:r>
          </a:p>
          <a:p>
            <a:r>
              <a:rPr kumimoji="1" lang="ja-JP" altLang="en-US"/>
              <a:t>中心になるのは、解く、知る、やり直す、続ける、の四つです。</a:t>
            </a:r>
          </a:p>
          <a:p>
            <a:r>
              <a:rPr kumimoji="1" lang="ja-JP" altLang="en-US"/>
              <a:t>問題を解くと、採点と解説を確認でき、履歴やカテゴリ別の正答率に結果が反映されます。</a:t>
            </a:r>
          </a:p>
          <a:p>
            <a:r>
              <a:rPr kumimoji="1" lang="ja-JP" altLang="en-US"/>
              <a:t>復習モードは最後に間違えた問題、弱点問題は複数回の解答履歴から正答率が低い問題を対象にします。</a:t>
            </a:r>
          </a:p>
          <a:p>
            <a:r>
              <a:rPr kumimoji="1" lang="ja-JP" altLang="en-US"/>
              <a:t>最後に、成長要素と予定、フレンドが、次の学習を始めるきっかけになります。</a:t>
            </a:r>
          </a:p>
          <a:p>
            <a:r>
              <a:rPr kumimoji="1" lang="ja-JP" altLang="en-US"/>
              <a:t>動画では、このつながりを一人の利用者の流れとして紹介します。</a:t>
            </a:r>
          </a:p>
        </p:txBody>
      </p:sp>
      <p:sp>
        <p:nvSpPr>
          <p:cNvPr id="4" name="スライド番号プレースホルダー 3"/>
          <p:cNvSpPr>
            <a:spLocks noGrp="1"/>
          </p:cNvSpPr>
          <p:nvPr>
            <p:ph type="sldNum" sz="quarter" idx="5"/>
          </p:nvPr>
        </p:nvSpPr>
        <p:spPr/>
        <p:txBody>
          <a:bodyPr/>
          <a:lstStyle/>
          <a:p>
            <a:fld id="{FE2CD034-C6FA-4B3E-A611-E4769FD7B167}" type="slidenum">
              <a:rPr kumimoji="1" lang="ja-JP" altLang="en-US" smtClean="0"/>
              <a:t>3</a:t>
            </a:fld>
            <a:endParaRPr kumimoji="1" lang="ja-JP" altLang="en-US"/>
          </a:p>
        </p:txBody>
      </p:sp>
    </p:spTree>
    <p:extLst>
      <p:ext uri="{BB962C8B-B14F-4D97-AF65-F5344CB8AC3E}">
        <p14:creationId xmlns:p14="http://schemas.microsoft.com/office/powerpoint/2010/main" val="588857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【20</a:t>
            </a:r>
            <a:r>
              <a:rPr kumimoji="1" lang="ja-JP" altLang="en-US"/>
              <a:t>秒 </a:t>
            </a:r>
            <a:r>
              <a:rPr kumimoji="1" lang="en-US" altLang="ja-JP"/>
              <a:t>/ </a:t>
            </a:r>
            <a:r>
              <a:rPr kumimoji="1" lang="ja-JP" altLang="en-US"/>
              <a:t>累計</a:t>
            </a:r>
            <a:r>
              <a:rPr kumimoji="1" lang="en-US" altLang="ja-JP"/>
              <a:t>2:00】</a:t>
            </a:r>
          </a:p>
          <a:p>
            <a:r>
              <a:rPr kumimoji="1" lang="ja-JP" altLang="en-US"/>
              <a:t>これから</a:t>
            </a:r>
            <a:r>
              <a:rPr kumimoji="1" lang="en-US" altLang="ja-JP"/>
              <a:t>5</a:t>
            </a:r>
            <a:r>
              <a:rPr kumimoji="1" lang="ja-JP" altLang="en-US"/>
              <a:t>分間のデモをご覧ください。</a:t>
            </a:r>
          </a:p>
          <a:p>
            <a:r>
              <a:rPr kumimoji="1" lang="ja-JP" altLang="en-US"/>
              <a:t>注目していただきたいのは、解答結果が復習につながること、学習の積み重ねが成長として見えること、そして予定と仲間が継続を支えることです。</a:t>
            </a:r>
          </a:p>
          <a:p>
            <a:r>
              <a:rPr kumimoji="1" lang="en-US" altLang="ja-JP"/>
              <a:t>【</a:t>
            </a:r>
            <a:r>
              <a:rPr kumimoji="1" lang="ja-JP" altLang="en-US"/>
              <a:t>次のスライドへ。動画内ナレーションあり。本編発表者は重ねて話さない。</a:t>
            </a:r>
            <a:r>
              <a:rPr kumimoji="1" lang="en-US" altLang="ja-JP"/>
              <a:t>】</a:t>
            </a:r>
            <a:endParaRPr kumimoji="1" lang="ja-JP" altLang="en-US"/>
          </a:p>
        </p:txBody>
      </p:sp>
      <p:sp>
        <p:nvSpPr>
          <p:cNvPr id="4" name="スライド番号プレースホルダー 3"/>
          <p:cNvSpPr>
            <a:spLocks noGrp="1"/>
          </p:cNvSpPr>
          <p:nvPr>
            <p:ph type="sldNum" sz="quarter" idx="5"/>
          </p:nvPr>
        </p:nvSpPr>
        <p:spPr/>
        <p:txBody>
          <a:bodyPr/>
          <a:lstStyle/>
          <a:p>
            <a:fld id="{FE2CD034-C6FA-4B3E-A611-E4769FD7B167}" type="slidenum">
              <a:rPr kumimoji="1" lang="ja-JP" altLang="en-US" smtClean="0"/>
              <a:t>4</a:t>
            </a:fld>
            <a:endParaRPr kumimoji="1" lang="ja-JP" altLang="en-US"/>
          </a:p>
        </p:txBody>
      </p:sp>
    </p:spTree>
    <p:extLst>
      <p:ext uri="{BB962C8B-B14F-4D97-AF65-F5344CB8AC3E}">
        <p14:creationId xmlns:p14="http://schemas.microsoft.com/office/powerpoint/2010/main" val="3687279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a:t>
            </a:r>
            <a:r>
              <a:rPr kumimoji="1" lang="ja-JP" altLang="en-US"/>
              <a:t>動画</a:t>
            </a:r>
            <a:r>
              <a:rPr kumimoji="1" lang="en-US" altLang="ja-JP"/>
              <a:t>300</a:t>
            </a:r>
            <a:r>
              <a:rPr kumimoji="1" lang="ja-JP" altLang="en-US"/>
              <a:t>秒 </a:t>
            </a:r>
            <a:r>
              <a:rPr kumimoji="1" lang="en-US" altLang="ja-JP"/>
              <a:t>/ </a:t>
            </a:r>
            <a:r>
              <a:rPr kumimoji="1" lang="ja-JP" altLang="en-US"/>
              <a:t>累計</a:t>
            </a:r>
            <a:r>
              <a:rPr kumimoji="1" lang="en-US" altLang="ja-JP"/>
              <a:t>7:00】</a:t>
            </a:r>
          </a:p>
          <a:p>
            <a:r>
              <a:rPr kumimoji="1" lang="ja-JP" altLang="en-US"/>
              <a:t>このスライドは動画挿入用。現時点で動画は入っていない。</a:t>
            </a:r>
          </a:p>
          <a:p>
            <a:r>
              <a:rPr kumimoji="1" lang="en-US" altLang="ja-JP"/>
              <a:t>MP4</a:t>
            </a:r>
            <a:r>
              <a:rPr kumimoji="1" lang="ja-JP" altLang="en-US"/>
              <a:t>を「挿入→ビデオ→このデバイス」で挿入し、</a:t>
            </a:r>
            <a:r>
              <a:rPr kumimoji="1" lang="en-US" altLang="ja-JP"/>
              <a:t>16:9</a:t>
            </a:r>
            <a:r>
              <a:rPr kumimoji="1" lang="ja-JP" altLang="en-US"/>
              <a:t>の枠（左</a:t>
            </a:r>
            <a:r>
              <a:rPr kumimoji="1" lang="en-US" altLang="ja-JP"/>
              <a:t>48</a:t>
            </a:r>
            <a:r>
              <a:rPr kumimoji="1" lang="ja-JP" altLang="en-US"/>
              <a:t>、上</a:t>
            </a:r>
            <a:r>
              <a:rPr kumimoji="1" lang="en-US" altLang="ja-JP"/>
              <a:t>155</a:t>
            </a:r>
            <a:r>
              <a:rPr kumimoji="1" lang="ja-JP" altLang="en-US"/>
              <a:t>、幅</a:t>
            </a:r>
            <a:r>
              <a:rPr kumimoji="1" lang="en-US" altLang="ja-JP"/>
              <a:t>608</a:t>
            </a:r>
            <a:r>
              <a:rPr kumimoji="1" lang="ja-JP" altLang="en-US"/>
              <a:t>、高さ</a:t>
            </a:r>
            <a:r>
              <a:rPr kumimoji="1" lang="en-US" altLang="ja-JP"/>
              <a:t>342pt</a:t>
            </a:r>
            <a:r>
              <a:rPr kumimoji="1" lang="ja-JP" altLang="en-US"/>
              <a:t>）に配置する。</a:t>
            </a:r>
          </a:p>
          <a:p>
            <a:r>
              <a:rPr kumimoji="1" lang="ja-JP" altLang="en-US"/>
              <a:t>枠と枠内の案内文を削除し、再生は自動、ループなしに設定。発表時間の計測は動画の初めから終わりまで行う。</a:t>
            </a:r>
          </a:p>
          <a:p>
            <a:r>
              <a:rPr kumimoji="1" lang="ja-JP" altLang="en-US"/>
              <a:t>撮影手順・</a:t>
            </a:r>
            <a:r>
              <a:rPr kumimoji="1" lang="en-US" altLang="ja-JP"/>
              <a:t>300</a:t>
            </a:r>
            <a:r>
              <a:rPr kumimoji="1" lang="ja-JP" altLang="en-US"/>
              <a:t>秒のナレーションは同梱の発表台本を参照。</a:t>
            </a:r>
          </a:p>
          <a:p>
            <a:r>
              <a:rPr kumimoji="1" lang="ja-JP" altLang="en-US"/>
              <a:t>動画が再生されない場合は外部</a:t>
            </a:r>
            <a:r>
              <a:rPr kumimoji="1" lang="en-US" altLang="ja-JP"/>
              <a:t>MP4</a:t>
            </a:r>
            <a:r>
              <a:rPr kumimoji="1" lang="ja-JP" altLang="en-US"/>
              <a:t>を開く。動画未収録時点では完成版として発表しない。</a:t>
            </a:r>
          </a:p>
        </p:txBody>
      </p:sp>
      <p:sp>
        <p:nvSpPr>
          <p:cNvPr id="4" name="スライド番号プレースホルダー 3"/>
          <p:cNvSpPr>
            <a:spLocks noGrp="1"/>
          </p:cNvSpPr>
          <p:nvPr>
            <p:ph type="sldNum" sz="quarter" idx="5"/>
          </p:nvPr>
        </p:nvSpPr>
        <p:spPr/>
        <p:txBody>
          <a:bodyPr/>
          <a:lstStyle/>
          <a:p>
            <a:fld id="{FE2CD034-C6FA-4B3E-A611-E4769FD7B167}" type="slidenum">
              <a:rPr kumimoji="1" lang="ja-JP" altLang="en-US" smtClean="0"/>
              <a:t>5</a:t>
            </a:fld>
            <a:endParaRPr kumimoji="1" lang="ja-JP" altLang="en-US"/>
          </a:p>
        </p:txBody>
      </p:sp>
    </p:spTree>
    <p:extLst>
      <p:ext uri="{BB962C8B-B14F-4D97-AF65-F5344CB8AC3E}">
        <p14:creationId xmlns:p14="http://schemas.microsoft.com/office/powerpoint/2010/main" val="1046163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【75</a:t>
            </a:r>
            <a:r>
              <a:rPr kumimoji="1" lang="ja-JP" altLang="en-US"/>
              <a:t>秒 </a:t>
            </a:r>
            <a:r>
              <a:rPr kumimoji="1" lang="en-US" altLang="ja-JP"/>
              <a:t>/ </a:t>
            </a:r>
            <a:r>
              <a:rPr kumimoji="1" lang="ja-JP" altLang="en-US"/>
              <a:t>累計</a:t>
            </a:r>
            <a:r>
              <a:rPr kumimoji="1" lang="en-US" altLang="ja-JP"/>
              <a:t>8:15】</a:t>
            </a:r>
          </a:p>
          <a:p>
            <a:r>
              <a:rPr kumimoji="1" lang="ja-JP" altLang="en-US"/>
              <a:t>最後に、画面の裏側で工夫した点です。</a:t>
            </a:r>
          </a:p>
          <a:p>
            <a:r>
              <a:rPr kumimoji="1" lang="en-US" altLang="ja-JP"/>
              <a:t>PROSTA</a:t>
            </a:r>
            <a:r>
              <a:rPr kumimoji="1" lang="ja-JP" altLang="en-US"/>
              <a:t>では、採点結果だけでなく、</a:t>
            </a:r>
            <a:r>
              <a:rPr kumimoji="1" lang="en-US" altLang="ja-JP"/>
              <a:t>EXP</a:t>
            </a:r>
            <a:r>
              <a:rPr kumimoji="1" lang="ja-JP" altLang="en-US"/>
              <a:t>や実績も学習データとして扱います。このため、まとめて保存するトランザクションと、再読み込みによる二重保存を抑える処理を入れています。</a:t>
            </a:r>
          </a:p>
          <a:p>
            <a:r>
              <a:rPr kumimoji="1" lang="ja-JP" altLang="en-US"/>
              <a:t>また、複数タブで学習するときに状態が混ざらないよう、タブ別に状態を管理しています。同じアカウントは最後のログインだけを有効にしています。</a:t>
            </a:r>
          </a:p>
          <a:p>
            <a:r>
              <a:rPr kumimoji="1" lang="ja-JP" altLang="en-US"/>
              <a:t>今回、最新コードで既存</a:t>
            </a:r>
            <a:r>
              <a:rPr kumimoji="1" lang="en-US" altLang="ja-JP"/>
              <a:t>294</a:t>
            </a:r>
            <a:r>
              <a:rPr kumimoji="1" lang="ja-JP" altLang="en-US"/>
              <a:t>件を実行し、</a:t>
            </a:r>
            <a:r>
              <a:rPr kumimoji="1" lang="en-US" altLang="ja-JP"/>
              <a:t>293</a:t>
            </a:r>
            <a:r>
              <a:rPr kumimoji="1" lang="ja-JP" altLang="en-US"/>
              <a:t>成功、失敗とエラーはゼロ、</a:t>
            </a:r>
            <a:r>
              <a:rPr kumimoji="1" lang="en-US" altLang="ja-JP"/>
              <a:t>1</a:t>
            </a:r>
            <a:r>
              <a:rPr kumimoji="1" lang="ja-JP" altLang="en-US"/>
              <a:t>件は明示起動用テストのスキップでした。さらに、フレンド承認後に相手が削除された場合のテストを追加し、関連</a:t>
            </a:r>
            <a:r>
              <a:rPr kumimoji="1" lang="en-US" altLang="ja-JP"/>
              <a:t>64</a:t>
            </a:r>
            <a:r>
              <a:rPr kumimoji="1" lang="ja-JP" altLang="en-US"/>
              <a:t>件もすべて成功しました。二つの件数には重複があります。</a:t>
            </a:r>
          </a:p>
          <a:p>
            <a:r>
              <a:rPr kumimoji="1" lang="ja-JP" altLang="en-US"/>
              <a:t>構成は</a:t>
            </a:r>
            <a:r>
              <a:rPr kumimoji="1" lang="en-US" altLang="ja-JP"/>
              <a:t>Java</a:t>
            </a:r>
            <a:r>
              <a:rPr kumimoji="1" lang="ja-JP" altLang="en-US"/>
              <a:t>、</a:t>
            </a:r>
            <a:r>
              <a:rPr kumimoji="1" lang="en-US" altLang="ja-JP"/>
              <a:t>Spring Boot</a:t>
            </a:r>
            <a:r>
              <a:rPr kumimoji="1" lang="ja-JP" altLang="en-US"/>
              <a:t>、</a:t>
            </a:r>
            <a:r>
              <a:rPr kumimoji="1" lang="en-US" altLang="ja-JP"/>
              <a:t>Thymeleaf</a:t>
            </a:r>
            <a:r>
              <a:rPr kumimoji="1" lang="ja-JP" altLang="en-US"/>
              <a:t>、</a:t>
            </a:r>
            <a:r>
              <a:rPr kumimoji="1" lang="en-US" altLang="ja-JP"/>
              <a:t>Oracle</a:t>
            </a:r>
            <a:r>
              <a:rPr kumimoji="1" lang="ja-JP" altLang="en-US"/>
              <a:t>です。ただし今回の自動検証は隔離</a:t>
            </a:r>
            <a:r>
              <a:rPr kumimoji="1" lang="en-US" altLang="ja-JP"/>
              <a:t>H2</a:t>
            </a:r>
            <a:r>
              <a:rPr kumimoji="1" lang="ja-JP" altLang="en-US"/>
              <a:t>で、本番</a:t>
            </a:r>
            <a:r>
              <a:rPr kumimoji="1" lang="en-US" altLang="ja-JP"/>
              <a:t>HTTPS</a:t>
            </a:r>
            <a:r>
              <a:rPr kumimoji="1" lang="ja-JP" altLang="en-US"/>
              <a:t>や</a:t>
            </a:r>
            <a:r>
              <a:rPr kumimoji="1" lang="en-US" altLang="ja-JP"/>
              <a:t>Oracle</a:t>
            </a:r>
            <a:r>
              <a:rPr kumimoji="1" lang="ja-JP" altLang="en-US"/>
              <a:t>固有動作まで確認済みとはしていません。</a:t>
            </a:r>
          </a:p>
        </p:txBody>
      </p:sp>
      <p:sp>
        <p:nvSpPr>
          <p:cNvPr id="4" name="スライド番号プレースホルダー 3"/>
          <p:cNvSpPr>
            <a:spLocks noGrp="1"/>
          </p:cNvSpPr>
          <p:nvPr>
            <p:ph type="sldNum" sz="quarter" idx="5"/>
          </p:nvPr>
        </p:nvSpPr>
        <p:spPr/>
        <p:txBody>
          <a:bodyPr/>
          <a:lstStyle/>
          <a:p>
            <a:fld id="{FE2CD034-C6FA-4B3E-A611-E4769FD7B167}" type="slidenum">
              <a:rPr kumimoji="1" lang="ja-JP" altLang="en-US" smtClean="0"/>
              <a:t>6</a:t>
            </a:fld>
            <a:endParaRPr kumimoji="1" lang="ja-JP" altLang="en-US"/>
          </a:p>
        </p:txBody>
      </p:sp>
    </p:spTree>
    <p:extLst>
      <p:ext uri="{BB962C8B-B14F-4D97-AF65-F5344CB8AC3E}">
        <p14:creationId xmlns:p14="http://schemas.microsoft.com/office/powerpoint/2010/main" val="1435608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a:t>【45</a:t>
            </a:r>
            <a:r>
              <a:rPr kumimoji="1" lang="ja-JP" altLang="en-US"/>
              <a:t>秒 </a:t>
            </a:r>
            <a:r>
              <a:rPr kumimoji="1" lang="en-US" altLang="ja-JP"/>
              <a:t>/ </a:t>
            </a:r>
            <a:r>
              <a:rPr kumimoji="1" lang="ja-JP" altLang="en-US"/>
              <a:t>累計</a:t>
            </a:r>
            <a:r>
              <a:rPr kumimoji="1" lang="en-US" altLang="ja-JP"/>
              <a:t>9:00】</a:t>
            </a:r>
          </a:p>
          <a:p>
            <a:r>
              <a:rPr kumimoji="1" lang="en-US" altLang="ja-JP"/>
              <a:t>PROSTA</a:t>
            </a:r>
            <a:r>
              <a:rPr kumimoji="1" lang="ja-JP" altLang="en-US"/>
              <a:t>で実現したのは、問題を解くだけの画面ではなく、その結果を次の行動につなげる学習体験です。</a:t>
            </a:r>
          </a:p>
          <a:p>
            <a:r>
              <a:rPr kumimoji="1" lang="ja-JP" altLang="en-US"/>
              <a:t>弱点を知って復習し、成長を確認し、次の予定を立て、フレンドの活動をきっかけにまた取り組む。この流れを一つのアプリにまとめました。</a:t>
            </a:r>
          </a:p>
          <a:p>
            <a:r>
              <a:rPr kumimoji="1" lang="ja-JP" altLang="en-US"/>
              <a:t>今後の候補は、まだ未実装のブックマークや全ユーザーランキング、対戦です。加えて、本番環境での確認を進めていきます。</a:t>
            </a:r>
          </a:p>
          <a:p>
            <a:r>
              <a:rPr kumimoji="1" lang="ja-JP" altLang="en-US"/>
              <a:t>解いて終わらない、次の学習につながる。以上、</a:t>
            </a:r>
            <a:r>
              <a:rPr kumimoji="1" lang="en-US" altLang="ja-JP"/>
              <a:t>PROSTA</a:t>
            </a:r>
            <a:r>
              <a:rPr kumimoji="1" lang="ja-JP" altLang="en-US"/>
              <a:t>の紹介でした。ご清聴ありがとうございました。</a:t>
            </a:r>
          </a:p>
        </p:txBody>
      </p:sp>
      <p:sp>
        <p:nvSpPr>
          <p:cNvPr id="4" name="スライド番号プレースホルダー 3"/>
          <p:cNvSpPr>
            <a:spLocks noGrp="1"/>
          </p:cNvSpPr>
          <p:nvPr>
            <p:ph type="sldNum" sz="quarter" idx="5"/>
          </p:nvPr>
        </p:nvSpPr>
        <p:spPr/>
        <p:txBody>
          <a:bodyPr/>
          <a:lstStyle/>
          <a:p>
            <a:fld id="{FE2CD034-C6FA-4B3E-A611-E4769FD7B167}" type="slidenum">
              <a:rPr kumimoji="1" lang="ja-JP" altLang="en-US" smtClean="0"/>
              <a:t>7</a:t>
            </a:fld>
            <a:endParaRPr kumimoji="1" lang="ja-JP" altLang="en-US"/>
          </a:p>
        </p:txBody>
      </p:sp>
    </p:spTree>
    <p:extLst>
      <p:ext uri="{BB962C8B-B14F-4D97-AF65-F5344CB8AC3E}">
        <p14:creationId xmlns:p14="http://schemas.microsoft.com/office/powerpoint/2010/main" val="2260135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AED2F2A-0780-F4BB-F4F3-7628F0C8F48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7BFCE04-B895-9A7F-A163-426114E060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356862D-4A98-7131-5ED1-13FA3496A6D5}"/>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5" name="フッター プレースホルダー 4">
            <a:extLst>
              <a:ext uri="{FF2B5EF4-FFF2-40B4-BE49-F238E27FC236}">
                <a16:creationId xmlns:a16="http://schemas.microsoft.com/office/drawing/2014/main" id="{C0FBDBF4-301E-8B46-B341-DD391A1EF50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0E7CD8F-EB6A-7ADC-5CB4-18BC04C388B6}"/>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23124988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338106-0492-DC79-D9B7-08633CF63C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4AB1C0D-7A5D-6CC5-F435-126554A77B2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4E448EC-C062-DFC4-2CA2-C55AF3CFB339}"/>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5" name="フッター プレースホルダー 4">
            <a:extLst>
              <a:ext uri="{FF2B5EF4-FFF2-40B4-BE49-F238E27FC236}">
                <a16:creationId xmlns:a16="http://schemas.microsoft.com/office/drawing/2014/main" id="{70808B71-BC89-542C-F086-AF5A0A5ADA4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82D0C16-0F91-5442-E505-9F001AF25F3A}"/>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18613951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9C4EE-29BD-33B1-865F-86A3374DCA2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498FE24-FDB4-D660-DDE8-1AC08BC085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636DEB2-EBEF-E87D-C526-F472D8392A43}"/>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5" name="フッター プレースホルダー 4">
            <a:extLst>
              <a:ext uri="{FF2B5EF4-FFF2-40B4-BE49-F238E27FC236}">
                <a16:creationId xmlns:a16="http://schemas.microsoft.com/office/drawing/2014/main" id="{4633BC40-B608-59F0-598F-90421A9C1B3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F82628-38C6-43E0-1767-D87E06C0A7F2}"/>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11105386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F8DBA07-3D74-E9AD-90A2-37A42269656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48D62A6-E291-8171-E74C-5C925216F92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E76866EE-EF42-B198-6B73-A4A83C666F3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FD91924-3046-E96C-D86A-0B7F09969079}"/>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6" name="フッター プレースホルダー 5">
            <a:extLst>
              <a:ext uri="{FF2B5EF4-FFF2-40B4-BE49-F238E27FC236}">
                <a16:creationId xmlns:a16="http://schemas.microsoft.com/office/drawing/2014/main" id="{26406310-4030-52BB-DAF7-71E0D6061F9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2304F26-C22C-0086-BA4B-FE335A7DFD48}"/>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100856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6C0270-47EB-EF09-F7A8-C7F54CDA2E13}"/>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67ECB81-6E84-78F4-AF7F-3B049B70F5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3559B744-E5D2-A724-C840-0CA39ABDDE4F}"/>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1D9ECF68-9912-6EFA-A5D4-413EE398BCB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1782AB28-B486-D595-D180-9A788D03D1C2}"/>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5B01E918-4A79-D087-EDB5-04CF9EE06B7D}"/>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8" name="フッター プレースホルダー 7">
            <a:extLst>
              <a:ext uri="{FF2B5EF4-FFF2-40B4-BE49-F238E27FC236}">
                <a16:creationId xmlns:a16="http://schemas.microsoft.com/office/drawing/2014/main" id="{6C198D38-5FDE-F926-F6F3-EA2B8D1815E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E3B7E2F8-A6FD-0902-3784-A24EB94F8EDA}"/>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410099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91E94EA-5F21-F157-0FD4-E773F7680AC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2C34583-A4F5-8DC6-BCF7-1C8E05FF4D26}"/>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4" name="フッター プレースホルダー 3">
            <a:extLst>
              <a:ext uri="{FF2B5EF4-FFF2-40B4-BE49-F238E27FC236}">
                <a16:creationId xmlns:a16="http://schemas.microsoft.com/office/drawing/2014/main" id="{FC0B840F-FBD2-41FF-2EDE-2BB79AD17F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8CAB6D8-D3BD-F750-B922-59BF5FF0E1DF}"/>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2019737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885A83D-ECCD-56A6-673A-6CFF549BC828}"/>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3" name="フッター プレースホルダー 2">
            <a:extLst>
              <a:ext uri="{FF2B5EF4-FFF2-40B4-BE49-F238E27FC236}">
                <a16:creationId xmlns:a16="http://schemas.microsoft.com/office/drawing/2014/main" id="{D5F8C831-126B-C33C-96F4-6066C0464C2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C231916-3537-F78C-C756-5E4F74A1D7FB}"/>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3394257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8921DFC-2C7F-F720-15AB-5321C30D851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392D5E4-EF3B-91B9-F395-8CE19495F0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D287A0D-FBC3-D55E-5266-7E5D116F98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46999CDC-A23B-86DE-296C-E181A88B0DC8}"/>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6" name="フッター プレースホルダー 5">
            <a:extLst>
              <a:ext uri="{FF2B5EF4-FFF2-40B4-BE49-F238E27FC236}">
                <a16:creationId xmlns:a16="http://schemas.microsoft.com/office/drawing/2014/main" id="{FF521D2F-52EA-B808-90F2-CFA2E44562A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FA0E2E-696B-2721-78B7-40252A426D2A}"/>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26738922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1381311-5E10-9FF3-D855-1DAD7040EF06}"/>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5C9B576-759A-E6A0-88AF-4813C0539A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71038CC-3675-84A6-1DE5-F5F7920D30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1F999B7-E647-3CBA-E794-247D1F0C7D42}"/>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6" name="フッター プレースホルダー 5">
            <a:extLst>
              <a:ext uri="{FF2B5EF4-FFF2-40B4-BE49-F238E27FC236}">
                <a16:creationId xmlns:a16="http://schemas.microsoft.com/office/drawing/2014/main" id="{B14F3367-9439-41CD-D2EC-91FCD49B948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641D1766-3F14-9E2A-00A0-DA59C7D15394}"/>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1921391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919E02A-999F-6E56-4C39-50E126A677F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1B84217-1AA4-E647-9CB0-8DBD732A9E11}"/>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AD8C6D4-DE23-03DA-B98F-A8555C2E85F4}"/>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5" name="フッター プレースホルダー 4">
            <a:extLst>
              <a:ext uri="{FF2B5EF4-FFF2-40B4-BE49-F238E27FC236}">
                <a16:creationId xmlns:a16="http://schemas.microsoft.com/office/drawing/2014/main" id="{787C6098-2AC8-A049-0DC6-4BB9FADF86F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6CFFE1-1EAE-14B1-2A50-7706A0A84956}"/>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20137608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FF87752-2D0F-AB10-83B5-1BB989775F2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2C5910C-8F10-9B1A-91B8-AF074C95A8C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3C5F30D-8C83-2334-8E2A-A847557BFC6C}"/>
              </a:ext>
            </a:extLst>
          </p:cNvPr>
          <p:cNvSpPr>
            <a:spLocks noGrp="1"/>
          </p:cNvSpPr>
          <p:nvPr>
            <p:ph type="dt" sz="half" idx="10"/>
          </p:nvPr>
        </p:nvSpPr>
        <p:spPr/>
        <p:txBody>
          <a:bodyPr/>
          <a:lstStyle/>
          <a:p>
            <a:fld id="{1E49B345-8BDE-4C79-AEAF-4FF026ABBCA2}" type="datetimeFigureOut">
              <a:rPr kumimoji="1" lang="ja-JP" altLang="en-US" smtClean="0"/>
              <a:t>2026/10/30</a:t>
            </a:fld>
            <a:endParaRPr kumimoji="1" lang="ja-JP" altLang="en-US"/>
          </a:p>
        </p:txBody>
      </p:sp>
      <p:sp>
        <p:nvSpPr>
          <p:cNvPr id="5" name="フッター プレースホルダー 4">
            <a:extLst>
              <a:ext uri="{FF2B5EF4-FFF2-40B4-BE49-F238E27FC236}">
                <a16:creationId xmlns:a16="http://schemas.microsoft.com/office/drawing/2014/main" id="{9B6DFE3F-5CF5-3751-81DD-63031671FA6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EE12753-5140-AC26-C25F-DC21F092ADD5}"/>
              </a:ext>
            </a:extLst>
          </p:cNvPr>
          <p:cNvSpPr>
            <a:spLocks noGrp="1"/>
          </p:cNvSpPr>
          <p:nvPr>
            <p:ph type="sldNum" sz="quarter" idx="12"/>
          </p:nvPr>
        </p:nvSpPr>
        <p:spPr/>
        <p:txBody>
          <a:body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1943515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CB18064-8E78-43B9-6165-F4D1E8B8B0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33175C-E03B-25C7-E8C3-9126795E5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E48FAAB-B92A-0CAB-A20B-9ED477645D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E49B345-8BDE-4C79-AEAF-4FF026ABBCA2}" type="datetimeFigureOut">
              <a:rPr kumimoji="1" lang="ja-JP" altLang="en-US" smtClean="0"/>
              <a:t>2026/10/30</a:t>
            </a:fld>
            <a:endParaRPr kumimoji="1" lang="ja-JP" altLang="en-US"/>
          </a:p>
        </p:txBody>
      </p:sp>
      <p:sp>
        <p:nvSpPr>
          <p:cNvPr id="5" name="フッター プレースホルダー 4">
            <a:extLst>
              <a:ext uri="{FF2B5EF4-FFF2-40B4-BE49-F238E27FC236}">
                <a16:creationId xmlns:a16="http://schemas.microsoft.com/office/drawing/2014/main" id="{DCD6387F-6D76-A13D-3374-CB75A39674B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C74B142-F21C-C4D9-1A9E-164F13F646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DB4D984-CE38-4BD9-A6C5-4AD0C2CBC22A}" type="slidenum">
              <a:rPr kumimoji="1" lang="ja-JP" altLang="en-US" smtClean="0"/>
              <a:t>‹#›</a:t>
            </a:fld>
            <a:endParaRPr kumimoji="1" lang="ja-JP" altLang="en-US"/>
          </a:p>
        </p:txBody>
      </p:sp>
    </p:spTree>
    <p:extLst>
      <p:ext uri="{BB962C8B-B14F-4D97-AF65-F5344CB8AC3E}">
        <p14:creationId xmlns:p14="http://schemas.microsoft.com/office/powerpoint/2010/main" val="926694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8A77B8AC-58C1-982A-346C-1EB2FF016F92}"/>
              </a:ext>
            </a:extLst>
          </p:cNvPr>
          <p:cNvSpPr/>
          <p:nvPr/>
        </p:nvSpPr>
        <p:spPr>
          <a:xfrm>
            <a:off x="482600" y="406400"/>
            <a:ext cx="76200" cy="381000"/>
          </a:xfrm>
          <a:prstGeom prst="roundRect">
            <a:avLst/>
          </a:prstGeom>
          <a:solidFill>
            <a:srgbClr val="0984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5D119E74-4BED-BBE9-ADAE-C775346014BA}"/>
              </a:ext>
            </a:extLst>
          </p:cNvPr>
          <p:cNvSpPr txBox="1"/>
          <p:nvPr/>
        </p:nvSpPr>
        <p:spPr>
          <a:xfrm>
            <a:off x="736600" y="431800"/>
            <a:ext cx="9398000" cy="200055"/>
          </a:xfrm>
          <a:prstGeom prst="rect">
            <a:avLst/>
          </a:prstGeom>
          <a:noFill/>
        </p:spPr>
        <p:txBody>
          <a:bodyPr vert="horz" wrap="square" lIns="0" tIns="0" rIns="0" bIns="0" rtlCol="0">
            <a:spAutoFit/>
          </a:bodyPr>
          <a:lstStyle/>
          <a:p>
            <a:r>
              <a:rPr kumimoji="1" lang="en-US" altLang="ja-JP" sz="1300" b="1">
                <a:solidFill>
                  <a:srgbClr val="098474"/>
                </a:solidFill>
                <a:latin typeface="Yu Gothic" panose="020B0400000000000000" pitchFamily="50" charset="-128"/>
                <a:ea typeface="Yu Gothic" panose="020B0400000000000000" pitchFamily="50" charset="-128"/>
              </a:rPr>
              <a:t>01 / INTRODUCTION</a:t>
            </a:r>
            <a:endParaRPr kumimoji="1" lang="ja-JP" altLang="en-US" sz="1300" b="1">
              <a:solidFill>
                <a:srgbClr val="098474"/>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E51943DA-606D-92A1-4990-30890AED7E3B}"/>
              </a:ext>
            </a:extLst>
          </p:cNvPr>
          <p:cNvSpPr txBox="1"/>
          <p:nvPr/>
        </p:nvSpPr>
        <p:spPr>
          <a:xfrm>
            <a:off x="609600" y="1079500"/>
            <a:ext cx="10972800" cy="477054"/>
          </a:xfrm>
          <a:prstGeom prst="rect">
            <a:avLst/>
          </a:prstGeom>
          <a:noFill/>
        </p:spPr>
        <p:txBody>
          <a:bodyPr vert="horz" wrap="square" lIns="0" tIns="0" rIns="0" bIns="0" rtlCol="0">
            <a:spAutoFit/>
          </a:bodyPr>
          <a:lstStyle/>
          <a:p>
            <a:r>
              <a:rPr kumimoji="1" lang="en-US" altLang="ja-JP" sz="3100" b="1">
                <a:solidFill>
                  <a:srgbClr val="132238"/>
                </a:solidFill>
                <a:latin typeface="Yu Gothic" panose="020B0400000000000000" pitchFamily="50" charset="-128"/>
                <a:ea typeface="Yu Gothic" panose="020B0400000000000000" pitchFamily="50" charset="-128"/>
              </a:rPr>
              <a:t>PROSTA</a:t>
            </a:r>
            <a:endParaRPr kumimoji="1" lang="ja-JP" altLang="en-US" sz="3100" b="1">
              <a:solidFill>
                <a:srgbClr val="132238"/>
              </a:solidFill>
              <a:latin typeface="Yu Gothic" panose="020B0400000000000000" pitchFamily="50" charset="-128"/>
              <a:ea typeface="Yu Gothic" panose="020B0400000000000000" pitchFamily="50" charset="-128"/>
            </a:endParaRPr>
          </a:p>
        </p:txBody>
      </p:sp>
      <p:sp>
        <p:nvSpPr>
          <p:cNvPr id="5" name="テキスト ボックス 4">
            <a:extLst>
              <a:ext uri="{FF2B5EF4-FFF2-40B4-BE49-F238E27FC236}">
                <a16:creationId xmlns:a16="http://schemas.microsoft.com/office/drawing/2014/main" id="{C8A8281A-2517-EE3E-4410-00F90D9FD322}"/>
              </a:ext>
            </a:extLst>
          </p:cNvPr>
          <p:cNvSpPr txBox="1"/>
          <p:nvPr/>
        </p:nvSpPr>
        <p:spPr>
          <a:xfrm>
            <a:off x="609600" y="6388100"/>
            <a:ext cx="76200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PROSTA  /  </a:t>
            </a:r>
            <a:r>
              <a:rPr kumimoji="1" lang="ja-JP" altLang="en-US" sz="1000">
                <a:solidFill>
                  <a:srgbClr val="5C6F84"/>
                </a:solidFill>
                <a:latin typeface="Yu Gothic" panose="020B0400000000000000" pitchFamily="50" charset="-128"/>
                <a:ea typeface="Yu Gothic" panose="020B0400000000000000" pitchFamily="50" charset="-128"/>
              </a:rPr>
              <a:t>学習を、次の一歩につなげる</a:t>
            </a:r>
          </a:p>
        </p:txBody>
      </p:sp>
      <p:sp>
        <p:nvSpPr>
          <p:cNvPr id="6" name="テキスト ボックス 5">
            <a:extLst>
              <a:ext uri="{FF2B5EF4-FFF2-40B4-BE49-F238E27FC236}">
                <a16:creationId xmlns:a16="http://schemas.microsoft.com/office/drawing/2014/main" id="{E11F45DC-4C00-1E51-5A7D-F45E160F1B25}"/>
              </a:ext>
            </a:extLst>
          </p:cNvPr>
          <p:cNvSpPr txBox="1"/>
          <p:nvPr/>
        </p:nvSpPr>
        <p:spPr>
          <a:xfrm>
            <a:off x="9779000" y="6388100"/>
            <a:ext cx="18415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01  /  0:00–0:20</a:t>
            </a:r>
            <a:endParaRPr kumimoji="1" lang="ja-JP" altLang="en-US" sz="1000">
              <a:solidFill>
                <a:srgbClr val="5C6F84"/>
              </a:solidFill>
              <a:latin typeface="Yu Gothic" panose="020B0400000000000000" pitchFamily="50" charset="-128"/>
              <a:ea typeface="Yu Gothic" panose="020B0400000000000000" pitchFamily="50" charset="-128"/>
            </a:endParaRPr>
          </a:p>
        </p:txBody>
      </p:sp>
      <p:sp>
        <p:nvSpPr>
          <p:cNvPr id="7" name="テキスト ボックス 6">
            <a:extLst>
              <a:ext uri="{FF2B5EF4-FFF2-40B4-BE49-F238E27FC236}">
                <a16:creationId xmlns:a16="http://schemas.microsoft.com/office/drawing/2014/main" id="{D9422F0C-E826-8751-D99E-6AC72981464A}"/>
              </a:ext>
            </a:extLst>
          </p:cNvPr>
          <p:cNvSpPr txBox="1"/>
          <p:nvPr/>
        </p:nvSpPr>
        <p:spPr>
          <a:xfrm>
            <a:off x="609600" y="2082800"/>
            <a:ext cx="8255000" cy="1107996"/>
          </a:xfrm>
          <a:prstGeom prst="rect">
            <a:avLst/>
          </a:prstGeom>
          <a:noFill/>
        </p:spPr>
        <p:txBody>
          <a:bodyPr vert="horz" wrap="square" lIns="0" tIns="0" rIns="0" bIns="0" rtlCol="0">
            <a:spAutoFit/>
          </a:bodyPr>
          <a:lstStyle/>
          <a:p>
            <a:r>
              <a:rPr kumimoji="1" lang="ja-JP" altLang="en-US" sz="3600" b="1">
                <a:solidFill>
                  <a:srgbClr val="132238"/>
                </a:solidFill>
                <a:latin typeface="Yu Gothic" panose="020B0400000000000000" pitchFamily="50" charset="-128"/>
                <a:ea typeface="Yu Gothic" panose="020B0400000000000000" pitchFamily="50" charset="-128"/>
              </a:rPr>
              <a:t>解いて終わらない。
次の学習につながる。</a:t>
            </a:r>
          </a:p>
        </p:txBody>
      </p:sp>
      <p:sp>
        <p:nvSpPr>
          <p:cNvPr id="8" name="テキスト ボックス 7">
            <a:extLst>
              <a:ext uri="{FF2B5EF4-FFF2-40B4-BE49-F238E27FC236}">
                <a16:creationId xmlns:a16="http://schemas.microsoft.com/office/drawing/2014/main" id="{14CE9979-81E8-BB71-E2B8-D16B18C625FE}"/>
              </a:ext>
            </a:extLst>
          </p:cNvPr>
          <p:cNvSpPr txBox="1"/>
          <p:nvPr/>
        </p:nvSpPr>
        <p:spPr>
          <a:xfrm>
            <a:off x="609600" y="3822700"/>
            <a:ext cx="8255000" cy="323165"/>
          </a:xfrm>
          <a:prstGeom prst="rect">
            <a:avLst/>
          </a:prstGeom>
          <a:noFill/>
        </p:spPr>
        <p:txBody>
          <a:bodyPr vert="horz" wrap="square" lIns="0" tIns="0" rIns="0" bIns="0" rtlCol="0">
            <a:spAutoFit/>
          </a:bodyPr>
          <a:lstStyle/>
          <a:p>
            <a:r>
              <a:rPr kumimoji="1" lang="ja-JP" altLang="en-US" sz="2100" b="1">
                <a:solidFill>
                  <a:srgbClr val="098474"/>
                </a:solidFill>
                <a:latin typeface="Yu Gothic" panose="020B0400000000000000" pitchFamily="50" charset="-128"/>
                <a:ea typeface="Yu Gothic" panose="020B0400000000000000" pitchFamily="50" charset="-128"/>
              </a:rPr>
              <a:t>弱点の可視化 </a:t>
            </a:r>
            <a:r>
              <a:rPr kumimoji="1" lang="en-US" altLang="ja-JP" sz="2100" b="1">
                <a:solidFill>
                  <a:srgbClr val="098474"/>
                </a:solidFill>
                <a:latin typeface="Yu Gothic" panose="020B0400000000000000" pitchFamily="50" charset="-128"/>
                <a:ea typeface="Yu Gothic" panose="020B0400000000000000" pitchFamily="50" charset="-128"/>
              </a:rPr>
              <a:t>× </a:t>
            </a:r>
            <a:r>
              <a:rPr kumimoji="1" lang="ja-JP" altLang="en-US" sz="2100" b="1">
                <a:solidFill>
                  <a:srgbClr val="098474"/>
                </a:solidFill>
                <a:latin typeface="Yu Gothic" panose="020B0400000000000000" pitchFamily="50" charset="-128"/>
                <a:ea typeface="Yu Gothic" panose="020B0400000000000000" pitchFamily="50" charset="-128"/>
              </a:rPr>
              <a:t>成長の実感 </a:t>
            </a:r>
            <a:r>
              <a:rPr kumimoji="1" lang="en-US" altLang="ja-JP" sz="2100" b="1">
                <a:solidFill>
                  <a:srgbClr val="098474"/>
                </a:solidFill>
                <a:latin typeface="Yu Gothic" panose="020B0400000000000000" pitchFamily="50" charset="-128"/>
                <a:ea typeface="Yu Gothic" panose="020B0400000000000000" pitchFamily="50" charset="-128"/>
              </a:rPr>
              <a:t>× </a:t>
            </a:r>
            <a:r>
              <a:rPr kumimoji="1" lang="ja-JP" altLang="en-US" sz="2100" b="1">
                <a:solidFill>
                  <a:srgbClr val="098474"/>
                </a:solidFill>
                <a:latin typeface="Yu Gothic" panose="020B0400000000000000" pitchFamily="50" charset="-128"/>
                <a:ea typeface="Yu Gothic" panose="020B0400000000000000" pitchFamily="50" charset="-128"/>
              </a:rPr>
              <a:t>仲間との継続</a:t>
            </a:r>
          </a:p>
        </p:txBody>
      </p:sp>
      <p:sp>
        <p:nvSpPr>
          <p:cNvPr id="9" name="テキスト ボックス 8">
            <a:extLst>
              <a:ext uri="{FF2B5EF4-FFF2-40B4-BE49-F238E27FC236}">
                <a16:creationId xmlns:a16="http://schemas.microsoft.com/office/drawing/2014/main" id="{9DC384D2-A397-C754-0FAD-34D21B9D3CFF}"/>
              </a:ext>
            </a:extLst>
          </p:cNvPr>
          <p:cNvSpPr txBox="1"/>
          <p:nvPr/>
        </p:nvSpPr>
        <p:spPr>
          <a:xfrm>
            <a:off x="609600" y="5181600"/>
            <a:ext cx="8255000" cy="246221"/>
          </a:xfrm>
          <a:prstGeom prst="rect">
            <a:avLst/>
          </a:prstGeom>
          <a:noFill/>
        </p:spPr>
        <p:txBody>
          <a:bodyPr vert="horz" wrap="square" lIns="0" tIns="0" rIns="0" bIns="0" rtlCol="0">
            <a:spAutoFit/>
          </a:bodyPr>
          <a:lstStyle/>
          <a:p>
            <a:r>
              <a:rPr kumimoji="1" lang="ja-JP" altLang="en-US" sz="1600">
                <a:solidFill>
                  <a:srgbClr val="5C6F84"/>
                </a:solidFill>
                <a:latin typeface="Yu Gothic" panose="020B0400000000000000" pitchFamily="50" charset="-128"/>
                <a:ea typeface="Yu Gothic" panose="020B0400000000000000" pitchFamily="50" charset="-128"/>
              </a:rPr>
              <a:t>プログラミング・資格学習を支える</a:t>
            </a:r>
            <a:r>
              <a:rPr kumimoji="1" lang="en-US" altLang="ja-JP" sz="1600">
                <a:solidFill>
                  <a:srgbClr val="5C6F84"/>
                </a:solidFill>
                <a:latin typeface="Yu Gothic" panose="020B0400000000000000" pitchFamily="50" charset="-128"/>
                <a:ea typeface="Yu Gothic" panose="020B0400000000000000" pitchFamily="50" charset="-128"/>
              </a:rPr>
              <a:t>Web</a:t>
            </a:r>
            <a:r>
              <a:rPr kumimoji="1" lang="ja-JP" altLang="en-US" sz="1600">
                <a:solidFill>
                  <a:srgbClr val="5C6F84"/>
                </a:solidFill>
                <a:latin typeface="Yu Gothic" panose="020B0400000000000000" pitchFamily="50" charset="-128"/>
                <a:ea typeface="Yu Gothic" panose="020B0400000000000000" pitchFamily="50" charset="-128"/>
              </a:rPr>
              <a:t>アプリ</a:t>
            </a:r>
          </a:p>
        </p:txBody>
      </p:sp>
      <p:pic>
        <p:nvPicPr>
          <p:cNvPr id="11" name="図 10">
            <a:extLst>
              <a:ext uri="{FF2B5EF4-FFF2-40B4-BE49-F238E27FC236}">
                <a16:creationId xmlns:a16="http://schemas.microsoft.com/office/drawing/2014/main" id="{E6991424-E48C-26DD-7914-65508EEAA5B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9398000" y="2616200"/>
            <a:ext cx="1879600" cy="1879600"/>
          </a:xfrm>
          <a:prstGeom prst="rect">
            <a:avLst/>
          </a:prstGeom>
        </p:spPr>
      </p:pic>
    </p:spTree>
    <p:extLst>
      <p:ext uri="{BB962C8B-B14F-4D97-AF65-F5344CB8AC3E}">
        <p14:creationId xmlns:p14="http://schemas.microsoft.com/office/powerpoint/2010/main" val="4056029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F286D092-5C25-357A-C2CC-925FD562C510}"/>
              </a:ext>
            </a:extLst>
          </p:cNvPr>
          <p:cNvSpPr/>
          <p:nvPr/>
        </p:nvSpPr>
        <p:spPr>
          <a:xfrm>
            <a:off x="482600" y="406400"/>
            <a:ext cx="76200" cy="381000"/>
          </a:xfrm>
          <a:prstGeom prst="roundRect">
            <a:avLst/>
          </a:prstGeom>
          <a:solidFill>
            <a:srgbClr val="0984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8CCE62CC-0896-8725-A7F4-7F9B59D3B56C}"/>
              </a:ext>
            </a:extLst>
          </p:cNvPr>
          <p:cNvSpPr txBox="1"/>
          <p:nvPr/>
        </p:nvSpPr>
        <p:spPr>
          <a:xfrm>
            <a:off x="736600" y="431800"/>
            <a:ext cx="9398000" cy="200055"/>
          </a:xfrm>
          <a:prstGeom prst="rect">
            <a:avLst/>
          </a:prstGeom>
          <a:noFill/>
        </p:spPr>
        <p:txBody>
          <a:bodyPr vert="horz" wrap="square" lIns="0" tIns="0" rIns="0" bIns="0" rtlCol="0">
            <a:spAutoFit/>
          </a:bodyPr>
          <a:lstStyle/>
          <a:p>
            <a:r>
              <a:rPr kumimoji="1" lang="en-US" altLang="ja-JP" sz="1300" b="1">
                <a:solidFill>
                  <a:srgbClr val="098474"/>
                </a:solidFill>
                <a:latin typeface="Yu Gothic" panose="020B0400000000000000" pitchFamily="50" charset="-128"/>
                <a:ea typeface="Yu Gothic" panose="020B0400000000000000" pitchFamily="50" charset="-128"/>
              </a:rPr>
              <a:t>02 / WHY</a:t>
            </a:r>
            <a:endParaRPr kumimoji="1" lang="ja-JP" altLang="en-US" sz="1300" b="1">
              <a:solidFill>
                <a:srgbClr val="098474"/>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99523CB0-4022-161E-84B8-6BA663424917}"/>
              </a:ext>
            </a:extLst>
          </p:cNvPr>
          <p:cNvSpPr txBox="1"/>
          <p:nvPr/>
        </p:nvSpPr>
        <p:spPr>
          <a:xfrm>
            <a:off x="609600" y="1079500"/>
            <a:ext cx="10972800" cy="477054"/>
          </a:xfrm>
          <a:prstGeom prst="rect">
            <a:avLst/>
          </a:prstGeom>
          <a:noFill/>
        </p:spPr>
        <p:txBody>
          <a:bodyPr vert="horz" wrap="square" lIns="0" tIns="0" rIns="0" bIns="0" rtlCol="0">
            <a:spAutoFit/>
          </a:bodyPr>
          <a:lstStyle/>
          <a:p>
            <a:r>
              <a:rPr kumimoji="1" lang="ja-JP" altLang="en-US" sz="3100" b="1">
                <a:solidFill>
                  <a:srgbClr val="132238"/>
                </a:solidFill>
                <a:latin typeface="Yu Gothic" panose="020B0400000000000000" pitchFamily="50" charset="-128"/>
                <a:ea typeface="Yu Gothic" panose="020B0400000000000000" pitchFamily="50" charset="-128"/>
              </a:rPr>
              <a:t>課題は「次に何を学ぶか」と「続けること」</a:t>
            </a:r>
          </a:p>
        </p:txBody>
      </p:sp>
      <p:sp>
        <p:nvSpPr>
          <p:cNvPr id="5" name="テキスト ボックス 4">
            <a:extLst>
              <a:ext uri="{FF2B5EF4-FFF2-40B4-BE49-F238E27FC236}">
                <a16:creationId xmlns:a16="http://schemas.microsoft.com/office/drawing/2014/main" id="{0C90BA29-2F28-96A8-E141-BB5CFAD8F57A}"/>
              </a:ext>
            </a:extLst>
          </p:cNvPr>
          <p:cNvSpPr txBox="1"/>
          <p:nvPr/>
        </p:nvSpPr>
        <p:spPr>
          <a:xfrm>
            <a:off x="609600" y="6388100"/>
            <a:ext cx="76200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PROSTA  /  </a:t>
            </a:r>
            <a:r>
              <a:rPr kumimoji="1" lang="ja-JP" altLang="en-US" sz="1000">
                <a:solidFill>
                  <a:srgbClr val="5C6F84"/>
                </a:solidFill>
                <a:latin typeface="Yu Gothic" panose="020B0400000000000000" pitchFamily="50" charset="-128"/>
                <a:ea typeface="Yu Gothic" panose="020B0400000000000000" pitchFamily="50" charset="-128"/>
              </a:rPr>
              <a:t>学習を、次の一歩につなげる</a:t>
            </a:r>
          </a:p>
        </p:txBody>
      </p:sp>
      <p:sp>
        <p:nvSpPr>
          <p:cNvPr id="6" name="テキスト ボックス 5">
            <a:extLst>
              <a:ext uri="{FF2B5EF4-FFF2-40B4-BE49-F238E27FC236}">
                <a16:creationId xmlns:a16="http://schemas.microsoft.com/office/drawing/2014/main" id="{B644A7E8-C3E7-2C47-FCD7-76F5E2986565}"/>
              </a:ext>
            </a:extLst>
          </p:cNvPr>
          <p:cNvSpPr txBox="1"/>
          <p:nvPr/>
        </p:nvSpPr>
        <p:spPr>
          <a:xfrm>
            <a:off x="9779000" y="6388100"/>
            <a:ext cx="18415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02  /  0:20–1:00</a:t>
            </a:r>
            <a:endParaRPr kumimoji="1" lang="ja-JP" altLang="en-US" sz="1000">
              <a:solidFill>
                <a:srgbClr val="5C6F84"/>
              </a:solidFill>
              <a:latin typeface="Yu Gothic" panose="020B0400000000000000" pitchFamily="50" charset="-128"/>
              <a:ea typeface="Yu Gothic" panose="020B0400000000000000" pitchFamily="50" charset="-128"/>
            </a:endParaRPr>
          </a:p>
        </p:txBody>
      </p:sp>
      <p:sp>
        <p:nvSpPr>
          <p:cNvPr id="7" name="四角形: 角を丸くする 6">
            <a:extLst>
              <a:ext uri="{FF2B5EF4-FFF2-40B4-BE49-F238E27FC236}">
                <a16:creationId xmlns:a16="http://schemas.microsoft.com/office/drawing/2014/main" id="{D6E65146-2615-F18A-2858-C32CD8103158}"/>
              </a:ext>
            </a:extLst>
          </p:cNvPr>
          <p:cNvSpPr/>
          <p:nvPr/>
        </p:nvSpPr>
        <p:spPr>
          <a:xfrm>
            <a:off x="609600" y="2222500"/>
            <a:ext cx="5257800" cy="31369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DF8F40C7-B31A-37C8-2D74-F50AE70EFB9C}"/>
              </a:ext>
            </a:extLst>
          </p:cNvPr>
          <p:cNvSpPr/>
          <p:nvPr/>
        </p:nvSpPr>
        <p:spPr>
          <a:xfrm>
            <a:off x="6121400" y="2222500"/>
            <a:ext cx="5461000" cy="31369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81EFFF2C-4AFF-4758-B3BB-3053CABD87C3}"/>
              </a:ext>
            </a:extLst>
          </p:cNvPr>
          <p:cNvSpPr txBox="1"/>
          <p:nvPr/>
        </p:nvSpPr>
        <p:spPr>
          <a:xfrm>
            <a:off x="914400" y="2501900"/>
            <a:ext cx="4572000" cy="338554"/>
          </a:xfrm>
          <a:prstGeom prst="rect">
            <a:avLst/>
          </a:prstGeom>
          <a:noFill/>
        </p:spPr>
        <p:txBody>
          <a:bodyPr vert="horz" wrap="square" lIns="0" tIns="0" rIns="0" bIns="0" rtlCol="0">
            <a:spAutoFit/>
          </a:bodyPr>
          <a:lstStyle/>
          <a:p>
            <a:r>
              <a:rPr kumimoji="1" lang="ja-JP" altLang="en-US" sz="2200" b="1">
                <a:solidFill>
                  <a:srgbClr val="132238"/>
                </a:solidFill>
                <a:latin typeface="Yu Gothic" panose="020B0400000000000000" pitchFamily="50" charset="-128"/>
                <a:ea typeface="Yu Gothic" panose="020B0400000000000000" pitchFamily="50" charset="-128"/>
              </a:rPr>
              <a:t>解くだけでは、次に進みにくい</a:t>
            </a:r>
          </a:p>
        </p:txBody>
      </p:sp>
      <p:sp>
        <p:nvSpPr>
          <p:cNvPr id="10" name="テキスト ボックス 9">
            <a:extLst>
              <a:ext uri="{FF2B5EF4-FFF2-40B4-BE49-F238E27FC236}">
                <a16:creationId xmlns:a16="http://schemas.microsoft.com/office/drawing/2014/main" id="{3930EE6A-F53B-14A6-C354-7F16507CEBE1}"/>
              </a:ext>
            </a:extLst>
          </p:cNvPr>
          <p:cNvSpPr txBox="1"/>
          <p:nvPr/>
        </p:nvSpPr>
        <p:spPr>
          <a:xfrm>
            <a:off x="914400" y="3187700"/>
            <a:ext cx="4572000" cy="923330"/>
          </a:xfrm>
          <a:prstGeom prst="rect">
            <a:avLst/>
          </a:prstGeom>
          <a:noFill/>
        </p:spPr>
        <p:txBody>
          <a:bodyPr vert="horz" wrap="square" lIns="0" tIns="0" rIns="0" bIns="0" rtlCol="0">
            <a:spAutoFit/>
          </a:bodyPr>
          <a:lstStyle/>
          <a:p>
            <a:r>
              <a:rPr kumimoji="1" lang="ja-JP" altLang="en-US" sz="2000">
                <a:solidFill>
                  <a:srgbClr val="5C6F84"/>
                </a:solidFill>
                <a:latin typeface="Yu Gothic" panose="020B0400000000000000" pitchFamily="50" charset="-128"/>
                <a:ea typeface="Yu Gothic" panose="020B0400000000000000" pitchFamily="50" charset="-128"/>
              </a:rPr>
              <a:t>どの分野が苦手か分からない
復習する問題を探すのが大変
学習の積み重ねを実感しにくい</a:t>
            </a:r>
          </a:p>
        </p:txBody>
      </p:sp>
      <p:sp>
        <p:nvSpPr>
          <p:cNvPr id="11" name="テキスト ボックス 10">
            <a:extLst>
              <a:ext uri="{FF2B5EF4-FFF2-40B4-BE49-F238E27FC236}">
                <a16:creationId xmlns:a16="http://schemas.microsoft.com/office/drawing/2014/main" id="{1E90DA96-2FFE-0839-7E24-BA23502C0C1F}"/>
              </a:ext>
            </a:extLst>
          </p:cNvPr>
          <p:cNvSpPr txBox="1"/>
          <p:nvPr/>
        </p:nvSpPr>
        <p:spPr>
          <a:xfrm>
            <a:off x="6426200" y="2501900"/>
            <a:ext cx="4851400" cy="338554"/>
          </a:xfrm>
          <a:prstGeom prst="rect">
            <a:avLst/>
          </a:prstGeom>
          <a:noFill/>
        </p:spPr>
        <p:txBody>
          <a:bodyPr vert="horz" wrap="square" lIns="0" tIns="0" rIns="0" bIns="0" rtlCol="0">
            <a:spAutoFit/>
          </a:bodyPr>
          <a:lstStyle/>
          <a:p>
            <a:r>
              <a:rPr kumimoji="1" lang="en-US" altLang="ja-JP" sz="2200" b="1">
                <a:solidFill>
                  <a:srgbClr val="098474"/>
                </a:solidFill>
                <a:latin typeface="Yu Gothic" panose="020B0400000000000000" pitchFamily="50" charset="-128"/>
                <a:ea typeface="Yu Gothic" panose="020B0400000000000000" pitchFamily="50" charset="-128"/>
              </a:rPr>
              <a:t>PROSTA</a:t>
            </a:r>
            <a:r>
              <a:rPr kumimoji="1" lang="ja-JP" altLang="en-US" sz="2200" b="1">
                <a:solidFill>
                  <a:srgbClr val="098474"/>
                </a:solidFill>
                <a:latin typeface="Yu Gothic" panose="020B0400000000000000" pitchFamily="50" charset="-128"/>
                <a:ea typeface="Yu Gothic" panose="020B0400000000000000" pitchFamily="50" charset="-128"/>
              </a:rPr>
              <a:t>で支えること</a:t>
            </a:r>
          </a:p>
        </p:txBody>
      </p:sp>
      <p:sp>
        <p:nvSpPr>
          <p:cNvPr id="12" name="テキスト ボックス 11">
            <a:extLst>
              <a:ext uri="{FF2B5EF4-FFF2-40B4-BE49-F238E27FC236}">
                <a16:creationId xmlns:a16="http://schemas.microsoft.com/office/drawing/2014/main" id="{919C6BDD-2AB7-924F-1737-687F5D5F2722}"/>
              </a:ext>
            </a:extLst>
          </p:cNvPr>
          <p:cNvSpPr txBox="1"/>
          <p:nvPr/>
        </p:nvSpPr>
        <p:spPr>
          <a:xfrm>
            <a:off x="6426200" y="3187700"/>
            <a:ext cx="4851400" cy="923330"/>
          </a:xfrm>
          <a:prstGeom prst="rect">
            <a:avLst/>
          </a:prstGeom>
          <a:noFill/>
        </p:spPr>
        <p:txBody>
          <a:bodyPr vert="horz" wrap="square" lIns="0" tIns="0" rIns="0" bIns="0" rtlCol="0">
            <a:spAutoFit/>
          </a:bodyPr>
          <a:lstStyle/>
          <a:p>
            <a:r>
              <a:rPr kumimoji="1" lang="ja-JP" altLang="en-US" sz="2000">
                <a:solidFill>
                  <a:srgbClr val="132238"/>
                </a:solidFill>
                <a:latin typeface="Yu Gothic" panose="020B0400000000000000" pitchFamily="50" charset="-128"/>
                <a:ea typeface="Yu Gothic" panose="020B0400000000000000" pitchFamily="50" charset="-128"/>
              </a:rPr>
              <a:t>成績を見える形にする
履歴から復習へつなぐ
成長・予定・仲間で継続を支える</a:t>
            </a:r>
          </a:p>
        </p:txBody>
      </p:sp>
      <p:sp>
        <p:nvSpPr>
          <p:cNvPr id="13" name="テキスト ボックス 12">
            <a:extLst>
              <a:ext uri="{FF2B5EF4-FFF2-40B4-BE49-F238E27FC236}">
                <a16:creationId xmlns:a16="http://schemas.microsoft.com/office/drawing/2014/main" id="{F37CCC40-8548-4C8D-945F-A330C38F8D8F}"/>
              </a:ext>
            </a:extLst>
          </p:cNvPr>
          <p:cNvSpPr txBox="1"/>
          <p:nvPr/>
        </p:nvSpPr>
        <p:spPr>
          <a:xfrm>
            <a:off x="609600" y="5676900"/>
            <a:ext cx="10972800" cy="292388"/>
          </a:xfrm>
          <a:prstGeom prst="rect">
            <a:avLst/>
          </a:prstGeom>
          <a:noFill/>
        </p:spPr>
        <p:txBody>
          <a:bodyPr vert="horz" wrap="square" lIns="0" tIns="0" rIns="0" bIns="0" rtlCol="0">
            <a:spAutoFit/>
          </a:bodyPr>
          <a:lstStyle/>
          <a:p>
            <a:r>
              <a:rPr kumimoji="1" lang="ja-JP" altLang="en-US" sz="1900" b="1">
                <a:solidFill>
                  <a:srgbClr val="098474"/>
                </a:solidFill>
                <a:latin typeface="Yu Gothic" panose="020B0400000000000000" pitchFamily="50" charset="-128"/>
                <a:ea typeface="Yu Gothic" panose="020B0400000000000000" pitchFamily="50" charset="-128"/>
              </a:rPr>
              <a:t>機能の多さより、学習の流れがつながることを重視しました。</a:t>
            </a:r>
          </a:p>
        </p:txBody>
      </p:sp>
    </p:spTree>
    <p:extLst>
      <p:ext uri="{BB962C8B-B14F-4D97-AF65-F5344CB8AC3E}">
        <p14:creationId xmlns:p14="http://schemas.microsoft.com/office/powerpoint/2010/main" val="40094585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A4DBCA44-4CDB-92DD-9591-A0EADA334C52}"/>
              </a:ext>
            </a:extLst>
          </p:cNvPr>
          <p:cNvSpPr/>
          <p:nvPr/>
        </p:nvSpPr>
        <p:spPr>
          <a:xfrm>
            <a:off x="482600" y="406400"/>
            <a:ext cx="76200" cy="381000"/>
          </a:xfrm>
          <a:prstGeom prst="roundRect">
            <a:avLst/>
          </a:prstGeom>
          <a:solidFill>
            <a:srgbClr val="0984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AC6A9E4C-8EF5-A986-D662-CB0413A47BFD}"/>
              </a:ext>
            </a:extLst>
          </p:cNvPr>
          <p:cNvSpPr txBox="1"/>
          <p:nvPr/>
        </p:nvSpPr>
        <p:spPr>
          <a:xfrm>
            <a:off x="736600" y="431800"/>
            <a:ext cx="9398000" cy="200055"/>
          </a:xfrm>
          <a:prstGeom prst="rect">
            <a:avLst/>
          </a:prstGeom>
          <a:noFill/>
        </p:spPr>
        <p:txBody>
          <a:bodyPr vert="horz" wrap="square" lIns="0" tIns="0" rIns="0" bIns="0" rtlCol="0">
            <a:spAutoFit/>
          </a:bodyPr>
          <a:lstStyle/>
          <a:p>
            <a:r>
              <a:rPr kumimoji="1" lang="en-US" altLang="ja-JP" sz="1300" b="1">
                <a:solidFill>
                  <a:srgbClr val="098474"/>
                </a:solidFill>
                <a:latin typeface="Yu Gothic" panose="020B0400000000000000" pitchFamily="50" charset="-128"/>
                <a:ea typeface="Yu Gothic" panose="020B0400000000000000" pitchFamily="50" charset="-128"/>
              </a:rPr>
              <a:t>03 / LEARNING CYCLE</a:t>
            </a:r>
            <a:endParaRPr kumimoji="1" lang="ja-JP" altLang="en-US" sz="1300" b="1">
              <a:solidFill>
                <a:srgbClr val="098474"/>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78010A9C-711C-7C27-73B0-F429156B7B16}"/>
              </a:ext>
            </a:extLst>
          </p:cNvPr>
          <p:cNvSpPr txBox="1"/>
          <p:nvPr/>
        </p:nvSpPr>
        <p:spPr>
          <a:xfrm>
            <a:off x="609600" y="1079500"/>
            <a:ext cx="10972800" cy="477054"/>
          </a:xfrm>
          <a:prstGeom prst="rect">
            <a:avLst/>
          </a:prstGeom>
          <a:noFill/>
        </p:spPr>
        <p:txBody>
          <a:bodyPr vert="horz" wrap="square" lIns="0" tIns="0" rIns="0" bIns="0" rtlCol="0">
            <a:spAutoFit/>
          </a:bodyPr>
          <a:lstStyle/>
          <a:p>
            <a:r>
              <a:rPr kumimoji="1" lang="en-US" altLang="ja-JP" sz="3100" b="1">
                <a:solidFill>
                  <a:srgbClr val="132238"/>
                </a:solidFill>
                <a:latin typeface="Yu Gothic" panose="020B0400000000000000" pitchFamily="50" charset="-128"/>
                <a:ea typeface="Yu Gothic" panose="020B0400000000000000" pitchFamily="50" charset="-128"/>
              </a:rPr>
              <a:t>1</a:t>
            </a:r>
            <a:r>
              <a:rPr kumimoji="1" lang="ja-JP" altLang="en-US" sz="3100" b="1">
                <a:solidFill>
                  <a:srgbClr val="132238"/>
                </a:solidFill>
                <a:latin typeface="Yu Gothic" panose="020B0400000000000000" pitchFamily="50" charset="-128"/>
                <a:ea typeface="Yu Gothic" panose="020B0400000000000000" pitchFamily="50" charset="-128"/>
              </a:rPr>
              <a:t>回の学習を、次の一歩につなげる</a:t>
            </a:r>
          </a:p>
        </p:txBody>
      </p:sp>
      <p:sp>
        <p:nvSpPr>
          <p:cNvPr id="5" name="テキスト ボックス 4">
            <a:extLst>
              <a:ext uri="{FF2B5EF4-FFF2-40B4-BE49-F238E27FC236}">
                <a16:creationId xmlns:a16="http://schemas.microsoft.com/office/drawing/2014/main" id="{B1E98361-80EA-B856-CEAA-0004BBD3FE0B}"/>
              </a:ext>
            </a:extLst>
          </p:cNvPr>
          <p:cNvSpPr txBox="1"/>
          <p:nvPr/>
        </p:nvSpPr>
        <p:spPr>
          <a:xfrm>
            <a:off x="609600" y="6388100"/>
            <a:ext cx="76200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PROSTA  /  </a:t>
            </a:r>
            <a:r>
              <a:rPr kumimoji="1" lang="ja-JP" altLang="en-US" sz="1000">
                <a:solidFill>
                  <a:srgbClr val="5C6F84"/>
                </a:solidFill>
                <a:latin typeface="Yu Gothic" panose="020B0400000000000000" pitchFamily="50" charset="-128"/>
                <a:ea typeface="Yu Gothic" panose="020B0400000000000000" pitchFamily="50" charset="-128"/>
              </a:rPr>
              <a:t>学習を、次の一歩につなげる</a:t>
            </a:r>
          </a:p>
        </p:txBody>
      </p:sp>
      <p:sp>
        <p:nvSpPr>
          <p:cNvPr id="6" name="テキスト ボックス 5">
            <a:extLst>
              <a:ext uri="{FF2B5EF4-FFF2-40B4-BE49-F238E27FC236}">
                <a16:creationId xmlns:a16="http://schemas.microsoft.com/office/drawing/2014/main" id="{741A5475-56F9-5B33-D93E-8CDF5AB869E9}"/>
              </a:ext>
            </a:extLst>
          </p:cNvPr>
          <p:cNvSpPr txBox="1"/>
          <p:nvPr/>
        </p:nvSpPr>
        <p:spPr>
          <a:xfrm>
            <a:off x="9779000" y="6388100"/>
            <a:ext cx="18415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03  /  1:00–1:40</a:t>
            </a:r>
            <a:endParaRPr kumimoji="1" lang="ja-JP" altLang="en-US" sz="1000">
              <a:solidFill>
                <a:srgbClr val="5C6F84"/>
              </a:solidFill>
              <a:latin typeface="Yu Gothic" panose="020B0400000000000000" pitchFamily="50" charset="-128"/>
              <a:ea typeface="Yu Gothic" panose="020B0400000000000000" pitchFamily="50" charset="-128"/>
            </a:endParaRPr>
          </a:p>
        </p:txBody>
      </p:sp>
      <p:sp>
        <p:nvSpPr>
          <p:cNvPr id="7" name="四角形: 角を丸くする 6">
            <a:extLst>
              <a:ext uri="{FF2B5EF4-FFF2-40B4-BE49-F238E27FC236}">
                <a16:creationId xmlns:a16="http://schemas.microsoft.com/office/drawing/2014/main" id="{1410FE28-389E-7AA7-8721-6970A28CF56E}"/>
              </a:ext>
            </a:extLst>
          </p:cNvPr>
          <p:cNvSpPr/>
          <p:nvPr/>
        </p:nvSpPr>
        <p:spPr>
          <a:xfrm>
            <a:off x="609600" y="2540000"/>
            <a:ext cx="2590800" cy="2603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33228A2B-BB61-7FB3-A458-FD3F1A181106}"/>
              </a:ext>
            </a:extLst>
          </p:cNvPr>
          <p:cNvSpPr txBox="1"/>
          <p:nvPr/>
        </p:nvSpPr>
        <p:spPr>
          <a:xfrm>
            <a:off x="838200" y="2755900"/>
            <a:ext cx="2095500" cy="230832"/>
          </a:xfrm>
          <a:prstGeom prst="rect">
            <a:avLst/>
          </a:prstGeom>
          <a:noFill/>
        </p:spPr>
        <p:txBody>
          <a:bodyPr vert="horz" wrap="square" lIns="0" tIns="0" rIns="0" bIns="0" rtlCol="0">
            <a:spAutoFit/>
          </a:bodyPr>
          <a:lstStyle/>
          <a:p>
            <a:r>
              <a:rPr kumimoji="1" lang="en-US" altLang="ja-JP" sz="1500" b="1">
                <a:solidFill>
                  <a:srgbClr val="098474"/>
                </a:solidFill>
                <a:latin typeface="Yu Gothic" panose="020B0400000000000000" pitchFamily="50" charset="-128"/>
                <a:ea typeface="Yu Gothic" panose="020B0400000000000000" pitchFamily="50" charset="-128"/>
              </a:rPr>
              <a:t>01</a:t>
            </a:r>
            <a:endParaRPr kumimoji="1" lang="ja-JP" altLang="en-US" sz="1500" b="1">
              <a:solidFill>
                <a:srgbClr val="098474"/>
              </a:solidFill>
              <a:latin typeface="Yu Gothic" panose="020B0400000000000000" pitchFamily="50" charset="-128"/>
              <a:ea typeface="Yu Gothic" panose="020B0400000000000000" pitchFamily="50" charset="-128"/>
            </a:endParaRPr>
          </a:p>
        </p:txBody>
      </p:sp>
      <p:sp>
        <p:nvSpPr>
          <p:cNvPr id="9" name="テキスト ボックス 8">
            <a:extLst>
              <a:ext uri="{FF2B5EF4-FFF2-40B4-BE49-F238E27FC236}">
                <a16:creationId xmlns:a16="http://schemas.microsoft.com/office/drawing/2014/main" id="{416B9A6B-F778-6021-C8C9-F1FB0EAD71BB}"/>
              </a:ext>
            </a:extLst>
          </p:cNvPr>
          <p:cNvSpPr txBox="1"/>
          <p:nvPr/>
        </p:nvSpPr>
        <p:spPr>
          <a:xfrm>
            <a:off x="838200" y="3251200"/>
            <a:ext cx="2133600" cy="446276"/>
          </a:xfrm>
          <a:prstGeom prst="rect">
            <a:avLst/>
          </a:prstGeom>
          <a:noFill/>
        </p:spPr>
        <p:txBody>
          <a:bodyPr vert="horz" wrap="square" lIns="0" tIns="0" rIns="0" bIns="0" rtlCol="0">
            <a:spAutoFit/>
          </a:bodyPr>
          <a:lstStyle/>
          <a:p>
            <a:r>
              <a:rPr kumimoji="1" lang="ja-JP" altLang="en-US" sz="2900" b="1">
                <a:solidFill>
                  <a:srgbClr val="132238"/>
                </a:solidFill>
                <a:latin typeface="Yu Gothic" panose="020B0400000000000000" pitchFamily="50" charset="-128"/>
                <a:ea typeface="Yu Gothic" panose="020B0400000000000000" pitchFamily="50" charset="-128"/>
              </a:rPr>
              <a:t>解く</a:t>
            </a:r>
          </a:p>
        </p:txBody>
      </p:sp>
      <p:sp>
        <p:nvSpPr>
          <p:cNvPr id="10" name="テキスト ボックス 9">
            <a:extLst>
              <a:ext uri="{FF2B5EF4-FFF2-40B4-BE49-F238E27FC236}">
                <a16:creationId xmlns:a16="http://schemas.microsoft.com/office/drawing/2014/main" id="{BA704763-03FA-CFFB-EA05-2F8BE2EE5520}"/>
              </a:ext>
            </a:extLst>
          </p:cNvPr>
          <p:cNvSpPr txBox="1"/>
          <p:nvPr/>
        </p:nvSpPr>
        <p:spPr>
          <a:xfrm>
            <a:off x="838200" y="4102100"/>
            <a:ext cx="2159000" cy="492443"/>
          </a:xfrm>
          <a:prstGeom prst="rect">
            <a:avLst/>
          </a:prstGeom>
          <a:noFill/>
        </p:spPr>
        <p:txBody>
          <a:bodyPr vert="horz" wrap="square" lIns="0" tIns="0" rIns="0" bIns="0" rtlCol="0">
            <a:spAutoFit/>
          </a:bodyPr>
          <a:lstStyle/>
          <a:p>
            <a:r>
              <a:rPr kumimoji="1" lang="ja-JP" altLang="en-US" sz="1600">
                <a:solidFill>
                  <a:srgbClr val="5C6F84"/>
                </a:solidFill>
                <a:latin typeface="Yu Gothic" panose="020B0400000000000000" pitchFamily="50" charset="-128"/>
                <a:ea typeface="Yu Gothic" panose="020B0400000000000000" pitchFamily="50" charset="-128"/>
              </a:rPr>
              <a:t>カテゴリ・難易度
採点・解説</a:t>
            </a:r>
          </a:p>
        </p:txBody>
      </p:sp>
      <p:sp>
        <p:nvSpPr>
          <p:cNvPr id="11" name="四角形: 角を丸くする 10">
            <a:extLst>
              <a:ext uri="{FF2B5EF4-FFF2-40B4-BE49-F238E27FC236}">
                <a16:creationId xmlns:a16="http://schemas.microsoft.com/office/drawing/2014/main" id="{BF24E376-B3FC-66F0-0322-C7D7533AE596}"/>
              </a:ext>
            </a:extLst>
          </p:cNvPr>
          <p:cNvSpPr/>
          <p:nvPr/>
        </p:nvSpPr>
        <p:spPr>
          <a:xfrm>
            <a:off x="3403600" y="2540000"/>
            <a:ext cx="2590800" cy="2603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9C54C2B3-1C27-6FF1-4F08-BAA56E5491EA}"/>
              </a:ext>
            </a:extLst>
          </p:cNvPr>
          <p:cNvSpPr txBox="1"/>
          <p:nvPr/>
        </p:nvSpPr>
        <p:spPr>
          <a:xfrm>
            <a:off x="3632200" y="2755900"/>
            <a:ext cx="2095500" cy="230832"/>
          </a:xfrm>
          <a:prstGeom prst="rect">
            <a:avLst/>
          </a:prstGeom>
          <a:noFill/>
        </p:spPr>
        <p:txBody>
          <a:bodyPr vert="horz" wrap="square" lIns="0" tIns="0" rIns="0" bIns="0" rtlCol="0">
            <a:spAutoFit/>
          </a:bodyPr>
          <a:lstStyle/>
          <a:p>
            <a:r>
              <a:rPr kumimoji="1" lang="en-US" altLang="ja-JP" sz="1500" b="1">
                <a:solidFill>
                  <a:srgbClr val="098474"/>
                </a:solidFill>
                <a:latin typeface="Yu Gothic" panose="020B0400000000000000" pitchFamily="50" charset="-128"/>
                <a:ea typeface="Yu Gothic" panose="020B0400000000000000" pitchFamily="50" charset="-128"/>
              </a:rPr>
              <a:t>02</a:t>
            </a:r>
            <a:endParaRPr kumimoji="1" lang="ja-JP" altLang="en-US" sz="1500" b="1">
              <a:solidFill>
                <a:srgbClr val="098474"/>
              </a:solidFill>
              <a:latin typeface="Yu Gothic" panose="020B0400000000000000" pitchFamily="50" charset="-128"/>
              <a:ea typeface="Yu Gothic" panose="020B0400000000000000" pitchFamily="50" charset="-128"/>
            </a:endParaRPr>
          </a:p>
        </p:txBody>
      </p:sp>
      <p:sp>
        <p:nvSpPr>
          <p:cNvPr id="13" name="テキスト ボックス 12">
            <a:extLst>
              <a:ext uri="{FF2B5EF4-FFF2-40B4-BE49-F238E27FC236}">
                <a16:creationId xmlns:a16="http://schemas.microsoft.com/office/drawing/2014/main" id="{68FDDD00-86D0-F306-08F4-8D7BE0F01FC7}"/>
              </a:ext>
            </a:extLst>
          </p:cNvPr>
          <p:cNvSpPr txBox="1"/>
          <p:nvPr/>
        </p:nvSpPr>
        <p:spPr>
          <a:xfrm>
            <a:off x="3632200" y="3251200"/>
            <a:ext cx="2133600" cy="446276"/>
          </a:xfrm>
          <a:prstGeom prst="rect">
            <a:avLst/>
          </a:prstGeom>
          <a:noFill/>
        </p:spPr>
        <p:txBody>
          <a:bodyPr vert="horz" wrap="square" lIns="0" tIns="0" rIns="0" bIns="0" rtlCol="0">
            <a:spAutoFit/>
          </a:bodyPr>
          <a:lstStyle/>
          <a:p>
            <a:r>
              <a:rPr kumimoji="1" lang="ja-JP" altLang="en-US" sz="2900" b="1">
                <a:solidFill>
                  <a:srgbClr val="132238"/>
                </a:solidFill>
                <a:latin typeface="Yu Gothic" panose="020B0400000000000000" pitchFamily="50" charset="-128"/>
                <a:ea typeface="Yu Gothic" panose="020B0400000000000000" pitchFamily="50" charset="-128"/>
              </a:rPr>
              <a:t>知る</a:t>
            </a:r>
          </a:p>
        </p:txBody>
      </p:sp>
      <p:sp>
        <p:nvSpPr>
          <p:cNvPr id="14" name="テキスト ボックス 13">
            <a:extLst>
              <a:ext uri="{FF2B5EF4-FFF2-40B4-BE49-F238E27FC236}">
                <a16:creationId xmlns:a16="http://schemas.microsoft.com/office/drawing/2014/main" id="{C3EDAA00-E7D4-E594-98EF-8A2C9702B32A}"/>
              </a:ext>
            </a:extLst>
          </p:cNvPr>
          <p:cNvSpPr txBox="1"/>
          <p:nvPr/>
        </p:nvSpPr>
        <p:spPr>
          <a:xfrm>
            <a:off x="3632200" y="4102100"/>
            <a:ext cx="2159000" cy="492443"/>
          </a:xfrm>
          <a:prstGeom prst="rect">
            <a:avLst/>
          </a:prstGeom>
          <a:noFill/>
        </p:spPr>
        <p:txBody>
          <a:bodyPr vert="horz" wrap="square" lIns="0" tIns="0" rIns="0" bIns="0" rtlCol="0">
            <a:spAutoFit/>
          </a:bodyPr>
          <a:lstStyle/>
          <a:p>
            <a:r>
              <a:rPr kumimoji="1" lang="ja-JP" altLang="en-US" sz="1600">
                <a:solidFill>
                  <a:srgbClr val="5C6F84"/>
                </a:solidFill>
                <a:latin typeface="Yu Gothic" panose="020B0400000000000000" pitchFamily="50" charset="-128"/>
                <a:ea typeface="Yu Gothic" panose="020B0400000000000000" pitchFamily="50" charset="-128"/>
              </a:rPr>
              <a:t>正答率・誤答回数
カテゴリ別グラフ</a:t>
            </a:r>
          </a:p>
        </p:txBody>
      </p:sp>
      <p:sp>
        <p:nvSpPr>
          <p:cNvPr id="15" name="四角形: 角を丸くする 14">
            <a:extLst>
              <a:ext uri="{FF2B5EF4-FFF2-40B4-BE49-F238E27FC236}">
                <a16:creationId xmlns:a16="http://schemas.microsoft.com/office/drawing/2014/main" id="{913D1BE5-5704-2C2B-EEAA-23B652F3AA62}"/>
              </a:ext>
            </a:extLst>
          </p:cNvPr>
          <p:cNvSpPr/>
          <p:nvPr/>
        </p:nvSpPr>
        <p:spPr>
          <a:xfrm>
            <a:off x="6197600" y="2540000"/>
            <a:ext cx="2590800" cy="2603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66D92DD4-4F45-50BE-74F7-567796893017}"/>
              </a:ext>
            </a:extLst>
          </p:cNvPr>
          <p:cNvSpPr txBox="1"/>
          <p:nvPr/>
        </p:nvSpPr>
        <p:spPr>
          <a:xfrm>
            <a:off x="6426200" y="2755900"/>
            <a:ext cx="2095500" cy="230832"/>
          </a:xfrm>
          <a:prstGeom prst="rect">
            <a:avLst/>
          </a:prstGeom>
          <a:noFill/>
        </p:spPr>
        <p:txBody>
          <a:bodyPr vert="horz" wrap="square" lIns="0" tIns="0" rIns="0" bIns="0" rtlCol="0">
            <a:spAutoFit/>
          </a:bodyPr>
          <a:lstStyle/>
          <a:p>
            <a:r>
              <a:rPr kumimoji="1" lang="en-US" altLang="ja-JP" sz="1500" b="1">
                <a:solidFill>
                  <a:srgbClr val="098474"/>
                </a:solidFill>
                <a:latin typeface="Yu Gothic" panose="020B0400000000000000" pitchFamily="50" charset="-128"/>
                <a:ea typeface="Yu Gothic" panose="020B0400000000000000" pitchFamily="50" charset="-128"/>
              </a:rPr>
              <a:t>03</a:t>
            </a:r>
            <a:endParaRPr kumimoji="1" lang="ja-JP" altLang="en-US" sz="1500" b="1">
              <a:solidFill>
                <a:srgbClr val="098474"/>
              </a:solidFill>
              <a:latin typeface="Yu Gothic" panose="020B0400000000000000" pitchFamily="50" charset="-128"/>
              <a:ea typeface="Yu Gothic" panose="020B0400000000000000" pitchFamily="50" charset="-128"/>
            </a:endParaRPr>
          </a:p>
        </p:txBody>
      </p:sp>
      <p:sp>
        <p:nvSpPr>
          <p:cNvPr id="17" name="テキスト ボックス 16">
            <a:extLst>
              <a:ext uri="{FF2B5EF4-FFF2-40B4-BE49-F238E27FC236}">
                <a16:creationId xmlns:a16="http://schemas.microsoft.com/office/drawing/2014/main" id="{65DE4903-A99E-5457-03B6-B3670D6D7154}"/>
              </a:ext>
            </a:extLst>
          </p:cNvPr>
          <p:cNvSpPr txBox="1"/>
          <p:nvPr/>
        </p:nvSpPr>
        <p:spPr>
          <a:xfrm>
            <a:off x="6426200" y="3251200"/>
            <a:ext cx="2133600" cy="446276"/>
          </a:xfrm>
          <a:prstGeom prst="rect">
            <a:avLst/>
          </a:prstGeom>
          <a:noFill/>
        </p:spPr>
        <p:txBody>
          <a:bodyPr vert="horz" wrap="square" lIns="0" tIns="0" rIns="0" bIns="0" rtlCol="0">
            <a:spAutoFit/>
          </a:bodyPr>
          <a:lstStyle/>
          <a:p>
            <a:r>
              <a:rPr kumimoji="1" lang="ja-JP" altLang="en-US" sz="2900" b="1">
                <a:solidFill>
                  <a:srgbClr val="132238"/>
                </a:solidFill>
                <a:latin typeface="Yu Gothic" panose="020B0400000000000000" pitchFamily="50" charset="-128"/>
                <a:ea typeface="Yu Gothic" panose="020B0400000000000000" pitchFamily="50" charset="-128"/>
              </a:rPr>
              <a:t>やり直す</a:t>
            </a:r>
          </a:p>
        </p:txBody>
      </p:sp>
      <p:sp>
        <p:nvSpPr>
          <p:cNvPr id="18" name="テキスト ボックス 17">
            <a:extLst>
              <a:ext uri="{FF2B5EF4-FFF2-40B4-BE49-F238E27FC236}">
                <a16:creationId xmlns:a16="http://schemas.microsoft.com/office/drawing/2014/main" id="{0AB17C19-5633-B039-27A8-37CA66E4B4C9}"/>
              </a:ext>
            </a:extLst>
          </p:cNvPr>
          <p:cNvSpPr txBox="1"/>
          <p:nvPr/>
        </p:nvSpPr>
        <p:spPr>
          <a:xfrm>
            <a:off x="6426200" y="4102100"/>
            <a:ext cx="2159000" cy="492443"/>
          </a:xfrm>
          <a:prstGeom prst="rect">
            <a:avLst/>
          </a:prstGeom>
          <a:noFill/>
        </p:spPr>
        <p:txBody>
          <a:bodyPr vert="horz" wrap="square" lIns="0" tIns="0" rIns="0" bIns="0" rtlCol="0">
            <a:spAutoFit/>
          </a:bodyPr>
          <a:lstStyle/>
          <a:p>
            <a:r>
              <a:rPr kumimoji="1" lang="ja-JP" altLang="en-US" sz="1600">
                <a:solidFill>
                  <a:srgbClr val="5C6F84"/>
                </a:solidFill>
                <a:latin typeface="Yu Gothic" panose="020B0400000000000000" pitchFamily="50" charset="-128"/>
                <a:ea typeface="Yu Gothic" panose="020B0400000000000000" pitchFamily="50" charset="-128"/>
              </a:rPr>
              <a:t>直近の誤答を復習
履歴から弱点出題</a:t>
            </a:r>
          </a:p>
        </p:txBody>
      </p:sp>
      <p:sp>
        <p:nvSpPr>
          <p:cNvPr id="19" name="四角形: 角を丸くする 18">
            <a:extLst>
              <a:ext uri="{FF2B5EF4-FFF2-40B4-BE49-F238E27FC236}">
                <a16:creationId xmlns:a16="http://schemas.microsoft.com/office/drawing/2014/main" id="{B87490EA-DCC5-835F-CCCA-FB72DE66F743}"/>
              </a:ext>
            </a:extLst>
          </p:cNvPr>
          <p:cNvSpPr/>
          <p:nvPr/>
        </p:nvSpPr>
        <p:spPr>
          <a:xfrm>
            <a:off x="8991600" y="2540000"/>
            <a:ext cx="2590800" cy="2603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70AEFE88-7233-98C4-ED9D-5BDB3B70F1F6}"/>
              </a:ext>
            </a:extLst>
          </p:cNvPr>
          <p:cNvSpPr txBox="1"/>
          <p:nvPr/>
        </p:nvSpPr>
        <p:spPr>
          <a:xfrm>
            <a:off x="9220200" y="2755900"/>
            <a:ext cx="2095500" cy="230832"/>
          </a:xfrm>
          <a:prstGeom prst="rect">
            <a:avLst/>
          </a:prstGeom>
          <a:noFill/>
        </p:spPr>
        <p:txBody>
          <a:bodyPr vert="horz" wrap="square" lIns="0" tIns="0" rIns="0" bIns="0" rtlCol="0">
            <a:spAutoFit/>
          </a:bodyPr>
          <a:lstStyle/>
          <a:p>
            <a:r>
              <a:rPr kumimoji="1" lang="en-US" altLang="ja-JP" sz="1500" b="1">
                <a:solidFill>
                  <a:srgbClr val="098474"/>
                </a:solidFill>
                <a:latin typeface="Yu Gothic" panose="020B0400000000000000" pitchFamily="50" charset="-128"/>
                <a:ea typeface="Yu Gothic" panose="020B0400000000000000" pitchFamily="50" charset="-128"/>
              </a:rPr>
              <a:t>04</a:t>
            </a:r>
            <a:endParaRPr kumimoji="1" lang="ja-JP" altLang="en-US" sz="1500" b="1">
              <a:solidFill>
                <a:srgbClr val="098474"/>
              </a:solidFill>
              <a:latin typeface="Yu Gothic" panose="020B0400000000000000" pitchFamily="50" charset="-128"/>
              <a:ea typeface="Yu Gothic" panose="020B0400000000000000" pitchFamily="50" charset="-128"/>
            </a:endParaRPr>
          </a:p>
        </p:txBody>
      </p:sp>
      <p:sp>
        <p:nvSpPr>
          <p:cNvPr id="21" name="テキスト ボックス 20">
            <a:extLst>
              <a:ext uri="{FF2B5EF4-FFF2-40B4-BE49-F238E27FC236}">
                <a16:creationId xmlns:a16="http://schemas.microsoft.com/office/drawing/2014/main" id="{48BF4C26-9A9C-420D-04A4-18FCE645A269}"/>
              </a:ext>
            </a:extLst>
          </p:cNvPr>
          <p:cNvSpPr txBox="1"/>
          <p:nvPr/>
        </p:nvSpPr>
        <p:spPr>
          <a:xfrm>
            <a:off x="9220200" y="3251200"/>
            <a:ext cx="2133600" cy="446276"/>
          </a:xfrm>
          <a:prstGeom prst="rect">
            <a:avLst/>
          </a:prstGeom>
          <a:noFill/>
        </p:spPr>
        <p:txBody>
          <a:bodyPr vert="horz" wrap="square" lIns="0" tIns="0" rIns="0" bIns="0" rtlCol="0">
            <a:spAutoFit/>
          </a:bodyPr>
          <a:lstStyle/>
          <a:p>
            <a:r>
              <a:rPr kumimoji="1" lang="ja-JP" altLang="en-US" sz="2900" b="1">
                <a:solidFill>
                  <a:srgbClr val="132238"/>
                </a:solidFill>
                <a:latin typeface="Yu Gothic" panose="020B0400000000000000" pitchFamily="50" charset="-128"/>
                <a:ea typeface="Yu Gothic" panose="020B0400000000000000" pitchFamily="50" charset="-128"/>
              </a:rPr>
              <a:t>続ける</a:t>
            </a:r>
          </a:p>
        </p:txBody>
      </p:sp>
      <p:sp>
        <p:nvSpPr>
          <p:cNvPr id="22" name="テキスト ボックス 21">
            <a:extLst>
              <a:ext uri="{FF2B5EF4-FFF2-40B4-BE49-F238E27FC236}">
                <a16:creationId xmlns:a16="http://schemas.microsoft.com/office/drawing/2014/main" id="{E486A037-A167-F6A5-41D7-797D15B7A1CD}"/>
              </a:ext>
            </a:extLst>
          </p:cNvPr>
          <p:cNvSpPr txBox="1"/>
          <p:nvPr/>
        </p:nvSpPr>
        <p:spPr>
          <a:xfrm>
            <a:off x="9220200" y="4102100"/>
            <a:ext cx="2159000" cy="492443"/>
          </a:xfrm>
          <a:prstGeom prst="rect">
            <a:avLst/>
          </a:prstGeom>
          <a:noFill/>
        </p:spPr>
        <p:txBody>
          <a:bodyPr vert="horz" wrap="square" lIns="0" tIns="0" rIns="0" bIns="0" rtlCol="0">
            <a:spAutoFit/>
          </a:bodyPr>
          <a:lstStyle/>
          <a:p>
            <a:r>
              <a:rPr kumimoji="1" lang="ja-JP" altLang="en-US" sz="1600">
                <a:solidFill>
                  <a:srgbClr val="5C6F84"/>
                </a:solidFill>
                <a:latin typeface="Yu Gothic" panose="020B0400000000000000" pitchFamily="50" charset="-128"/>
                <a:ea typeface="Yu Gothic" panose="020B0400000000000000" pitchFamily="50" charset="-128"/>
              </a:rPr>
              <a:t>レベル・実績
予定表・フレンド</a:t>
            </a:r>
          </a:p>
        </p:txBody>
      </p:sp>
      <p:sp>
        <p:nvSpPr>
          <p:cNvPr id="23" name="テキスト ボックス 22">
            <a:extLst>
              <a:ext uri="{FF2B5EF4-FFF2-40B4-BE49-F238E27FC236}">
                <a16:creationId xmlns:a16="http://schemas.microsoft.com/office/drawing/2014/main" id="{49E133A5-9CB5-1851-7520-7CA806892C8B}"/>
              </a:ext>
            </a:extLst>
          </p:cNvPr>
          <p:cNvSpPr txBox="1"/>
          <p:nvPr/>
        </p:nvSpPr>
        <p:spPr>
          <a:xfrm>
            <a:off x="609600" y="5600700"/>
            <a:ext cx="10972800" cy="323165"/>
          </a:xfrm>
          <a:prstGeom prst="rect">
            <a:avLst/>
          </a:prstGeom>
          <a:noFill/>
        </p:spPr>
        <p:txBody>
          <a:bodyPr vert="horz" wrap="square" lIns="0" tIns="0" rIns="0" bIns="0" rtlCol="0">
            <a:spAutoFit/>
          </a:bodyPr>
          <a:lstStyle/>
          <a:p>
            <a:r>
              <a:rPr kumimoji="1" lang="ja-JP" altLang="en-US" sz="2100" b="1">
                <a:solidFill>
                  <a:srgbClr val="098474"/>
                </a:solidFill>
                <a:latin typeface="Yu Gothic" panose="020B0400000000000000" pitchFamily="50" charset="-128"/>
                <a:ea typeface="Yu Gothic" panose="020B0400000000000000" pitchFamily="50" charset="-128"/>
              </a:rPr>
              <a:t>この循環を、実際の画面でお見せします。</a:t>
            </a:r>
          </a:p>
        </p:txBody>
      </p:sp>
    </p:spTree>
    <p:extLst>
      <p:ext uri="{BB962C8B-B14F-4D97-AF65-F5344CB8AC3E}">
        <p14:creationId xmlns:p14="http://schemas.microsoft.com/office/powerpoint/2010/main" val="2607087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E748C085-CE8B-EBE9-8E84-B534E0D7EB03}"/>
              </a:ext>
            </a:extLst>
          </p:cNvPr>
          <p:cNvSpPr/>
          <p:nvPr/>
        </p:nvSpPr>
        <p:spPr>
          <a:xfrm>
            <a:off x="482600" y="406400"/>
            <a:ext cx="76200" cy="381000"/>
          </a:xfrm>
          <a:prstGeom prst="roundRect">
            <a:avLst/>
          </a:prstGeom>
          <a:solidFill>
            <a:srgbClr val="0984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631A963C-3708-AFCA-4FD0-5AA0055B626F}"/>
              </a:ext>
            </a:extLst>
          </p:cNvPr>
          <p:cNvSpPr txBox="1"/>
          <p:nvPr/>
        </p:nvSpPr>
        <p:spPr>
          <a:xfrm>
            <a:off x="736600" y="431800"/>
            <a:ext cx="9398000" cy="200055"/>
          </a:xfrm>
          <a:prstGeom prst="rect">
            <a:avLst/>
          </a:prstGeom>
          <a:noFill/>
        </p:spPr>
        <p:txBody>
          <a:bodyPr vert="horz" wrap="square" lIns="0" tIns="0" rIns="0" bIns="0" rtlCol="0">
            <a:spAutoFit/>
          </a:bodyPr>
          <a:lstStyle/>
          <a:p>
            <a:r>
              <a:rPr kumimoji="1" lang="en-US" altLang="ja-JP" sz="1300" b="1">
                <a:solidFill>
                  <a:srgbClr val="098474"/>
                </a:solidFill>
                <a:latin typeface="Yu Gothic" panose="020B0400000000000000" pitchFamily="50" charset="-128"/>
                <a:ea typeface="Yu Gothic" panose="020B0400000000000000" pitchFamily="50" charset="-128"/>
              </a:rPr>
              <a:t>04 / DEMO GUIDE</a:t>
            </a:r>
            <a:endParaRPr kumimoji="1" lang="ja-JP" altLang="en-US" sz="1300" b="1">
              <a:solidFill>
                <a:srgbClr val="098474"/>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8A5D6908-8BB4-CE00-F421-DEDDC623F53D}"/>
              </a:ext>
            </a:extLst>
          </p:cNvPr>
          <p:cNvSpPr txBox="1"/>
          <p:nvPr/>
        </p:nvSpPr>
        <p:spPr>
          <a:xfrm>
            <a:off x="609600" y="1079500"/>
            <a:ext cx="10972800" cy="477054"/>
          </a:xfrm>
          <a:prstGeom prst="rect">
            <a:avLst/>
          </a:prstGeom>
          <a:noFill/>
        </p:spPr>
        <p:txBody>
          <a:bodyPr vert="horz" wrap="square" lIns="0" tIns="0" rIns="0" bIns="0" rtlCol="0">
            <a:spAutoFit/>
          </a:bodyPr>
          <a:lstStyle/>
          <a:p>
            <a:r>
              <a:rPr kumimoji="1" lang="ja-JP" altLang="en-US" sz="3100" b="1">
                <a:solidFill>
                  <a:srgbClr val="132238"/>
                </a:solidFill>
                <a:latin typeface="Yu Gothic" panose="020B0400000000000000" pitchFamily="50" charset="-128"/>
                <a:ea typeface="Yu Gothic" panose="020B0400000000000000" pitchFamily="50" charset="-128"/>
              </a:rPr>
              <a:t>動画では、ここに注目してください</a:t>
            </a:r>
          </a:p>
        </p:txBody>
      </p:sp>
      <p:sp>
        <p:nvSpPr>
          <p:cNvPr id="5" name="テキスト ボックス 4">
            <a:extLst>
              <a:ext uri="{FF2B5EF4-FFF2-40B4-BE49-F238E27FC236}">
                <a16:creationId xmlns:a16="http://schemas.microsoft.com/office/drawing/2014/main" id="{49B414AF-7A5B-4287-D683-53FD6D8D9A42}"/>
              </a:ext>
            </a:extLst>
          </p:cNvPr>
          <p:cNvSpPr txBox="1"/>
          <p:nvPr/>
        </p:nvSpPr>
        <p:spPr>
          <a:xfrm>
            <a:off x="609600" y="6388100"/>
            <a:ext cx="76200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PROSTA  /  </a:t>
            </a:r>
            <a:r>
              <a:rPr kumimoji="1" lang="ja-JP" altLang="en-US" sz="1000">
                <a:solidFill>
                  <a:srgbClr val="5C6F84"/>
                </a:solidFill>
                <a:latin typeface="Yu Gothic" panose="020B0400000000000000" pitchFamily="50" charset="-128"/>
                <a:ea typeface="Yu Gothic" panose="020B0400000000000000" pitchFamily="50" charset="-128"/>
              </a:rPr>
              <a:t>学習を、次の一歩につなげる</a:t>
            </a:r>
          </a:p>
        </p:txBody>
      </p:sp>
      <p:sp>
        <p:nvSpPr>
          <p:cNvPr id="6" name="テキスト ボックス 5">
            <a:extLst>
              <a:ext uri="{FF2B5EF4-FFF2-40B4-BE49-F238E27FC236}">
                <a16:creationId xmlns:a16="http://schemas.microsoft.com/office/drawing/2014/main" id="{187B6ED4-5A15-BD96-5F5E-704169149A47}"/>
              </a:ext>
            </a:extLst>
          </p:cNvPr>
          <p:cNvSpPr txBox="1"/>
          <p:nvPr/>
        </p:nvSpPr>
        <p:spPr>
          <a:xfrm>
            <a:off x="9779000" y="6388100"/>
            <a:ext cx="18415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04  /  1:40–2:00</a:t>
            </a:r>
            <a:endParaRPr kumimoji="1" lang="ja-JP" altLang="en-US" sz="1000">
              <a:solidFill>
                <a:srgbClr val="5C6F84"/>
              </a:solidFill>
              <a:latin typeface="Yu Gothic" panose="020B0400000000000000" pitchFamily="50" charset="-128"/>
              <a:ea typeface="Yu Gothic" panose="020B0400000000000000" pitchFamily="50" charset="-128"/>
            </a:endParaRPr>
          </a:p>
        </p:txBody>
      </p:sp>
      <p:sp>
        <p:nvSpPr>
          <p:cNvPr id="7" name="四角形: 角を丸くする 6">
            <a:extLst>
              <a:ext uri="{FF2B5EF4-FFF2-40B4-BE49-F238E27FC236}">
                <a16:creationId xmlns:a16="http://schemas.microsoft.com/office/drawing/2014/main" id="{24CD6719-157E-CA89-56E8-F75FB395A681}"/>
              </a:ext>
            </a:extLst>
          </p:cNvPr>
          <p:cNvSpPr/>
          <p:nvPr/>
        </p:nvSpPr>
        <p:spPr>
          <a:xfrm>
            <a:off x="609600" y="2374900"/>
            <a:ext cx="10972800" cy="30607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49E9565A-E81F-616F-BCF5-180C67392E09}"/>
              </a:ext>
            </a:extLst>
          </p:cNvPr>
          <p:cNvSpPr txBox="1"/>
          <p:nvPr/>
        </p:nvSpPr>
        <p:spPr>
          <a:xfrm>
            <a:off x="990600" y="2692400"/>
            <a:ext cx="10210800" cy="384721"/>
          </a:xfrm>
          <a:prstGeom prst="rect">
            <a:avLst/>
          </a:prstGeom>
          <a:noFill/>
        </p:spPr>
        <p:txBody>
          <a:bodyPr vert="horz" wrap="square" lIns="0" tIns="0" rIns="0" bIns="0" rtlCol="0">
            <a:spAutoFit/>
          </a:bodyPr>
          <a:lstStyle/>
          <a:p>
            <a:r>
              <a:rPr kumimoji="1" lang="en-US" altLang="ja-JP" sz="2500" b="1">
                <a:solidFill>
                  <a:srgbClr val="132238"/>
                </a:solidFill>
                <a:latin typeface="Yu Gothic" panose="020B0400000000000000" pitchFamily="50" charset="-128"/>
                <a:ea typeface="Yu Gothic" panose="020B0400000000000000" pitchFamily="50" charset="-128"/>
              </a:rPr>
              <a:t>01  </a:t>
            </a:r>
            <a:r>
              <a:rPr kumimoji="1" lang="ja-JP" altLang="en-US" sz="2500" b="1">
                <a:solidFill>
                  <a:srgbClr val="132238"/>
                </a:solidFill>
                <a:latin typeface="Yu Gothic" panose="020B0400000000000000" pitchFamily="50" charset="-128"/>
                <a:ea typeface="Yu Gothic" panose="020B0400000000000000" pitchFamily="50" charset="-128"/>
              </a:rPr>
              <a:t>解答結果が、分析と復習につながる</a:t>
            </a:r>
          </a:p>
        </p:txBody>
      </p:sp>
      <p:sp>
        <p:nvSpPr>
          <p:cNvPr id="9" name="テキスト ボックス 8">
            <a:extLst>
              <a:ext uri="{FF2B5EF4-FFF2-40B4-BE49-F238E27FC236}">
                <a16:creationId xmlns:a16="http://schemas.microsoft.com/office/drawing/2014/main" id="{478A0B30-EC47-B8D5-CDC6-4AB10A5853C7}"/>
              </a:ext>
            </a:extLst>
          </p:cNvPr>
          <p:cNvSpPr txBox="1"/>
          <p:nvPr/>
        </p:nvSpPr>
        <p:spPr>
          <a:xfrm>
            <a:off x="990600" y="3530600"/>
            <a:ext cx="10210800" cy="384721"/>
          </a:xfrm>
          <a:prstGeom prst="rect">
            <a:avLst/>
          </a:prstGeom>
          <a:noFill/>
        </p:spPr>
        <p:txBody>
          <a:bodyPr vert="horz" wrap="square" lIns="0" tIns="0" rIns="0" bIns="0" rtlCol="0">
            <a:spAutoFit/>
          </a:bodyPr>
          <a:lstStyle/>
          <a:p>
            <a:r>
              <a:rPr kumimoji="1" lang="en-US" altLang="ja-JP" sz="2500" b="1">
                <a:solidFill>
                  <a:srgbClr val="132238"/>
                </a:solidFill>
                <a:latin typeface="Yu Gothic" panose="020B0400000000000000" pitchFamily="50" charset="-128"/>
                <a:ea typeface="Yu Gothic" panose="020B0400000000000000" pitchFamily="50" charset="-128"/>
              </a:rPr>
              <a:t>02  </a:t>
            </a:r>
            <a:r>
              <a:rPr kumimoji="1" lang="ja-JP" altLang="en-US" sz="2500" b="1">
                <a:solidFill>
                  <a:srgbClr val="132238"/>
                </a:solidFill>
                <a:latin typeface="Yu Gothic" panose="020B0400000000000000" pitchFamily="50" charset="-128"/>
                <a:ea typeface="Yu Gothic" panose="020B0400000000000000" pitchFamily="50" charset="-128"/>
              </a:rPr>
              <a:t>学習の積み重ねが、成長として見える</a:t>
            </a:r>
          </a:p>
        </p:txBody>
      </p:sp>
      <p:sp>
        <p:nvSpPr>
          <p:cNvPr id="10" name="テキスト ボックス 9">
            <a:extLst>
              <a:ext uri="{FF2B5EF4-FFF2-40B4-BE49-F238E27FC236}">
                <a16:creationId xmlns:a16="http://schemas.microsoft.com/office/drawing/2014/main" id="{248CCC20-37AE-5A69-9F8C-3586EFA8DA26}"/>
              </a:ext>
            </a:extLst>
          </p:cNvPr>
          <p:cNvSpPr txBox="1"/>
          <p:nvPr/>
        </p:nvSpPr>
        <p:spPr>
          <a:xfrm>
            <a:off x="990600" y="4368800"/>
            <a:ext cx="10210800" cy="384721"/>
          </a:xfrm>
          <a:prstGeom prst="rect">
            <a:avLst/>
          </a:prstGeom>
          <a:noFill/>
        </p:spPr>
        <p:txBody>
          <a:bodyPr vert="horz" wrap="square" lIns="0" tIns="0" rIns="0" bIns="0" rtlCol="0">
            <a:spAutoFit/>
          </a:bodyPr>
          <a:lstStyle/>
          <a:p>
            <a:r>
              <a:rPr kumimoji="1" lang="en-US" altLang="ja-JP" sz="2500" b="1">
                <a:solidFill>
                  <a:srgbClr val="132238"/>
                </a:solidFill>
                <a:latin typeface="Yu Gothic" panose="020B0400000000000000" pitchFamily="50" charset="-128"/>
                <a:ea typeface="Yu Gothic" panose="020B0400000000000000" pitchFamily="50" charset="-128"/>
              </a:rPr>
              <a:t>03  </a:t>
            </a:r>
            <a:r>
              <a:rPr kumimoji="1" lang="ja-JP" altLang="en-US" sz="2500" b="1">
                <a:solidFill>
                  <a:srgbClr val="132238"/>
                </a:solidFill>
                <a:latin typeface="Yu Gothic" panose="020B0400000000000000" pitchFamily="50" charset="-128"/>
                <a:ea typeface="Yu Gothic" panose="020B0400000000000000" pitchFamily="50" charset="-128"/>
              </a:rPr>
              <a:t>予定と仲間が、次の学習を後押しする</a:t>
            </a:r>
          </a:p>
        </p:txBody>
      </p:sp>
      <p:sp>
        <p:nvSpPr>
          <p:cNvPr id="11" name="テキスト ボックス 10">
            <a:extLst>
              <a:ext uri="{FF2B5EF4-FFF2-40B4-BE49-F238E27FC236}">
                <a16:creationId xmlns:a16="http://schemas.microsoft.com/office/drawing/2014/main" id="{71A085EB-0B48-B3E3-C50C-6FC030120450}"/>
              </a:ext>
            </a:extLst>
          </p:cNvPr>
          <p:cNvSpPr txBox="1"/>
          <p:nvPr/>
        </p:nvSpPr>
        <p:spPr>
          <a:xfrm>
            <a:off x="609600" y="5715000"/>
            <a:ext cx="10972800" cy="292388"/>
          </a:xfrm>
          <a:prstGeom prst="rect">
            <a:avLst/>
          </a:prstGeom>
          <a:noFill/>
        </p:spPr>
        <p:txBody>
          <a:bodyPr vert="horz" wrap="square" lIns="0" tIns="0" rIns="0" bIns="0" rtlCol="0">
            <a:spAutoFit/>
          </a:bodyPr>
          <a:lstStyle/>
          <a:p>
            <a:r>
              <a:rPr kumimoji="1" lang="en-US" altLang="ja-JP" sz="1900" b="1">
                <a:solidFill>
                  <a:srgbClr val="098474"/>
                </a:solidFill>
                <a:latin typeface="Yu Gothic" panose="020B0400000000000000" pitchFamily="50" charset="-128"/>
                <a:ea typeface="Yu Gothic" panose="020B0400000000000000" pitchFamily="50" charset="-128"/>
              </a:rPr>
              <a:t>5</a:t>
            </a:r>
            <a:r>
              <a:rPr kumimoji="1" lang="ja-JP" altLang="en-US" sz="1900" b="1">
                <a:solidFill>
                  <a:srgbClr val="098474"/>
                </a:solidFill>
                <a:latin typeface="Yu Gothic" panose="020B0400000000000000" pitchFamily="50" charset="-128"/>
                <a:ea typeface="Yu Gothic" panose="020B0400000000000000" pitchFamily="50" charset="-128"/>
              </a:rPr>
              <a:t>分デモ  </a:t>
            </a:r>
            <a:r>
              <a:rPr kumimoji="1" lang="en-US" altLang="ja-JP" sz="1900" b="1">
                <a:solidFill>
                  <a:srgbClr val="098474"/>
                </a:solidFill>
                <a:latin typeface="Yu Gothic" panose="020B0400000000000000" pitchFamily="50" charset="-128"/>
                <a:ea typeface="Yu Gothic" panose="020B0400000000000000" pitchFamily="50" charset="-128"/>
              </a:rPr>
              <a:t>/  </a:t>
            </a:r>
            <a:r>
              <a:rPr kumimoji="1" lang="ja-JP" altLang="en-US" sz="1900" b="1">
                <a:solidFill>
                  <a:srgbClr val="098474"/>
                </a:solidFill>
                <a:latin typeface="Yu Gothic" panose="020B0400000000000000" pitchFamily="50" charset="-128"/>
                <a:ea typeface="Yu Gothic" panose="020B0400000000000000" pitchFamily="50" charset="-128"/>
              </a:rPr>
              <a:t>演習 → 分析 → 復習 → 継続</a:t>
            </a:r>
          </a:p>
        </p:txBody>
      </p:sp>
    </p:spTree>
    <p:extLst>
      <p:ext uri="{BB962C8B-B14F-4D97-AF65-F5344CB8AC3E}">
        <p14:creationId xmlns:p14="http://schemas.microsoft.com/office/powerpoint/2010/main" val="2214427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0153F1B7-FA51-2219-77A9-EAF60E7DD241}"/>
              </a:ext>
            </a:extLst>
          </p:cNvPr>
          <p:cNvSpPr/>
          <p:nvPr/>
        </p:nvSpPr>
        <p:spPr>
          <a:xfrm>
            <a:off x="482600" y="406400"/>
            <a:ext cx="76200" cy="381000"/>
          </a:xfrm>
          <a:prstGeom prst="roundRect">
            <a:avLst/>
          </a:prstGeom>
          <a:solidFill>
            <a:srgbClr val="0984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CF158C77-565D-0550-BBAC-D24DE4A12458}"/>
              </a:ext>
            </a:extLst>
          </p:cNvPr>
          <p:cNvSpPr txBox="1"/>
          <p:nvPr/>
        </p:nvSpPr>
        <p:spPr>
          <a:xfrm>
            <a:off x="736600" y="431800"/>
            <a:ext cx="9398000" cy="200055"/>
          </a:xfrm>
          <a:prstGeom prst="rect">
            <a:avLst/>
          </a:prstGeom>
          <a:noFill/>
        </p:spPr>
        <p:txBody>
          <a:bodyPr vert="horz" wrap="square" lIns="0" tIns="0" rIns="0" bIns="0" rtlCol="0">
            <a:spAutoFit/>
          </a:bodyPr>
          <a:lstStyle/>
          <a:p>
            <a:r>
              <a:rPr kumimoji="1" lang="en-US" altLang="ja-JP" sz="1300" b="1">
                <a:solidFill>
                  <a:srgbClr val="098474"/>
                </a:solidFill>
                <a:latin typeface="Yu Gothic" panose="020B0400000000000000" pitchFamily="50" charset="-128"/>
                <a:ea typeface="Yu Gothic" panose="020B0400000000000000" pitchFamily="50" charset="-128"/>
              </a:rPr>
              <a:t>05 / PRODUCT DEMO</a:t>
            </a:r>
            <a:endParaRPr kumimoji="1" lang="ja-JP" altLang="en-US" sz="1300" b="1">
              <a:solidFill>
                <a:srgbClr val="098474"/>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C24A9BF1-9101-2192-8834-901682454C49}"/>
              </a:ext>
            </a:extLst>
          </p:cNvPr>
          <p:cNvSpPr txBox="1"/>
          <p:nvPr/>
        </p:nvSpPr>
        <p:spPr>
          <a:xfrm>
            <a:off x="609600" y="1079500"/>
            <a:ext cx="10972800" cy="477054"/>
          </a:xfrm>
          <a:prstGeom prst="rect">
            <a:avLst/>
          </a:prstGeom>
          <a:noFill/>
        </p:spPr>
        <p:txBody>
          <a:bodyPr vert="horz" wrap="square" lIns="0" tIns="0" rIns="0" bIns="0" rtlCol="0">
            <a:spAutoFit/>
          </a:bodyPr>
          <a:lstStyle/>
          <a:p>
            <a:r>
              <a:rPr kumimoji="1" lang="ja-JP" altLang="en-US" sz="3100" b="1">
                <a:solidFill>
                  <a:srgbClr val="132238"/>
                </a:solidFill>
                <a:latin typeface="Yu Gothic" panose="020B0400000000000000" pitchFamily="50" charset="-128"/>
                <a:ea typeface="Yu Gothic" panose="020B0400000000000000" pitchFamily="50" charset="-128"/>
              </a:rPr>
              <a:t>学習の流れを、</a:t>
            </a:r>
            <a:r>
              <a:rPr kumimoji="1" lang="en-US" altLang="ja-JP" sz="3100" b="1">
                <a:solidFill>
                  <a:srgbClr val="132238"/>
                </a:solidFill>
                <a:latin typeface="Yu Gothic" panose="020B0400000000000000" pitchFamily="50" charset="-128"/>
                <a:ea typeface="Yu Gothic" panose="020B0400000000000000" pitchFamily="50" charset="-128"/>
              </a:rPr>
              <a:t>5</a:t>
            </a:r>
            <a:r>
              <a:rPr kumimoji="1" lang="ja-JP" altLang="en-US" sz="3100" b="1">
                <a:solidFill>
                  <a:srgbClr val="132238"/>
                </a:solidFill>
                <a:latin typeface="Yu Gothic" panose="020B0400000000000000" pitchFamily="50" charset="-128"/>
                <a:ea typeface="Yu Gothic" panose="020B0400000000000000" pitchFamily="50" charset="-128"/>
              </a:rPr>
              <a:t>分で体験</a:t>
            </a:r>
          </a:p>
        </p:txBody>
      </p:sp>
      <p:sp>
        <p:nvSpPr>
          <p:cNvPr id="5" name="テキスト ボックス 4">
            <a:extLst>
              <a:ext uri="{FF2B5EF4-FFF2-40B4-BE49-F238E27FC236}">
                <a16:creationId xmlns:a16="http://schemas.microsoft.com/office/drawing/2014/main" id="{EF2ECE7C-7F21-4153-6982-772C533A24CA}"/>
              </a:ext>
            </a:extLst>
          </p:cNvPr>
          <p:cNvSpPr txBox="1"/>
          <p:nvPr/>
        </p:nvSpPr>
        <p:spPr>
          <a:xfrm>
            <a:off x="609600" y="6388100"/>
            <a:ext cx="76200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PROSTA  /  </a:t>
            </a:r>
            <a:r>
              <a:rPr kumimoji="1" lang="ja-JP" altLang="en-US" sz="1000">
                <a:solidFill>
                  <a:srgbClr val="5C6F84"/>
                </a:solidFill>
                <a:latin typeface="Yu Gothic" panose="020B0400000000000000" pitchFamily="50" charset="-128"/>
                <a:ea typeface="Yu Gothic" panose="020B0400000000000000" pitchFamily="50" charset="-128"/>
              </a:rPr>
              <a:t>学習を、次の一歩につなげる</a:t>
            </a:r>
          </a:p>
        </p:txBody>
      </p:sp>
      <p:sp>
        <p:nvSpPr>
          <p:cNvPr id="6" name="テキスト ボックス 5">
            <a:extLst>
              <a:ext uri="{FF2B5EF4-FFF2-40B4-BE49-F238E27FC236}">
                <a16:creationId xmlns:a16="http://schemas.microsoft.com/office/drawing/2014/main" id="{5E080DB5-144C-DDA5-9AAF-2292F1010289}"/>
              </a:ext>
            </a:extLst>
          </p:cNvPr>
          <p:cNvSpPr txBox="1"/>
          <p:nvPr/>
        </p:nvSpPr>
        <p:spPr>
          <a:xfrm>
            <a:off x="9779000" y="6388100"/>
            <a:ext cx="18415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05  /  2:00–7:00</a:t>
            </a:r>
            <a:endParaRPr kumimoji="1" lang="ja-JP" altLang="en-US" sz="1000">
              <a:solidFill>
                <a:srgbClr val="5C6F84"/>
              </a:solidFill>
              <a:latin typeface="Yu Gothic" panose="020B0400000000000000" pitchFamily="50" charset="-128"/>
              <a:ea typeface="Yu Gothic" panose="020B0400000000000000" pitchFamily="50" charset="-128"/>
            </a:endParaRPr>
          </a:p>
        </p:txBody>
      </p:sp>
      <p:sp>
        <p:nvSpPr>
          <p:cNvPr id="7" name="VIDEO_SLOT_16x9">
            <a:extLst>
              <a:ext uri="{FF2B5EF4-FFF2-40B4-BE49-F238E27FC236}">
                <a16:creationId xmlns:a16="http://schemas.microsoft.com/office/drawing/2014/main" id="{3BC3BBD9-5DF8-D2DE-EFA3-FBDEBE532262}"/>
              </a:ext>
            </a:extLst>
          </p:cNvPr>
          <p:cNvSpPr/>
          <p:nvPr/>
        </p:nvSpPr>
        <p:spPr>
          <a:xfrm>
            <a:off x="609600" y="1968500"/>
            <a:ext cx="7721600" cy="4343400"/>
          </a:xfrm>
          <a:prstGeom prst="roundRect">
            <a:avLst/>
          </a:prstGeom>
          <a:solidFill>
            <a:srgbClr val="13223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D94B32B-6B1E-AB9C-FAA3-541B9CC58C8D}"/>
              </a:ext>
            </a:extLst>
          </p:cNvPr>
          <p:cNvSpPr txBox="1"/>
          <p:nvPr/>
        </p:nvSpPr>
        <p:spPr>
          <a:xfrm>
            <a:off x="1447800" y="3263900"/>
            <a:ext cx="6604000" cy="415498"/>
          </a:xfrm>
          <a:prstGeom prst="rect">
            <a:avLst/>
          </a:prstGeom>
          <a:noFill/>
        </p:spPr>
        <p:txBody>
          <a:bodyPr vert="horz" wrap="square" lIns="0" tIns="0" rIns="0" bIns="0" rtlCol="0">
            <a:spAutoFit/>
          </a:bodyPr>
          <a:lstStyle/>
          <a:p>
            <a:r>
              <a:rPr kumimoji="1" lang="ja-JP" altLang="en-US" sz="2700" b="1">
                <a:solidFill>
                  <a:srgbClr val="FFFFFF"/>
                </a:solidFill>
                <a:latin typeface="Yu Gothic" panose="020B0400000000000000" pitchFamily="50" charset="-128"/>
                <a:ea typeface="Yu Gothic" panose="020B0400000000000000" pitchFamily="50" charset="-128"/>
              </a:rPr>
              <a:t>ここに</a:t>
            </a:r>
            <a:r>
              <a:rPr kumimoji="1" lang="en-US" altLang="ja-JP" sz="2700" b="1">
                <a:solidFill>
                  <a:srgbClr val="FFFFFF"/>
                </a:solidFill>
                <a:latin typeface="Yu Gothic" panose="020B0400000000000000" pitchFamily="50" charset="-128"/>
                <a:ea typeface="Yu Gothic" panose="020B0400000000000000" pitchFamily="50" charset="-128"/>
              </a:rPr>
              <a:t>5</a:t>
            </a:r>
            <a:r>
              <a:rPr kumimoji="1" lang="ja-JP" altLang="en-US" sz="2700" b="1">
                <a:solidFill>
                  <a:srgbClr val="FFFFFF"/>
                </a:solidFill>
                <a:latin typeface="Yu Gothic" panose="020B0400000000000000" pitchFamily="50" charset="-128"/>
                <a:ea typeface="Yu Gothic" panose="020B0400000000000000" pitchFamily="50" charset="-128"/>
              </a:rPr>
              <a:t>分のデモ動画を挿入</a:t>
            </a:r>
          </a:p>
        </p:txBody>
      </p:sp>
      <p:sp>
        <p:nvSpPr>
          <p:cNvPr id="9" name="テキスト ボックス 8">
            <a:extLst>
              <a:ext uri="{FF2B5EF4-FFF2-40B4-BE49-F238E27FC236}">
                <a16:creationId xmlns:a16="http://schemas.microsoft.com/office/drawing/2014/main" id="{22AAA1F5-B3AE-F9EF-EE55-3FC9E8185437}"/>
              </a:ext>
            </a:extLst>
          </p:cNvPr>
          <p:cNvSpPr txBox="1"/>
          <p:nvPr/>
        </p:nvSpPr>
        <p:spPr>
          <a:xfrm>
            <a:off x="1524000" y="4000500"/>
            <a:ext cx="6350000" cy="523220"/>
          </a:xfrm>
          <a:prstGeom prst="rect">
            <a:avLst/>
          </a:prstGeom>
          <a:noFill/>
        </p:spPr>
        <p:txBody>
          <a:bodyPr vert="horz" wrap="square" lIns="0" tIns="0" rIns="0" bIns="0" rtlCol="0">
            <a:spAutoFit/>
          </a:bodyPr>
          <a:lstStyle/>
          <a:p>
            <a:r>
              <a:rPr kumimoji="1" lang="en-US" altLang="ja-JP" sz="1700">
                <a:solidFill>
                  <a:srgbClr val="FFFFFF"/>
                </a:solidFill>
                <a:latin typeface="Yu Gothic" panose="020B0400000000000000" pitchFamily="50" charset="-128"/>
                <a:ea typeface="Yu Gothic" panose="020B0400000000000000" pitchFamily="50" charset="-128"/>
              </a:rPr>
              <a:t>MP4 / 16:9 / </a:t>
            </a:r>
            <a:r>
              <a:rPr kumimoji="1" lang="ja-JP" altLang="en-US" sz="1700">
                <a:solidFill>
                  <a:srgbClr val="FFFFFF"/>
                </a:solidFill>
                <a:latin typeface="Yu Gothic" panose="020B0400000000000000" pitchFamily="50" charset="-128"/>
                <a:ea typeface="Yu Gothic" panose="020B0400000000000000" pitchFamily="50" charset="-128"/>
              </a:rPr>
              <a:t>ナレーション付き
</a:t>
            </a:r>
            <a:r>
              <a:rPr kumimoji="1" lang="en-US" altLang="ja-JP" sz="1700">
                <a:solidFill>
                  <a:srgbClr val="FFFFFF"/>
                </a:solidFill>
                <a:latin typeface="Yu Gothic" panose="020B0400000000000000" pitchFamily="50" charset="-128"/>
                <a:ea typeface="Yu Gothic" panose="020B0400000000000000" pitchFamily="50" charset="-128"/>
              </a:rPr>
              <a:t>※ </a:t>
            </a:r>
            <a:r>
              <a:rPr kumimoji="1" lang="ja-JP" altLang="en-US" sz="1700">
                <a:solidFill>
                  <a:srgbClr val="FFFFFF"/>
                </a:solidFill>
                <a:latin typeface="Yu Gothic" panose="020B0400000000000000" pitchFamily="50" charset="-128"/>
                <a:ea typeface="Yu Gothic" panose="020B0400000000000000" pitchFamily="50" charset="-128"/>
              </a:rPr>
              <a:t>現時点では動画未挿入</a:t>
            </a:r>
          </a:p>
        </p:txBody>
      </p:sp>
      <p:sp>
        <p:nvSpPr>
          <p:cNvPr id="10" name="テキスト ボックス 9">
            <a:extLst>
              <a:ext uri="{FF2B5EF4-FFF2-40B4-BE49-F238E27FC236}">
                <a16:creationId xmlns:a16="http://schemas.microsoft.com/office/drawing/2014/main" id="{5885E35C-D8DD-0A9B-FD38-744C1B1484E3}"/>
              </a:ext>
            </a:extLst>
          </p:cNvPr>
          <p:cNvSpPr txBox="1"/>
          <p:nvPr/>
        </p:nvSpPr>
        <p:spPr>
          <a:xfrm>
            <a:off x="9144000" y="2247900"/>
            <a:ext cx="2540000" cy="307777"/>
          </a:xfrm>
          <a:prstGeom prst="rect">
            <a:avLst/>
          </a:prstGeom>
          <a:noFill/>
        </p:spPr>
        <p:txBody>
          <a:bodyPr vert="horz" wrap="square" lIns="0" tIns="0" rIns="0" bIns="0" rtlCol="0">
            <a:spAutoFit/>
          </a:bodyPr>
          <a:lstStyle/>
          <a:p>
            <a:r>
              <a:rPr kumimoji="1" lang="ja-JP" altLang="en-US" sz="2000" b="1">
                <a:solidFill>
                  <a:srgbClr val="098474"/>
                </a:solidFill>
                <a:latin typeface="Yu Gothic" panose="020B0400000000000000" pitchFamily="50" charset="-128"/>
                <a:ea typeface="Yu Gothic" panose="020B0400000000000000" pitchFamily="50" charset="-128"/>
              </a:rPr>
              <a:t>動画の流れ</a:t>
            </a:r>
          </a:p>
        </p:txBody>
      </p:sp>
      <p:sp>
        <p:nvSpPr>
          <p:cNvPr id="11" name="テキスト ボックス 10">
            <a:extLst>
              <a:ext uri="{FF2B5EF4-FFF2-40B4-BE49-F238E27FC236}">
                <a16:creationId xmlns:a16="http://schemas.microsoft.com/office/drawing/2014/main" id="{4DB9C6FD-6FB3-6CB7-6191-877ED1AAE3DD}"/>
              </a:ext>
            </a:extLst>
          </p:cNvPr>
          <p:cNvSpPr txBox="1"/>
          <p:nvPr/>
        </p:nvSpPr>
        <p:spPr>
          <a:xfrm>
            <a:off x="9144000" y="2895600"/>
            <a:ext cx="2514600" cy="2492990"/>
          </a:xfrm>
          <a:prstGeom prst="rect">
            <a:avLst/>
          </a:prstGeom>
          <a:noFill/>
        </p:spPr>
        <p:txBody>
          <a:bodyPr vert="horz" wrap="square" lIns="0" tIns="0" rIns="0" bIns="0" rtlCol="0">
            <a:spAutoFit/>
          </a:bodyPr>
          <a:lstStyle/>
          <a:p>
            <a:r>
              <a:rPr kumimoji="1" lang="ja-JP" altLang="en-US">
                <a:solidFill>
                  <a:srgbClr val="132238"/>
                </a:solidFill>
                <a:latin typeface="Yu Gothic" panose="020B0400000000000000" pitchFamily="50" charset="-128"/>
                <a:ea typeface="Yu Gothic" panose="020B0400000000000000" pitchFamily="50" charset="-128"/>
              </a:rPr>
              <a:t>演習・採点
　↓
弱点の可視化・復習
　↓
予定表
　↓
フレンド・成長
　↓
学習サマリー</a:t>
            </a:r>
          </a:p>
        </p:txBody>
      </p:sp>
    </p:spTree>
    <p:extLst>
      <p:ext uri="{BB962C8B-B14F-4D97-AF65-F5344CB8AC3E}">
        <p14:creationId xmlns:p14="http://schemas.microsoft.com/office/powerpoint/2010/main" val="3580308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65B0C245-90EC-77AD-77CE-FDAE98E4C345}"/>
              </a:ext>
            </a:extLst>
          </p:cNvPr>
          <p:cNvSpPr/>
          <p:nvPr/>
        </p:nvSpPr>
        <p:spPr>
          <a:xfrm>
            <a:off x="482600" y="406400"/>
            <a:ext cx="76200" cy="381000"/>
          </a:xfrm>
          <a:prstGeom prst="roundRect">
            <a:avLst/>
          </a:prstGeom>
          <a:solidFill>
            <a:srgbClr val="0984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65CCFBCF-CABE-7102-9349-567E7C6A19FB}"/>
              </a:ext>
            </a:extLst>
          </p:cNvPr>
          <p:cNvSpPr txBox="1"/>
          <p:nvPr/>
        </p:nvSpPr>
        <p:spPr>
          <a:xfrm>
            <a:off x="736600" y="431800"/>
            <a:ext cx="9398000" cy="200055"/>
          </a:xfrm>
          <a:prstGeom prst="rect">
            <a:avLst/>
          </a:prstGeom>
          <a:noFill/>
        </p:spPr>
        <p:txBody>
          <a:bodyPr vert="horz" wrap="square" lIns="0" tIns="0" rIns="0" bIns="0" rtlCol="0">
            <a:spAutoFit/>
          </a:bodyPr>
          <a:lstStyle/>
          <a:p>
            <a:r>
              <a:rPr kumimoji="1" lang="en-US" altLang="ja-JP" sz="1300" b="1">
                <a:solidFill>
                  <a:srgbClr val="098474"/>
                </a:solidFill>
                <a:latin typeface="Yu Gothic" panose="020B0400000000000000" pitchFamily="50" charset="-128"/>
                <a:ea typeface="Yu Gothic" panose="020B0400000000000000" pitchFamily="50" charset="-128"/>
              </a:rPr>
              <a:t>06 / ENGINEERING</a:t>
            </a:r>
            <a:endParaRPr kumimoji="1" lang="ja-JP" altLang="en-US" sz="1300" b="1">
              <a:solidFill>
                <a:srgbClr val="098474"/>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4A7D4712-83B7-8E92-60D2-B0C7D5E0BFEF}"/>
              </a:ext>
            </a:extLst>
          </p:cNvPr>
          <p:cNvSpPr txBox="1"/>
          <p:nvPr/>
        </p:nvSpPr>
        <p:spPr>
          <a:xfrm>
            <a:off x="609600" y="1079500"/>
            <a:ext cx="10972800" cy="477054"/>
          </a:xfrm>
          <a:prstGeom prst="rect">
            <a:avLst/>
          </a:prstGeom>
          <a:noFill/>
        </p:spPr>
        <p:txBody>
          <a:bodyPr vert="horz" wrap="square" lIns="0" tIns="0" rIns="0" bIns="0" rtlCol="0">
            <a:spAutoFit/>
          </a:bodyPr>
          <a:lstStyle/>
          <a:p>
            <a:r>
              <a:rPr kumimoji="1" lang="ja-JP" altLang="en-US" sz="3100" b="1">
                <a:solidFill>
                  <a:srgbClr val="132238"/>
                </a:solidFill>
                <a:latin typeface="Yu Gothic" panose="020B0400000000000000" pitchFamily="50" charset="-128"/>
                <a:ea typeface="Yu Gothic" panose="020B0400000000000000" pitchFamily="50" charset="-128"/>
              </a:rPr>
              <a:t>画面の裏側は「記録を正しく残す」設計</a:t>
            </a:r>
          </a:p>
        </p:txBody>
      </p:sp>
      <p:sp>
        <p:nvSpPr>
          <p:cNvPr id="5" name="テキスト ボックス 4">
            <a:extLst>
              <a:ext uri="{FF2B5EF4-FFF2-40B4-BE49-F238E27FC236}">
                <a16:creationId xmlns:a16="http://schemas.microsoft.com/office/drawing/2014/main" id="{07D27096-8925-2B09-7BF3-756DEE508C5B}"/>
              </a:ext>
            </a:extLst>
          </p:cNvPr>
          <p:cNvSpPr txBox="1"/>
          <p:nvPr/>
        </p:nvSpPr>
        <p:spPr>
          <a:xfrm>
            <a:off x="609600" y="6388100"/>
            <a:ext cx="76200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PROSTA  /  </a:t>
            </a:r>
            <a:r>
              <a:rPr kumimoji="1" lang="ja-JP" altLang="en-US" sz="1000">
                <a:solidFill>
                  <a:srgbClr val="5C6F84"/>
                </a:solidFill>
                <a:latin typeface="Yu Gothic" panose="020B0400000000000000" pitchFamily="50" charset="-128"/>
                <a:ea typeface="Yu Gothic" panose="020B0400000000000000" pitchFamily="50" charset="-128"/>
              </a:rPr>
              <a:t>学習を、次の一歩につなげる</a:t>
            </a:r>
          </a:p>
        </p:txBody>
      </p:sp>
      <p:sp>
        <p:nvSpPr>
          <p:cNvPr id="6" name="テキスト ボックス 5">
            <a:extLst>
              <a:ext uri="{FF2B5EF4-FFF2-40B4-BE49-F238E27FC236}">
                <a16:creationId xmlns:a16="http://schemas.microsoft.com/office/drawing/2014/main" id="{777EEC84-3040-683D-2363-E8B121CB3277}"/>
              </a:ext>
            </a:extLst>
          </p:cNvPr>
          <p:cNvSpPr txBox="1"/>
          <p:nvPr/>
        </p:nvSpPr>
        <p:spPr>
          <a:xfrm>
            <a:off x="9779000" y="6388100"/>
            <a:ext cx="18415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06  /  7:00–8:15</a:t>
            </a:r>
            <a:endParaRPr kumimoji="1" lang="ja-JP" altLang="en-US" sz="1000">
              <a:solidFill>
                <a:srgbClr val="5C6F84"/>
              </a:solidFill>
              <a:latin typeface="Yu Gothic" panose="020B0400000000000000" pitchFamily="50" charset="-128"/>
              <a:ea typeface="Yu Gothic" panose="020B0400000000000000" pitchFamily="50" charset="-128"/>
            </a:endParaRPr>
          </a:p>
        </p:txBody>
      </p:sp>
      <p:sp>
        <p:nvSpPr>
          <p:cNvPr id="7" name="四角形: 角を丸くする 6">
            <a:extLst>
              <a:ext uri="{FF2B5EF4-FFF2-40B4-BE49-F238E27FC236}">
                <a16:creationId xmlns:a16="http://schemas.microsoft.com/office/drawing/2014/main" id="{A163E657-7180-865B-63EA-C95F963D9E70}"/>
              </a:ext>
            </a:extLst>
          </p:cNvPr>
          <p:cNvSpPr/>
          <p:nvPr/>
        </p:nvSpPr>
        <p:spPr>
          <a:xfrm>
            <a:off x="609600" y="2209800"/>
            <a:ext cx="3505200" cy="2832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A52EBE7C-4160-8ADC-25F9-12E8EA70C42A}"/>
              </a:ext>
            </a:extLst>
          </p:cNvPr>
          <p:cNvSpPr txBox="1"/>
          <p:nvPr/>
        </p:nvSpPr>
        <p:spPr>
          <a:xfrm>
            <a:off x="838200" y="2501900"/>
            <a:ext cx="3073400" cy="323165"/>
          </a:xfrm>
          <a:prstGeom prst="rect">
            <a:avLst/>
          </a:prstGeom>
          <a:noFill/>
        </p:spPr>
        <p:txBody>
          <a:bodyPr vert="horz" wrap="square" lIns="0" tIns="0" rIns="0" bIns="0" rtlCol="0">
            <a:spAutoFit/>
          </a:bodyPr>
          <a:lstStyle/>
          <a:p>
            <a:r>
              <a:rPr kumimoji="1" lang="ja-JP" altLang="en-US" sz="2100" b="1">
                <a:solidFill>
                  <a:srgbClr val="098474"/>
                </a:solidFill>
                <a:latin typeface="Yu Gothic" panose="020B0400000000000000" pitchFamily="50" charset="-128"/>
                <a:ea typeface="Yu Gothic" panose="020B0400000000000000" pitchFamily="50" charset="-128"/>
              </a:rPr>
              <a:t>記録をまとめて保存</a:t>
            </a:r>
          </a:p>
        </p:txBody>
      </p:sp>
      <p:sp>
        <p:nvSpPr>
          <p:cNvPr id="9" name="テキスト ボックス 8">
            <a:extLst>
              <a:ext uri="{FF2B5EF4-FFF2-40B4-BE49-F238E27FC236}">
                <a16:creationId xmlns:a16="http://schemas.microsoft.com/office/drawing/2014/main" id="{D1001709-6D31-D458-871A-A9EF24929CDC}"/>
              </a:ext>
            </a:extLst>
          </p:cNvPr>
          <p:cNvSpPr txBox="1"/>
          <p:nvPr/>
        </p:nvSpPr>
        <p:spPr>
          <a:xfrm>
            <a:off x="838200" y="3289300"/>
            <a:ext cx="3073400" cy="784830"/>
          </a:xfrm>
          <a:prstGeom prst="rect">
            <a:avLst/>
          </a:prstGeom>
          <a:noFill/>
        </p:spPr>
        <p:txBody>
          <a:bodyPr vert="horz" wrap="square" lIns="0" tIns="0" rIns="0" bIns="0" rtlCol="0">
            <a:spAutoFit/>
          </a:bodyPr>
          <a:lstStyle/>
          <a:p>
            <a:r>
              <a:rPr kumimoji="1" lang="ja-JP" altLang="en-US" sz="1700">
                <a:solidFill>
                  <a:srgbClr val="132238"/>
                </a:solidFill>
                <a:latin typeface="Yu Gothic" panose="020B0400000000000000" pitchFamily="50" charset="-128"/>
                <a:ea typeface="Yu Gothic" panose="020B0400000000000000" pitchFamily="50" charset="-128"/>
              </a:rPr>
              <a:t>採点・</a:t>
            </a:r>
            <a:r>
              <a:rPr kumimoji="1" lang="en-US" altLang="ja-JP" sz="1700">
                <a:solidFill>
                  <a:srgbClr val="132238"/>
                </a:solidFill>
                <a:latin typeface="Yu Gothic" panose="020B0400000000000000" pitchFamily="50" charset="-128"/>
                <a:ea typeface="Yu Gothic" panose="020B0400000000000000" pitchFamily="50" charset="-128"/>
              </a:rPr>
              <a:t>EXP</a:t>
            </a:r>
            <a:r>
              <a:rPr kumimoji="1" lang="ja-JP" altLang="en-US" sz="1700">
                <a:solidFill>
                  <a:srgbClr val="132238"/>
                </a:solidFill>
                <a:latin typeface="Yu Gothic" panose="020B0400000000000000" pitchFamily="50" charset="-128"/>
                <a:ea typeface="Yu Gothic" panose="020B0400000000000000" pitchFamily="50" charset="-128"/>
              </a:rPr>
              <a:t>・実績を
同じトランザクションで更新
再読み込みの二重保存を抑止</a:t>
            </a:r>
          </a:p>
        </p:txBody>
      </p:sp>
      <p:sp>
        <p:nvSpPr>
          <p:cNvPr id="10" name="四角形: 角を丸くする 9">
            <a:extLst>
              <a:ext uri="{FF2B5EF4-FFF2-40B4-BE49-F238E27FC236}">
                <a16:creationId xmlns:a16="http://schemas.microsoft.com/office/drawing/2014/main" id="{6FC08ACD-D957-7668-80C3-06AD31EB526D}"/>
              </a:ext>
            </a:extLst>
          </p:cNvPr>
          <p:cNvSpPr/>
          <p:nvPr/>
        </p:nvSpPr>
        <p:spPr>
          <a:xfrm>
            <a:off x="4343400" y="2209800"/>
            <a:ext cx="3505200" cy="2832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B7661FFA-727D-51BA-81D6-3BAFD937EC73}"/>
              </a:ext>
            </a:extLst>
          </p:cNvPr>
          <p:cNvSpPr txBox="1"/>
          <p:nvPr/>
        </p:nvSpPr>
        <p:spPr>
          <a:xfrm>
            <a:off x="4572000" y="2501900"/>
            <a:ext cx="3073400" cy="323165"/>
          </a:xfrm>
          <a:prstGeom prst="rect">
            <a:avLst/>
          </a:prstGeom>
          <a:noFill/>
        </p:spPr>
        <p:txBody>
          <a:bodyPr vert="horz" wrap="square" lIns="0" tIns="0" rIns="0" bIns="0" rtlCol="0">
            <a:spAutoFit/>
          </a:bodyPr>
          <a:lstStyle/>
          <a:p>
            <a:r>
              <a:rPr kumimoji="1" lang="ja-JP" altLang="en-US" sz="2100" b="1">
                <a:solidFill>
                  <a:srgbClr val="098474"/>
                </a:solidFill>
                <a:latin typeface="Yu Gothic" panose="020B0400000000000000" pitchFamily="50" charset="-128"/>
                <a:ea typeface="Yu Gothic" panose="020B0400000000000000" pitchFamily="50" charset="-128"/>
              </a:rPr>
              <a:t>状態の混線を抑止</a:t>
            </a:r>
          </a:p>
        </p:txBody>
      </p:sp>
      <p:sp>
        <p:nvSpPr>
          <p:cNvPr id="12" name="テキスト ボックス 11">
            <a:extLst>
              <a:ext uri="{FF2B5EF4-FFF2-40B4-BE49-F238E27FC236}">
                <a16:creationId xmlns:a16="http://schemas.microsoft.com/office/drawing/2014/main" id="{3376C89A-3428-8814-A269-4AC757026432}"/>
              </a:ext>
            </a:extLst>
          </p:cNvPr>
          <p:cNvSpPr txBox="1"/>
          <p:nvPr/>
        </p:nvSpPr>
        <p:spPr>
          <a:xfrm>
            <a:off x="4572000" y="3289300"/>
            <a:ext cx="3073400" cy="784830"/>
          </a:xfrm>
          <a:prstGeom prst="rect">
            <a:avLst/>
          </a:prstGeom>
          <a:noFill/>
        </p:spPr>
        <p:txBody>
          <a:bodyPr vert="horz" wrap="square" lIns="0" tIns="0" rIns="0" bIns="0" rtlCol="0">
            <a:spAutoFit/>
          </a:bodyPr>
          <a:lstStyle/>
          <a:p>
            <a:r>
              <a:rPr kumimoji="1" lang="ja-JP" altLang="en-US" sz="1700">
                <a:solidFill>
                  <a:srgbClr val="132238"/>
                </a:solidFill>
                <a:latin typeface="Yu Gothic" panose="020B0400000000000000" pitchFamily="50" charset="-128"/>
                <a:ea typeface="Yu Gothic" panose="020B0400000000000000" pitchFamily="50" charset="-128"/>
              </a:rPr>
              <a:t>タブごとに学習状態を分離
最後のログインのみ有効
削除アカウントのアクセス失効</a:t>
            </a:r>
          </a:p>
        </p:txBody>
      </p:sp>
      <p:sp>
        <p:nvSpPr>
          <p:cNvPr id="13" name="四角形: 角を丸くする 12">
            <a:extLst>
              <a:ext uri="{FF2B5EF4-FFF2-40B4-BE49-F238E27FC236}">
                <a16:creationId xmlns:a16="http://schemas.microsoft.com/office/drawing/2014/main" id="{9EB549EE-FBA8-8482-56DD-666BC865258D}"/>
              </a:ext>
            </a:extLst>
          </p:cNvPr>
          <p:cNvSpPr/>
          <p:nvPr/>
        </p:nvSpPr>
        <p:spPr>
          <a:xfrm>
            <a:off x="8077200" y="2209800"/>
            <a:ext cx="3505200" cy="28321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0D28DF7E-0876-8690-538E-349C47F945C9}"/>
              </a:ext>
            </a:extLst>
          </p:cNvPr>
          <p:cNvSpPr txBox="1"/>
          <p:nvPr/>
        </p:nvSpPr>
        <p:spPr>
          <a:xfrm>
            <a:off x="8305800" y="2501900"/>
            <a:ext cx="3073400" cy="323165"/>
          </a:xfrm>
          <a:prstGeom prst="rect">
            <a:avLst/>
          </a:prstGeom>
          <a:noFill/>
        </p:spPr>
        <p:txBody>
          <a:bodyPr vert="horz" wrap="square" lIns="0" tIns="0" rIns="0" bIns="0" rtlCol="0">
            <a:spAutoFit/>
          </a:bodyPr>
          <a:lstStyle/>
          <a:p>
            <a:r>
              <a:rPr kumimoji="1" lang="ja-JP" altLang="en-US" sz="2100" b="1">
                <a:solidFill>
                  <a:srgbClr val="098474"/>
                </a:solidFill>
                <a:latin typeface="Yu Gothic" panose="020B0400000000000000" pitchFamily="50" charset="-128"/>
                <a:ea typeface="Yu Gothic" panose="020B0400000000000000" pitchFamily="50" charset="-128"/>
              </a:rPr>
              <a:t>回帰テストで確認</a:t>
            </a:r>
          </a:p>
        </p:txBody>
      </p:sp>
      <p:sp>
        <p:nvSpPr>
          <p:cNvPr id="15" name="テキスト ボックス 14">
            <a:extLst>
              <a:ext uri="{FF2B5EF4-FFF2-40B4-BE49-F238E27FC236}">
                <a16:creationId xmlns:a16="http://schemas.microsoft.com/office/drawing/2014/main" id="{62D4A633-76F6-6D54-6F04-E26CF4CE61E9}"/>
              </a:ext>
            </a:extLst>
          </p:cNvPr>
          <p:cNvSpPr txBox="1"/>
          <p:nvPr/>
        </p:nvSpPr>
        <p:spPr>
          <a:xfrm>
            <a:off x="8305800" y="3289300"/>
            <a:ext cx="3073400" cy="784830"/>
          </a:xfrm>
          <a:prstGeom prst="rect">
            <a:avLst/>
          </a:prstGeom>
          <a:noFill/>
        </p:spPr>
        <p:txBody>
          <a:bodyPr vert="horz" wrap="square" lIns="0" tIns="0" rIns="0" bIns="0" rtlCol="0">
            <a:spAutoFit/>
          </a:bodyPr>
          <a:lstStyle/>
          <a:p>
            <a:r>
              <a:rPr kumimoji="1" lang="ja-JP" altLang="en-US" sz="1700">
                <a:solidFill>
                  <a:srgbClr val="132238"/>
                </a:solidFill>
                <a:latin typeface="Yu Gothic" panose="020B0400000000000000" pitchFamily="50" charset="-128"/>
                <a:ea typeface="Yu Gothic" panose="020B0400000000000000" pitchFamily="50" charset="-128"/>
              </a:rPr>
              <a:t>既存</a:t>
            </a:r>
            <a:r>
              <a:rPr kumimoji="1" lang="en-US" altLang="ja-JP" sz="1700">
                <a:solidFill>
                  <a:srgbClr val="132238"/>
                </a:solidFill>
                <a:latin typeface="Yu Gothic" panose="020B0400000000000000" pitchFamily="50" charset="-128"/>
                <a:ea typeface="Yu Gothic" panose="020B0400000000000000" pitchFamily="50" charset="-128"/>
              </a:rPr>
              <a:t>294</a:t>
            </a:r>
            <a:r>
              <a:rPr kumimoji="1" lang="ja-JP" altLang="en-US" sz="1700">
                <a:solidFill>
                  <a:srgbClr val="132238"/>
                </a:solidFill>
                <a:latin typeface="Yu Gothic" panose="020B0400000000000000" pitchFamily="50" charset="-128"/>
                <a:ea typeface="Yu Gothic" panose="020B0400000000000000" pitchFamily="50" charset="-128"/>
              </a:rPr>
              <a:t>件：失敗・エラー</a:t>
            </a:r>
            <a:r>
              <a:rPr kumimoji="1" lang="en-US" altLang="ja-JP" sz="1700">
                <a:solidFill>
                  <a:srgbClr val="132238"/>
                </a:solidFill>
                <a:latin typeface="Yu Gothic" panose="020B0400000000000000" pitchFamily="50" charset="-128"/>
                <a:ea typeface="Yu Gothic" panose="020B0400000000000000" pitchFamily="50" charset="-128"/>
              </a:rPr>
              <a:t>0
</a:t>
            </a:r>
            <a:r>
              <a:rPr kumimoji="1" lang="ja-JP" altLang="en-US" sz="1700">
                <a:solidFill>
                  <a:srgbClr val="132238"/>
                </a:solidFill>
                <a:latin typeface="Yu Gothic" panose="020B0400000000000000" pitchFamily="50" charset="-128"/>
                <a:ea typeface="Yu Gothic" panose="020B0400000000000000" pitchFamily="50" charset="-128"/>
              </a:rPr>
              <a:t>追加を含む関連</a:t>
            </a:r>
            <a:r>
              <a:rPr kumimoji="1" lang="en-US" altLang="ja-JP" sz="1700">
                <a:solidFill>
                  <a:srgbClr val="132238"/>
                </a:solidFill>
                <a:latin typeface="Yu Gothic" panose="020B0400000000000000" pitchFamily="50" charset="-128"/>
                <a:ea typeface="Yu Gothic" panose="020B0400000000000000" pitchFamily="50" charset="-128"/>
              </a:rPr>
              <a:t>64</a:t>
            </a:r>
            <a:r>
              <a:rPr kumimoji="1" lang="ja-JP" altLang="en-US" sz="1700">
                <a:solidFill>
                  <a:srgbClr val="132238"/>
                </a:solidFill>
                <a:latin typeface="Yu Gothic" panose="020B0400000000000000" pitchFamily="50" charset="-128"/>
                <a:ea typeface="Yu Gothic" panose="020B0400000000000000" pitchFamily="50" charset="-128"/>
              </a:rPr>
              <a:t>件：全成功
削除→非表示→復元も検証</a:t>
            </a:r>
          </a:p>
        </p:txBody>
      </p:sp>
      <p:sp>
        <p:nvSpPr>
          <p:cNvPr id="16" name="テキスト ボックス 15">
            <a:extLst>
              <a:ext uri="{FF2B5EF4-FFF2-40B4-BE49-F238E27FC236}">
                <a16:creationId xmlns:a16="http://schemas.microsoft.com/office/drawing/2014/main" id="{86D32FCE-B059-D2DB-AB87-FFB722393532}"/>
              </a:ext>
            </a:extLst>
          </p:cNvPr>
          <p:cNvSpPr txBox="1"/>
          <p:nvPr/>
        </p:nvSpPr>
        <p:spPr>
          <a:xfrm>
            <a:off x="609600" y="5308600"/>
            <a:ext cx="10972800" cy="230832"/>
          </a:xfrm>
          <a:prstGeom prst="rect">
            <a:avLst/>
          </a:prstGeom>
          <a:noFill/>
        </p:spPr>
        <p:txBody>
          <a:bodyPr vert="horz" wrap="square" lIns="0" tIns="0" rIns="0" bIns="0" rtlCol="0">
            <a:spAutoFit/>
          </a:bodyPr>
          <a:lstStyle/>
          <a:p>
            <a:r>
              <a:rPr kumimoji="1" lang="en-US" altLang="ja-JP" sz="1500">
                <a:solidFill>
                  <a:srgbClr val="5C6F84"/>
                </a:solidFill>
                <a:latin typeface="Yu Gothic" panose="020B0400000000000000" pitchFamily="50" charset="-128"/>
                <a:ea typeface="Yu Gothic" panose="020B0400000000000000" pitchFamily="50" charset="-128"/>
              </a:rPr>
              <a:t>Java 17 / Spring Boot / Thymeleaf / Oracle / HTML</a:t>
            </a:r>
            <a:r>
              <a:rPr kumimoji="1" lang="ja-JP" altLang="en-US" sz="1500">
                <a:solidFill>
                  <a:srgbClr val="5C6F84"/>
                </a:solidFill>
                <a:latin typeface="Yu Gothic" panose="020B0400000000000000" pitchFamily="50" charset="-128"/>
                <a:ea typeface="Yu Gothic" panose="020B0400000000000000" pitchFamily="50" charset="-128"/>
              </a:rPr>
              <a:t>・</a:t>
            </a:r>
            <a:r>
              <a:rPr kumimoji="1" lang="en-US" altLang="ja-JP" sz="1500">
                <a:solidFill>
                  <a:srgbClr val="5C6F84"/>
                </a:solidFill>
                <a:latin typeface="Yu Gothic" panose="020B0400000000000000" pitchFamily="50" charset="-128"/>
                <a:ea typeface="Yu Gothic" panose="020B0400000000000000" pitchFamily="50" charset="-128"/>
              </a:rPr>
              <a:t>CSS</a:t>
            </a:r>
            <a:r>
              <a:rPr kumimoji="1" lang="ja-JP" altLang="en-US" sz="1500">
                <a:solidFill>
                  <a:srgbClr val="5C6F84"/>
                </a:solidFill>
                <a:latin typeface="Yu Gothic" panose="020B0400000000000000" pitchFamily="50" charset="-128"/>
                <a:ea typeface="Yu Gothic" panose="020B0400000000000000" pitchFamily="50" charset="-128"/>
              </a:rPr>
              <a:t>・</a:t>
            </a:r>
            <a:r>
              <a:rPr kumimoji="1" lang="en-US" altLang="ja-JP" sz="1500">
                <a:solidFill>
                  <a:srgbClr val="5C6F84"/>
                </a:solidFill>
                <a:latin typeface="Yu Gothic" panose="020B0400000000000000" pitchFamily="50" charset="-128"/>
                <a:ea typeface="Yu Gothic" panose="020B0400000000000000" pitchFamily="50" charset="-128"/>
              </a:rPr>
              <a:t>JavaScript</a:t>
            </a:r>
            <a:endParaRPr kumimoji="1" lang="ja-JP" altLang="en-US" sz="1500">
              <a:solidFill>
                <a:srgbClr val="5C6F84"/>
              </a:solidFill>
              <a:latin typeface="Yu Gothic" panose="020B0400000000000000" pitchFamily="50" charset="-128"/>
              <a:ea typeface="Yu Gothic" panose="020B0400000000000000" pitchFamily="50" charset="-128"/>
            </a:endParaRPr>
          </a:p>
        </p:txBody>
      </p:sp>
      <p:sp>
        <p:nvSpPr>
          <p:cNvPr id="17" name="テキスト ボックス 16">
            <a:extLst>
              <a:ext uri="{FF2B5EF4-FFF2-40B4-BE49-F238E27FC236}">
                <a16:creationId xmlns:a16="http://schemas.microsoft.com/office/drawing/2014/main" id="{DBB8D198-9A5C-AB11-2C57-0CF750690E57}"/>
              </a:ext>
            </a:extLst>
          </p:cNvPr>
          <p:cNvSpPr txBox="1"/>
          <p:nvPr/>
        </p:nvSpPr>
        <p:spPr>
          <a:xfrm>
            <a:off x="609600" y="5778500"/>
            <a:ext cx="10972800" cy="338554"/>
          </a:xfrm>
          <a:prstGeom prst="rect">
            <a:avLst/>
          </a:prstGeom>
          <a:noFill/>
        </p:spPr>
        <p:txBody>
          <a:bodyPr vert="horz" wrap="square" lIns="0" tIns="0" rIns="0" bIns="0" rtlCol="0">
            <a:spAutoFit/>
          </a:bodyPr>
          <a:lstStyle/>
          <a:p>
            <a:r>
              <a:rPr kumimoji="1" lang="ja-JP" altLang="en-US" sz="1100">
                <a:solidFill>
                  <a:srgbClr val="5C6F84"/>
                </a:solidFill>
                <a:latin typeface="Yu Gothic" panose="020B0400000000000000" pitchFamily="50" charset="-128"/>
                <a:ea typeface="Yu Gothic" panose="020B0400000000000000" pitchFamily="50" charset="-128"/>
              </a:rPr>
              <a:t>検証：隔離</a:t>
            </a:r>
            <a:r>
              <a:rPr kumimoji="1" lang="en-US" altLang="ja-JP" sz="1100">
                <a:solidFill>
                  <a:srgbClr val="5C6F84"/>
                </a:solidFill>
                <a:latin typeface="Yu Gothic" panose="020B0400000000000000" pitchFamily="50" charset="-128"/>
                <a:ea typeface="Yu Gothic" panose="020B0400000000000000" pitchFamily="50" charset="-128"/>
              </a:rPr>
              <a:t>H2</a:t>
            </a:r>
            <a:r>
              <a:rPr kumimoji="1" lang="ja-JP" altLang="en-US" sz="1100">
                <a:solidFill>
                  <a:srgbClr val="5C6F84"/>
                </a:solidFill>
                <a:latin typeface="Yu Gothic" panose="020B0400000000000000" pitchFamily="50" charset="-128"/>
                <a:ea typeface="Yu Gothic" panose="020B0400000000000000" pitchFamily="50" charset="-128"/>
              </a:rPr>
              <a:t>。既存</a:t>
            </a:r>
            <a:r>
              <a:rPr kumimoji="1" lang="en-US" altLang="ja-JP" sz="1100">
                <a:solidFill>
                  <a:srgbClr val="5C6F84"/>
                </a:solidFill>
                <a:latin typeface="Yu Gothic" panose="020B0400000000000000" pitchFamily="50" charset="-128"/>
                <a:ea typeface="Yu Gothic" panose="020B0400000000000000" pitchFamily="50" charset="-128"/>
              </a:rPr>
              <a:t>294</a:t>
            </a:r>
            <a:r>
              <a:rPr kumimoji="1" lang="ja-JP" altLang="en-US" sz="1100">
                <a:solidFill>
                  <a:srgbClr val="5C6F84"/>
                </a:solidFill>
                <a:latin typeface="Yu Gothic" panose="020B0400000000000000" pitchFamily="50" charset="-128"/>
                <a:ea typeface="Yu Gothic" panose="020B0400000000000000" pitchFamily="50" charset="-128"/>
              </a:rPr>
              <a:t>件は</a:t>
            </a:r>
            <a:r>
              <a:rPr kumimoji="1" lang="en-US" altLang="ja-JP" sz="1100">
                <a:solidFill>
                  <a:srgbClr val="5C6F84"/>
                </a:solidFill>
                <a:latin typeface="Yu Gothic" panose="020B0400000000000000" pitchFamily="50" charset="-128"/>
                <a:ea typeface="Yu Gothic" panose="020B0400000000000000" pitchFamily="50" charset="-128"/>
              </a:rPr>
              <a:t>293</a:t>
            </a:r>
            <a:r>
              <a:rPr kumimoji="1" lang="ja-JP" altLang="en-US" sz="1100">
                <a:solidFill>
                  <a:srgbClr val="5C6F84"/>
                </a:solidFill>
                <a:latin typeface="Yu Gothic" panose="020B0400000000000000" pitchFamily="50" charset="-128"/>
                <a:ea typeface="Yu Gothic" panose="020B0400000000000000" pitchFamily="50" charset="-128"/>
              </a:rPr>
              <a:t>成功・</a:t>
            </a:r>
            <a:r>
              <a:rPr kumimoji="1" lang="en-US" altLang="ja-JP" sz="1100">
                <a:solidFill>
                  <a:srgbClr val="5C6F84"/>
                </a:solidFill>
                <a:latin typeface="Yu Gothic" panose="020B0400000000000000" pitchFamily="50" charset="-128"/>
                <a:ea typeface="Yu Gothic" panose="020B0400000000000000" pitchFamily="50" charset="-128"/>
              </a:rPr>
              <a:t>1</a:t>
            </a:r>
            <a:r>
              <a:rPr kumimoji="1" lang="ja-JP" altLang="en-US" sz="1100">
                <a:solidFill>
                  <a:srgbClr val="5C6F84"/>
                </a:solidFill>
                <a:latin typeface="Yu Gothic" panose="020B0400000000000000" pitchFamily="50" charset="-128"/>
                <a:ea typeface="Yu Gothic" panose="020B0400000000000000" pitchFamily="50" charset="-128"/>
              </a:rPr>
              <a:t>スキップ。関連</a:t>
            </a:r>
            <a:r>
              <a:rPr kumimoji="1" lang="en-US" altLang="ja-JP" sz="1100">
                <a:solidFill>
                  <a:srgbClr val="5C6F84"/>
                </a:solidFill>
                <a:latin typeface="Yu Gothic" panose="020B0400000000000000" pitchFamily="50" charset="-128"/>
                <a:ea typeface="Yu Gothic" panose="020B0400000000000000" pitchFamily="50" charset="-128"/>
              </a:rPr>
              <a:t>64</a:t>
            </a:r>
            <a:r>
              <a:rPr kumimoji="1" lang="ja-JP" altLang="en-US" sz="1100">
                <a:solidFill>
                  <a:srgbClr val="5C6F84"/>
                </a:solidFill>
                <a:latin typeface="Yu Gothic" panose="020B0400000000000000" pitchFamily="50" charset="-128"/>
                <a:ea typeface="Yu Gothic" panose="020B0400000000000000" pitchFamily="50" charset="-128"/>
              </a:rPr>
              <a:t>件とは重複あり。
</a:t>
            </a:r>
            <a:r>
              <a:rPr kumimoji="1" lang="en-US" altLang="ja-JP" sz="1100">
                <a:solidFill>
                  <a:srgbClr val="5C6F84"/>
                </a:solidFill>
                <a:latin typeface="Yu Gothic" panose="020B0400000000000000" pitchFamily="50" charset="-128"/>
                <a:ea typeface="Yu Gothic" panose="020B0400000000000000" pitchFamily="50" charset="-128"/>
              </a:rPr>
              <a:t>Oracle</a:t>
            </a:r>
            <a:r>
              <a:rPr kumimoji="1" lang="ja-JP" altLang="en-US" sz="1100">
                <a:solidFill>
                  <a:srgbClr val="5C6F84"/>
                </a:solidFill>
                <a:latin typeface="Yu Gothic" panose="020B0400000000000000" pitchFamily="50" charset="-128"/>
                <a:ea typeface="Yu Gothic" panose="020B0400000000000000" pitchFamily="50" charset="-128"/>
              </a:rPr>
              <a:t>固有動作・本番</a:t>
            </a:r>
            <a:r>
              <a:rPr kumimoji="1" lang="en-US" altLang="ja-JP" sz="1100">
                <a:solidFill>
                  <a:srgbClr val="5C6F84"/>
                </a:solidFill>
                <a:latin typeface="Yu Gothic" panose="020B0400000000000000" pitchFamily="50" charset="-128"/>
                <a:ea typeface="Yu Gothic" panose="020B0400000000000000" pitchFamily="50" charset="-128"/>
              </a:rPr>
              <a:t>HTTPS</a:t>
            </a:r>
            <a:r>
              <a:rPr kumimoji="1" lang="ja-JP" altLang="en-US" sz="1100">
                <a:solidFill>
                  <a:srgbClr val="5C6F84"/>
                </a:solidFill>
                <a:latin typeface="Yu Gothic" panose="020B0400000000000000" pitchFamily="50" charset="-128"/>
                <a:ea typeface="Yu Gothic" panose="020B0400000000000000" pitchFamily="50" charset="-128"/>
              </a:rPr>
              <a:t>・実機は未検証。</a:t>
            </a:r>
          </a:p>
        </p:txBody>
      </p:sp>
    </p:spTree>
    <p:extLst>
      <p:ext uri="{BB962C8B-B14F-4D97-AF65-F5344CB8AC3E}">
        <p14:creationId xmlns:p14="http://schemas.microsoft.com/office/powerpoint/2010/main" val="1663602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四角形: 角を丸くする 1">
            <a:extLst>
              <a:ext uri="{FF2B5EF4-FFF2-40B4-BE49-F238E27FC236}">
                <a16:creationId xmlns:a16="http://schemas.microsoft.com/office/drawing/2014/main" id="{700C49BD-098A-973C-71F8-60EAB28D3AA2}"/>
              </a:ext>
            </a:extLst>
          </p:cNvPr>
          <p:cNvSpPr/>
          <p:nvPr/>
        </p:nvSpPr>
        <p:spPr>
          <a:xfrm>
            <a:off x="482600" y="406400"/>
            <a:ext cx="76200" cy="381000"/>
          </a:xfrm>
          <a:prstGeom prst="roundRect">
            <a:avLst/>
          </a:prstGeom>
          <a:solidFill>
            <a:srgbClr val="09847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テキスト ボックス 2">
            <a:extLst>
              <a:ext uri="{FF2B5EF4-FFF2-40B4-BE49-F238E27FC236}">
                <a16:creationId xmlns:a16="http://schemas.microsoft.com/office/drawing/2014/main" id="{DE6998A2-6031-22D3-78CA-4E27548A14D1}"/>
              </a:ext>
            </a:extLst>
          </p:cNvPr>
          <p:cNvSpPr txBox="1"/>
          <p:nvPr/>
        </p:nvSpPr>
        <p:spPr>
          <a:xfrm>
            <a:off x="736600" y="431800"/>
            <a:ext cx="9398000" cy="200055"/>
          </a:xfrm>
          <a:prstGeom prst="rect">
            <a:avLst/>
          </a:prstGeom>
          <a:noFill/>
        </p:spPr>
        <p:txBody>
          <a:bodyPr vert="horz" wrap="square" lIns="0" tIns="0" rIns="0" bIns="0" rtlCol="0">
            <a:spAutoFit/>
          </a:bodyPr>
          <a:lstStyle/>
          <a:p>
            <a:r>
              <a:rPr kumimoji="1" lang="en-US" altLang="ja-JP" sz="1300" b="1">
                <a:solidFill>
                  <a:srgbClr val="098474"/>
                </a:solidFill>
                <a:latin typeface="Yu Gothic" panose="020B0400000000000000" pitchFamily="50" charset="-128"/>
                <a:ea typeface="Yu Gothic" panose="020B0400000000000000" pitchFamily="50" charset="-128"/>
              </a:rPr>
              <a:t>07 / TAKEAWAY</a:t>
            </a:r>
            <a:endParaRPr kumimoji="1" lang="ja-JP" altLang="en-US" sz="1300" b="1">
              <a:solidFill>
                <a:srgbClr val="098474"/>
              </a:solidFill>
              <a:latin typeface="Yu Gothic" panose="020B0400000000000000" pitchFamily="50" charset="-128"/>
              <a:ea typeface="Yu Gothic" panose="020B0400000000000000" pitchFamily="50" charset="-128"/>
            </a:endParaRPr>
          </a:p>
        </p:txBody>
      </p:sp>
      <p:sp>
        <p:nvSpPr>
          <p:cNvPr id="4" name="テキスト ボックス 3">
            <a:extLst>
              <a:ext uri="{FF2B5EF4-FFF2-40B4-BE49-F238E27FC236}">
                <a16:creationId xmlns:a16="http://schemas.microsoft.com/office/drawing/2014/main" id="{CA1C1396-F83A-582B-76FB-E4A913A1247F}"/>
              </a:ext>
            </a:extLst>
          </p:cNvPr>
          <p:cNvSpPr txBox="1"/>
          <p:nvPr/>
        </p:nvSpPr>
        <p:spPr>
          <a:xfrm>
            <a:off x="609600" y="1079500"/>
            <a:ext cx="10972800" cy="477054"/>
          </a:xfrm>
          <a:prstGeom prst="rect">
            <a:avLst/>
          </a:prstGeom>
          <a:noFill/>
        </p:spPr>
        <p:txBody>
          <a:bodyPr vert="horz" wrap="square" lIns="0" tIns="0" rIns="0" bIns="0" rtlCol="0">
            <a:spAutoFit/>
          </a:bodyPr>
          <a:lstStyle/>
          <a:p>
            <a:r>
              <a:rPr kumimoji="1" lang="ja-JP" altLang="en-US" sz="3100" b="1">
                <a:solidFill>
                  <a:srgbClr val="132238"/>
                </a:solidFill>
                <a:latin typeface="Yu Gothic" panose="020B0400000000000000" pitchFamily="50" charset="-128"/>
                <a:ea typeface="Yu Gothic" panose="020B0400000000000000" pitchFamily="50" charset="-128"/>
              </a:rPr>
              <a:t>解いて終わらない。次の学習につながる。</a:t>
            </a:r>
          </a:p>
        </p:txBody>
      </p:sp>
      <p:sp>
        <p:nvSpPr>
          <p:cNvPr id="5" name="テキスト ボックス 4">
            <a:extLst>
              <a:ext uri="{FF2B5EF4-FFF2-40B4-BE49-F238E27FC236}">
                <a16:creationId xmlns:a16="http://schemas.microsoft.com/office/drawing/2014/main" id="{B12078AC-F88A-FDD2-E40E-50A61FF4B902}"/>
              </a:ext>
            </a:extLst>
          </p:cNvPr>
          <p:cNvSpPr txBox="1"/>
          <p:nvPr/>
        </p:nvSpPr>
        <p:spPr>
          <a:xfrm>
            <a:off x="609600" y="6388100"/>
            <a:ext cx="76200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PROSTA  /  </a:t>
            </a:r>
            <a:r>
              <a:rPr kumimoji="1" lang="ja-JP" altLang="en-US" sz="1000">
                <a:solidFill>
                  <a:srgbClr val="5C6F84"/>
                </a:solidFill>
                <a:latin typeface="Yu Gothic" panose="020B0400000000000000" pitchFamily="50" charset="-128"/>
                <a:ea typeface="Yu Gothic" panose="020B0400000000000000" pitchFamily="50" charset="-128"/>
              </a:rPr>
              <a:t>学習を、次の一歩につなげる</a:t>
            </a:r>
          </a:p>
        </p:txBody>
      </p:sp>
      <p:sp>
        <p:nvSpPr>
          <p:cNvPr id="6" name="テキスト ボックス 5">
            <a:extLst>
              <a:ext uri="{FF2B5EF4-FFF2-40B4-BE49-F238E27FC236}">
                <a16:creationId xmlns:a16="http://schemas.microsoft.com/office/drawing/2014/main" id="{53E70541-49A6-6A5D-85D3-3B950F172441}"/>
              </a:ext>
            </a:extLst>
          </p:cNvPr>
          <p:cNvSpPr txBox="1"/>
          <p:nvPr/>
        </p:nvSpPr>
        <p:spPr>
          <a:xfrm>
            <a:off x="9779000" y="6388100"/>
            <a:ext cx="1841500" cy="153888"/>
          </a:xfrm>
          <a:prstGeom prst="rect">
            <a:avLst/>
          </a:prstGeom>
          <a:noFill/>
        </p:spPr>
        <p:txBody>
          <a:bodyPr vert="horz" wrap="square" lIns="0" tIns="0" rIns="0" bIns="0" rtlCol="0">
            <a:spAutoFit/>
          </a:bodyPr>
          <a:lstStyle/>
          <a:p>
            <a:r>
              <a:rPr kumimoji="1" lang="en-US" altLang="ja-JP" sz="1000">
                <a:solidFill>
                  <a:srgbClr val="5C6F84"/>
                </a:solidFill>
                <a:latin typeface="Yu Gothic" panose="020B0400000000000000" pitchFamily="50" charset="-128"/>
                <a:ea typeface="Yu Gothic" panose="020B0400000000000000" pitchFamily="50" charset="-128"/>
              </a:rPr>
              <a:t>07  /  8:15–9:00</a:t>
            </a:r>
            <a:endParaRPr kumimoji="1" lang="ja-JP" altLang="en-US" sz="1000">
              <a:solidFill>
                <a:srgbClr val="5C6F84"/>
              </a:solidFill>
              <a:latin typeface="Yu Gothic" panose="020B0400000000000000" pitchFamily="50" charset="-128"/>
              <a:ea typeface="Yu Gothic" panose="020B0400000000000000" pitchFamily="50" charset="-128"/>
            </a:endParaRPr>
          </a:p>
        </p:txBody>
      </p:sp>
      <p:sp>
        <p:nvSpPr>
          <p:cNvPr id="7" name="テキスト ボックス 6">
            <a:extLst>
              <a:ext uri="{FF2B5EF4-FFF2-40B4-BE49-F238E27FC236}">
                <a16:creationId xmlns:a16="http://schemas.microsoft.com/office/drawing/2014/main" id="{92D1D271-EFC2-E219-D53B-B1D970C081E1}"/>
              </a:ext>
            </a:extLst>
          </p:cNvPr>
          <p:cNvSpPr txBox="1"/>
          <p:nvPr/>
        </p:nvSpPr>
        <p:spPr>
          <a:xfrm>
            <a:off x="609600" y="2362200"/>
            <a:ext cx="10160000" cy="430887"/>
          </a:xfrm>
          <a:prstGeom prst="rect">
            <a:avLst/>
          </a:prstGeom>
          <a:noFill/>
        </p:spPr>
        <p:txBody>
          <a:bodyPr vert="horz" wrap="square" lIns="0" tIns="0" rIns="0" bIns="0" rtlCol="0">
            <a:spAutoFit/>
          </a:bodyPr>
          <a:lstStyle/>
          <a:p>
            <a:r>
              <a:rPr kumimoji="1" lang="ja-JP" altLang="en-US" sz="2800" b="1">
                <a:solidFill>
                  <a:srgbClr val="098474"/>
                </a:solidFill>
                <a:latin typeface="Yu Gothic" panose="020B0400000000000000" pitchFamily="50" charset="-128"/>
                <a:ea typeface="Yu Gothic" panose="020B0400000000000000" pitchFamily="50" charset="-128"/>
              </a:rPr>
              <a:t>弱点が分かる  </a:t>
            </a:r>
            <a:r>
              <a:rPr kumimoji="1" lang="en-US" altLang="ja-JP" sz="2800" b="1">
                <a:solidFill>
                  <a:srgbClr val="098474"/>
                </a:solidFill>
                <a:latin typeface="Yu Gothic" panose="020B0400000000000000" pitchFamily="50" charset="-128"/>
                <a:ea typeface="Yu Gothic" panose="020B0400000000000000" pitchFamily="50" charset="-128"/>
              </a:rPr>
              <a:t>×  </a:t>
            </a:r>
            <a:r>
              <a:rPr kumimoji="1" lang="ja-JP" altLang="en-US" sz="2800" b="1">
                <a:solidFill>
                  <a:srgbClr val="098474"/>
                </a:solidFill>
                <a:latin typeface="Yu Gothic" panose="020B0400000000000000" pitchFamily="50" charset="-128"/>
                <a:ea typeface="Yu Gothic" panose="020B0400000000000000" pitchFamily="50" charset="-128"/>
              </a:rPr>
              <a:t>成長が見える  </a:t>
            </a:r>
            <a:r>
              <a:rPr kumimoji="1" lang="en-US" altLang="ja-JP" sz="2800" b="1">
                <a:solidFill>
                  <a:srgbClr val="098474"/>
                </a:solidFill>
                <a:latin typeface="Yu Gothic" panose="020B0400000000000000" pitchFamily="50" charset="-128"/>
                <a:ea typeface="Yu Gothic" panose="020B0400000000000000" pitchFamily="50" charset="-128"/>
              </a:rPr>
              <a:t>×  </a:t>
            </a:r>
            <a:r>
              <a:rPr kumimoji="1" lang="ja-JP" altLang="en-US" sz="2800" b="1">
                <a:solidFill>
                  <a:srgbClr val="098474"/>
                </a:solidFill>
                <a:latin typeface="Yu Gothic" panose="020B0400000000000000" pitchFamily="50" charset="-128"/>
                <a:ea typeface="Yu Gothic" panose="020B0400000000000000" pitchFamily="50" charset="-128"/>
              </a:rPr>
              <a:t>続けやすい</a:t>
            </a:r>
          </a:p>
        </p:txBody>
      </p:sp>
      <p:sp>
        <p:nvSpPr>
          <p:cNvPr id="8" name="テキスト ボックス 7">
            <a:extLst>
              <a:ext uri="{FF2B5EF4-FFF2-40B4-BE49-F238E27FC236}">
                <a16:creationId xmlns:a16="http://schemas.microsoft.com/office/drawing/2014/main" id="{FFC55360-84E4-F269-96BE-F401C5B438F5}"/>
              </a:ext>
            </a:extLst>
          </p:cNvPr>
          <p:cNvSpPr txBox="1"/>
          <p:nvPr/>
        </p:nvSpPr>
        <p:spPr>
          <a:xfrm>
            <a:off x="609600" y="3479800"/>
            <a:ext cx="10160000" cy="738664"/>
          </a:xfrm>
          <a:prstGeom prst="rect">
            <a:avLst/>
          </a:prstGeom>
          <a:noFill/>
        </p:spPr>
        <p:txBody>
          <a:bodyPr vert="horz" wrap="square" lIns="0" tIns="0" rIns="0" bIns="0" rtlCol="0">
            <a:spAutoFit/>
          </a:bodyPr>
          <a:lstStyle/>
          <a:p>
            <a:r>
              <a:rPr kumimoji="1" lang="ja-JP" altLang="en-US" sz="2400" b="1">
                <a:solidFill>
                  <a:srgbClr val="132238"/>
                </a:solidFill>
                <a:latin typeface="Yu Gothic" panose="020B0400000000000000" pitchFamily="50" charset="-128"/>
                <a:ea typeface="Yu Gothic" panose="020B0400000000000000" pitchFamily="50" charset="-128"/>
              </a:rPr>
              <a:t>学習の結果を、復習・予定・仲間とのつながりへ。
これが、</a:t>
            </a:r>
            <a:r>
              <a:rPr kumimoji="1" lang="en-US" altLang="ja-JP" sz="2400" b="1">
                <a:solidFill>
                  <a:srgbClr val="132238"/>
                </a:solidFill>
                <a:latin typeface="Yu Gothic" panose="020B0400000000000000" pitchFamily="50" charset="-128"/>
                <a:ea typeface="Yu Gothic" panose="020B0400000000000000" pitchFamily="50" charset="-128"/>
              </a:rPr>
              <a:t>PROSTA</a:t>
            </a:r>
            <a:r>
              <a:rPr kumimoji="1" lang="ja-JP" altLang="en-US" sz="2400" b="1">
                <a:solidFill>
                  <a:srgbClr val="132238"/>
                </a:solidFill>
                <a:latin typeface="Yu Gothic" panose="020B0400000000000000" pitchFamily="50" charset="-128"/>
                <a:ea typeface="Yu Gothic" panose="020B0400000000000000" pitchFamily="50" charset="-128"/>
              </a:rPr>
              <a:t>で実現した学習体験です。</a:t>
            </a:r>
          </a:p>
        </p:txBody>
      </p:sp>
      <p:sp>
        <p:nvSpPr>
          <p:cNvPr id="9" name="テキスト ボックス 8">
            <a:extLst>
              <a:ext uri="{FF2B5EF4-FFF2-40B4-BE49-F238E27FC236}">
                <a16:creationId xmlns:a16="http://schemas.microsoft.com/office/drawing/2014/main" id="{3C684633-3DE8-5635-AA31-D83EFC5F4B28}"/>
              </a:ext>
            </a:extLst>
          </p:cNvPr>
          <p:cNvSpPr txBox="1"/>
          <p:nvPr/>
        </p:nvSpPr>
        <p:spPr>
          <a:xfrm>
            <a:off x="609600" y="4876800"/>
            <a:ext cx="10160000" cy="461665"/>
          </a:xfrm>
          <a:prstGeom prst="rect">
            <a:avLst/>
          </a:prstGeom>
          <a:noFill/>
        </p:spPr>
        <p:txBody>
          <a:bodyPr vert="horz" wrap="square" lIns="0" tIns="0" rIns="0" bIns="0" rtlCol="0">
            <a:spAutoFit/>
          </a:bodyPr>
          <a:lstStyle/>
          <a:p>
            <a:r>
              <a:rPr kumimoji="1" lang="ja-JP" altLang="en-US" sz="1500">
                <a:solidFill>
                  <a:srgbClr val="5C6F84"/>
                </a:solidFill>
                <a:latin typeface="Yu Gothic" panose="020B0400000000000000" pitchFamily="50" charset="-128"/>
                <a:ea typeface="Yu Gothic" panose="020B0400000000000000" pitchFamily="50" charset="-128"/>
              </a:rPr>
              <a:t>今後の候補：ブックマーク </a:t>
            </a:r>
            <a:r>
              <a:rPr kumimoji="1" lang="en-US" altLang="ja-JP" sz="1500">
                <a:solidFill>
                  <a:srgbClr val="5C6F84"/>
                </a:solidFill>
                <a:latin typeface="Yu Gothic" panose="020B0400000000000000" pitchFamily="50" charset="-128"/>
                <a:ea typeface="Yu Gothic" panose="020B0400000000000000" pitchFamily="50" charset="-128"/>
              </a:rPr>
              <a:t>/ </a:t>
            </a:r>
            <a:r>
              <a:rPr kumimoji="1" lang="ja-JP" altLang="en-US" sz="1500">
                <a:solidFill>
                  <a:srgbClr val="5C6F84"/>
                </a:solidFill>
                <a:latin typeface="Yu Gothic" panose="020B0400000000000000" pitchFamily="50" charset="-128"/>
                <a:ea typeface="Yu Gothic" panose="020B0400000000000000" pitchFamily="50" charset="-128"/>
              </a:rPr>
              <a:t>全ユーザーランキング </a:t>
            </a:r>
            <a:r>
              <a:rPr kumimoji="1" lang="en-US" altLang="ja-JP" sz="1500">
                <a:solidFill>
                  <a:srgbClr val="5C6F84"/>
                </a:solidFill>
                <a:latin typeface="Yu Gothic" panose="020B0400000000000000" pitchFamily="50" charset="-128"/>
                <a:ea typeface="Yu Gothic" panose="020B0400000000000000" pitchFamily="50" charset="-128"/>
              </a:rPr>
              <a:t>/ </a:t>
            </a:r>
            <a:r>
              <a:rPr kumimoji="1" lang="ja-JP" altLang="en-US" sz="1500">
                <a:solidFill>
                  <a:srgbClr val="5C6F84"/>
                </a:solidFill>
                <a:latin typeface="Yu Gothic" panose="020B0400000000000000" pitchFamily="50" charset="-128"/>
                <a:ea typeface="Yu Gothic" panose="020B0400000000000000" pitchFamily="50" charset="-128"/>
              </a:rPr>
              <a:t>対戦
運用面：本番反映・</a:t>
            </a:r>
            <a:r>
              <a:rPr kumimoji="1" lang="en-US" altLang="ja-JP" sz="1500">
                <a:solidFill>
                  <a:srgbClr val="5C6F84"/>
                </a:solidFill>
                <a:latin typeface="Yu Gothic" panose="020B0400000000000000" pitchFamily="50" charset="-128"/>
                <a:ea typeface="Yu Gothic" panose="020B0400000000000000" pitchFamily="50" charset="-128"/>
              </a:rPr>
              <a:t>Oracle</a:t>
            </a:r>
            <a:r>
              <a:rPr kumimoji="1" lang="ja-JP" altLang="en-US" sz="1500">
                <a:solidFill>
                  <a:srgbClr val="5C6F84"/>
                </a:solidFill>
                <a:latin typeface="Yu Gothic" panose="020B0400000000000000" pitchFamily="50" charset="-128"/>
                <a:ea typeface="Yu Gothic" panose="020B0400000000000000" pitchFamily="50" charset="-128"/>
              </a:rPr>
              <a:t>・</a:t>
            </a:r>
            <a:r>
              <a:rPr kumimoji="1" lang="en-US" altLang="ja-JP" sz="1500">
                <a:solidFill>
                  <a:srgbClr val="5C6F84"/>
                </a:solidFill>
                <a:latin typeface="Yu Gothic" panose="020B0400000000000000" pitchFamily="50" charset="-128"/>
                <a:ea typeface="Yu Gothic" panose="020B0400000000000000" pitchFamily="50" charset="-128"/>
              </a:rPr>
              <a:t>HTTPS</a:t>
            </a:r>
            <a:r>
              <a:rPr kumimoji="1" lang="ja-JP" altLang="en-US" sz="1500">
                <a:solidFill>
                  <a:srgbClr val="5C6F84"/>
                </a:solidFill>
                <a:latin typeface="Yu Gothic" panose="020B0400000000000000" pitchFamily="50" charset="-128"/>
                <a:ea typeface="Yu Gothic" panose="020B0400000000000000" pitchFamily="50" charset="-128"/>
              </a:rPr>
              <a:t>・スマホ実機の確認</a:t>
            </a:r>
          </a:p>
        </p:txBody>
      </p:sp>
      <p:sp>
        <p:nvSpPr>
          <p:cNvPr id="10" name="テキスト ボックス 9">
            <a:extLst>
              <a:ext uri="{FF2B5EF4-FFF2-40B4-BE49-F238E27FC236}">
                <a16:creationId xmlns:a16="http://schemas.microsoft.com/office/drawing/2014/main" id="{BCD46E52-EC28-7A2C-0247-F736F8E45BB3}"/>
              </a:ext>
            </a:extLst>
          </p:cNvPr>
          <p:cNvSpPr txBox="1"/>
          <p:nvPr/>
        </p:nvSpPr>
        <p:spPr>
          <a:xfrm>
            <a:off x="609600" y="5778500"/>
            <a:ext cx="10160000" cy="323165"/>
          </a:xfrm>
          <a:prstGeom prst="rect">
            <a:avLst/>
          </a:prstGeom>
          <a:noFill/>
        </p:spPr>
        <p:txBody>
          <a:bodyPr vert="horz" wrap="square" lIns="0" tIns="0" rIns="0" bIns="0" rtlCol="0">
            <a:spAutoFit/>
          </a:bodyPr>
          <a:lstStyle/>
          <a:p>
            <a:r>
              <a:rPr kumimoji="1" lang="ja-JP" altLang="en-US" sz="2100" b="1">
                <a:solidFill>
                  <a:srgbClr val="132238"/>
                </a:solidFill>
                <a:latin typeface="Yu Gothic" panose="020B0400000000000000" pitchFamily="50" charset="-128"/>
                <a:ea typeface="Yu Gothic" panose="020B0400000000000000" pitchFamily="50" charset="-128"/>
              </a:rPr>
              <a:t>ご清聴ありがとうございました。</a:t>
            </a:r>
          </a:p>
        </p:txBody>
      </p:sp>
    </p:spTree>
    <p:extLst>
      <p:ext uri="{BB962C8B-B14F-4D97-AF65-F5344CB8AC3E}">
        <p14:creationId xmlns:p14="http://schemas.microsoft.com/office/powerpoint/2010/main" val="20122390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1401</Words>
  <Application>Microsoft Office PowerPoint</Application>
  <PresentationFormat>ユーザー設定</PresentationFormat>
  <Paragraphs>112</Paragraphs>
  <Slides>7</Slides>
  <Notes>7</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Yu Gothic</vt:lpstr>
      <vt:lpstr>Yu Gothic</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大塚　徹真</dc:creator>
  <cp:lastModifiedBy>大塚　徹真</cp:lastModifiedBy>
  <cp:revision>1</cp:revision>
  <dcterms:created xsi:type="dcterms:W3CDTF">2026-10-30T07:35:03Z</dcterms:created>
  <dcterms:modified xsi:type="dcterms:W3CDTF">2026-10-30T07:35:03Z</dcterms:modified>
</cp:coreProperties>
</file>